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5486400" cy="5143500"/>
          </a:xfrm>
          <a:prstGeom prst="rect">
            <a:avLst/>
          </a:prstGeom>
          <a:solidFill>
            <a:srgbClr val="111827"/>
          </a:solidFill>
          <a:ln/>
        </p:spPr>
      </p:sp>
      <p:sp>
        <p:nvSpPr>
          <p:cNvPr id="4" name="Text 1"/>
          <p:cNvSpPr/>
          <p:nvPr/>
        </p:nvSpPr>
        <p:spPr>
          <a:xfrm>
            <a:off x="571500" y="1471808"/>
            <a:ext cx="4343400" cy="1508727"/>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F8FAFC"/>
                </a:solidFill>
                <a:latin typeface="Inter ExtraBold" pitchFamily="34" charset="0"/>
                <a:ea typeface="Inter ExtraBold" pitchFamily="34" charset="-122"/>
                <a:cs typeface="Inter ExtraBold" pitchFamily="34" charset="-120"/>
              </a:rPr>
              <a:t>Smart </a:t>
            </a:r>
            <a:r>
              <a:rPr lang="en-US" sz="3300" b="1" dirty="0">
                <a:solidFill>
                  <a:srgbClr val="F8FAFC"/>
                </a:solidFill>
                <a:latin typeface="Inter ExtraBold" pitchFamily="34" charset="0"/>
                <a:ea typeface="Inter ExtraBold" pitchFamily="34" charset="-122"/>
                <a:cs typeface="Inter ExtraBold" pitchFamily="34" charset="-120"/>
              </a:rPr>
              <a:t>Temperature</a:t>
            </a:r>
            <a:r>
              <a:rPr lang="en-US" sz="3300" b="1" dirty="0">
                <a:solidFill>
                  <a:srgbClr val="F8FAFC"/>
                </a:solidFill>
                <a:latin typeface="Inter ExtraBold" pitchFamily="34" charset="0"/>
                <a:ea typeface="Inter ExtraBold" pitchFamily="34" charset="-122"/>
                <a:cs typeface="Inter ExtraBold" pitchFamily="34" charset="-120"/>
              </a:rPr>
              <a:t>
</a:t>
            </a:r>
            <a:r>
              <a:rPr lang="en-US" sz="3300" b="1" dirty="0">
                <a:solidFill>
                  <a:srgbClr val="F8FAFC"/>
                </a:solidFill>
                <a:latin typeface="Inter ExtraBold" pitchFamily="34" charset="0"/>
                <a:ea typeface="Inter ExtraBold" pitchFamily="34" charset="-122"/>
                <a:cs typeface="Inter ExtraBold" pitchFamily="34" charset="-120"/>
              </a:rPr>
              <a:t>Alert System</a:t>
            </a:r>
            <a:endParaRPr lang="en-US" sz="3300" dirty="0"/>
          </a:p>
        </p:txBody>
      </p:sp>
      <p:sp>
        <p:nvSpPr>
          <p:cNvPr id="5" name="Text 2"/>
          <p:cNvSpPr/>
          <p:nvPr/>
        </p:nvSpPr>
        <p:spPr>
          <a:xfrm>
            <a:off x="571500" y="3394872"/>
            <a:ext cx="4343400" cy="276820"/>
          </a:xfrm>
          <a:prstGeom prst="rect">
            <a:avLst/>
          </a:prstGeom>
          <a:noFill/>
          <a:ln/>
        </p:spPr>
        <p:txBody>
          <a:bodyPr wrap="square" lIns="0" tIns="0" rIns="0" bIns="0" rtlCol="0" anchor="t">
            <a:spAutoFit/>
          </a:bodyPr>
          <a:lstStyle/>
          <a:p>
            <a:pPr algn="l" indent="0" marL="0">
              <a:buNone/>
            </a:pPr>
            <a:r>
              <a:rPr lang="en-US" sz="1700" dirty="0">
                <a:solidFill>
                  <a:srgbClr val="9CA3AF"/>
                </a:solidFill>
                <a:latin typeface="Inter Medium" pitchFamily="34" charset="0"/>
                <a:ea typeface="Inter Medium" pitchFamily="34" charset="-122"/>
                <a:cs typeface="Inter Medium" pitchFamily="34" charset="-120"/>
              </a:rPr>
              <a:t>IoT201 - Introduction to IoTs</a:t>
            </a:r>
            <a:endParaRPr lang="en-US" sz="1700" dirty="0"/>
          </a:p>
        </p:txBody>
      </p:sp>
      <p:sp>
        <p:nvSpPr>
          <p:cNvPr id="6" name="Shape 3"/>
          <p:cNvSpPr/>
          <p:nvPr/>
        </p:nvSpPr>
        <p:spPr>
          <a:xfrm>
            <a:off x="5486400" y="0"/>
            <a:ext cx="3657600" cy="5143500"/>
          </a:xfrm>
          <a:prstGeom prst="rect">
            <a:avLst/>
          </a:prstGeom>
          <a:solidFill>
            <a:srgbClr val="F8FAFC"/>
          </a:solidFill>
          <a:ln/>
        </p:spPr>
      </p:sp>
      <p:sp>
        <p:nvSpPr>
          <p:cNvPr id="7" name="Shape 4"/>
          <p:cNvSpPr/>
          <p:nvPr/>
        </p:nvSpPr>
        <p:spPr>
          <a:xfrm>
            <a:off x="5486400" y="0"/>
            <a:ext cx="57150" cy="5143500"/>
          </a:xfrm>
          <a:prstGeom prst="rect">
            <a:avLst/>
          </a:prstGeom>
          <a:solidFill>
            <a:srgbClr val="DC2626"/>
          </a:solidFill>
          <a:ln/>
        </p:spPr>
      </p:sp>
      <p:sp>
        <p:nvSpPr>
          <p:cNvPr id="8" name="Text 5"/>
          <p:cNvSpPr/>
          <p:nvPr/>
        </p:nvSpPr>
        <p:spPr>
          <a:xfrm>
            <a:off x="6057900" y="1873448"/>
            <a:ext cx="2514600" cy="207169"/>
          </a:xfrm>
          <a:prstGeom prst="rect">
            <a:avLst/>
          </a:prstGeom>
          <a:noFill/>
          <a:ln/>
        </p:spPr>
        <p:txBody>
          <a:bodyPr wrap="square" lIns="0" tIns="0" rIns="0" bIns="0" rtlCol="0" anchor="t">
            <a:spAutoFit/>
          </a:bodyPr>
          <a:lstStyle/>
          <a:p>
            <a:pPr algn="l" indent="0" marL="0">
              <a:buNone/>
            </a:pPr>
            <a:r>
              <a:rPr lang="en-US" sz="1200" b="1" spc="2" kern="0" dirty="0">
                <a:solidFill>
                  <a:srgbClr val="374151"/>
                </a:solidFill>
                <a:latin typeface="Inter ExtraBold" pitchFamily="34" charset="0"/>
                <a:ea typeface="Inter ExtraBold" pitchFamily="34" charset="-122"/>
                <a:cs typeface="Inter ExtraBold" pitchFamily="34" charset="-120"/>
              </a:rPr>
              <a:t>PRESENTED BY</a:t>
            </a:r>
            <a:endParaRPr lang="en-US" sz="1200" dirty="0"/>
          </a:p>
        </p:txBody>
      </p:sp>
      <p:sp>
        <p:nvSpPr>
          <p:cNvPr id="9" name="Text 6"/>
          <p:cNvSpPr/>
          <p:nvPr/>
        </p:nvSpPr>
        <p:spPr>
          <a:xfrm>
            <a:off x="6057900" y="2223492"/>
            <a:ext cx="2514600" cy="242888"/>
          </a:xfrm>
          <a:prstGeom prst="rect">
            <a:avLst/>
          </a:prstGeom>
          <a:noFill/>
          <a:ln/>
        </p:spPr>
        <p:txBody>
          <a:bodyPr wrap="square" lIns="0" tIns="0" rIns="0" bIns="0" rtlCol="0" anchor="t">
            <a:spAutoFit/>
          </a:bodyPr>
          <a:lstStyle/>
          <a:p>
            <a:pPr algn="l" indent="0" marL="0">
              <a:buNone/>
            </a:pPr>
            <a:r>
              <a:rPr lang="en-US" sz="1400" b="1" dirty="0">
                <a:solidFill>
                  <a:srgbClr val="111827"/>
                </a:solidFill>
                <a:latin typeface="Inter ExtraBold" pitchFamily="34" charset="0"/>
                <a:ea typeface="Inter ExtraBold" pitchFamily="34" charset="-122"/>
                <a:cs typeface="Inter ExtraBold" pitchFamily="34" charset="-120"/>
              </a:rPr>
              <a:t>Zaid Ahmed Khazaleh</a:t>
            </a:r>
            <a:endParaRPr lang="en-US" sz="1400" dirty="0"/>
          </a:p>
        </p:txBody>
      </p:sp>
      <p:sp>
        <p:nvSpPr>
          <p:cNvPr id="10" name="Text 7"/>
          <p:cNvSpPr/>
          <p:nvPr/>
        </p:nvSpPr>
        <p:spPr>
          <a:xfrm>
            <a:off x="6057900" y="2502098"/>
            <a:ext cx="2514600" cy="173236"/>
          </a:xfrm>
          <a:prstGeom prst="rect">
            <a:avLst/>
          </a:prstGeom>
          <a:noFill/>
          <a:ln/>
        </p:spPr>
        <p:txBody>
          <a:bodyPr wrap="square" lIns="0" tIns="0" rIns="0" bIns="0" rtlCol="0" anchor="t">
            <a:spAutoFit/>
          </a:bodyPr>
          <a:lstStyle/>
          <a:p>
            <a:pPr algn="l" indent="0" marL="0">
              <a:buNone/>
            </a:pPr>
            <a:r>
              <a:rPr lang="en-US" sz="1050" dirty="0">
                <a:solidFill>
                  <a:srgbClr val="374151"/>
                </a:solidFill>
                <a:latin typeface="Inter Medium" pitchFamily="34" charset="0"/>
                <a:ea typeface="Inter Medium" pitchFamily="34" charset="-122"/>
                <a:cs typeface="Inter Medium" pitchFamily="34" charset="-120"/>
              </a:rPr>
              <a:t>ID: 188472</a:t>
            </a:r>
            <a:endParaRPr lang="en-US" sz="1050" dirty="0"/>
          </a:p>
        </p:txBody>
      </p:sp>
      <p:sp>
        <p:nvSpPr>
          <p:cNvPr id="11" name="Text 8"/>
          <p:cNvSpPr/>
          <p:nvPr/>
        </p:nvSpPr>
        <p:spPr>
          <a:xfrm>
            <a:off x="6057900" y="2889647"/>
            <a:ext cx="2514600" cy="242888"/>
          </a:xfrm>
          <a:prstGeom prst="rect">
            <a:avLst/>
          </a:prstGeom>
          <a:noFill/>
          <a:ln/>
        </p:spPr>
        <p:txBody>
          <a:bodyPr wrap="square" lIns="0" tIns="0" rIns="0" bIns="0" rtlCol="0" anchor="t">
            <a:spAutoFit/>
          </a:bodyPr>
          <a:lstStyle/>
          <a:p>
            <a:pPr algn="l" indent="0" marL="0">
              <a:buNone/>
            </a:pPr>
            <a:r>
              <a:rPr lang="en-US" sz="1400" b="1" dirty="0">
                <a:solidFill>
                  <a:srgbClr val="111827"/>
                </a:solidFill>
                <a:latin typeface="Inter ExtraBold" pitchFamily="34" charset="0"/>
                <a:ea typeface="Inter ExtraBold" pitchFamily="34" charset="-122"/>
                <a:cs typeface="Inter ExtraBold" pitchFamily="34" charset="-120"/>
              </a:rPr>
              <a:t>Ahmad Radwan Ababneh</a:t>
            </a:r>
            <a:endParaRPr lang="en-US" sz="1400" dirty="0"/>
          </a:p>
        </p:txBody>
      </p:sp>
      <p:sp>
        <p:nvSpPr>
          <p:cNvPr id="12" name="Text 9"/>
          <p:cNvSpPr/>
          <p:nvPr/>
        </p:nvSpPr>
        <p:spPr>
          <a:xfrm>
            <a:off x="6057900" y="3168253"/>
            <a:ext cx="2514600" cy="173236"/>
          </a:xfrm>
          <a:prstGeom prst="rect">
            <a:avLst/>
          </a:prstGeom>
          <a:noFill/>
          <a:ln/>
        </p:spPr>
        <p:txBody>
          <a:bodyPr wrap="square" lIns="0" tIns="0" rIns="0" bIns="0" rtlCol="0" anchor="t">
            <a:spAutoFit/>
          </a:bodyPr>
          <a:lstStyle/>
          <a:p>
            <a:pPr algn="l" indent="0" marL="0">
              <a:buNone/>
            </a:pPr>
            <a:r>
              <a:rPr lang="en-US" sz="1050" dirty="0">
                <a:solidFill>
                  <a:srgbClr val="374151"/>
                </a:solidFill>
                <a:latin typeface="Inter Medium" pitchFamily="34" charset="0"/>
                <a:ea typeface="Inter Medium" pitchFamily="34" charset="-122"/>
                <a:cs typeface="Inter Medium" pitchFamily="34" charset="-120"/>
              </a:rPr>
              <a:t>ID: 172393</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400396"/>
          </a:xfrm>
          <a:prstGeom prst="rect">
            <a:avLst/>
          </a:prstGeom>
        </p:spPr>
      </p:pic>
      <p:sp>
        <p:nvSpPr>
          <p:cNvPr id="3" name="Shape 0"/>
          <p:cNvSpPr/>
          <p:nvPr/>
        </p:nvSpPr>
        <p:spPr>
          <a:xfrm>
            <a:off x="0" y="0"/>
            <a:ext cx="9144000" cy="1737327"/>
          </a:xfrm>
          <a:prstGeom prst="rect">
            <a:avLst/>
          </a:prstGeom>
          <a:solidFill>
            <a:srgbClr val="111827"/>
          </a:solidFill>
          <a:ln/>
        </p:spPr>
      </p:sp>
      <p:sp>
        <p:nvSpPr>
          <p:cNvPr id="4" name="Shape 1"/>
          <p:cNvSpPr/>
          <p:nvPr/>
        </p:nvSpPr>
        <p:spPr>
          <a:xfrm>
            <a:off x="0" y="1680177"/>
            <a:ext cx="9144000" cy="57150"/>
          </a:xfrm>
          <a:prstGeom prst="rect">
            <a:avLst/>
          </a:prstGeom>
          <a:solidFill>
            <a:srgbClr val="DC262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Why Do We Need Automated Temperature Monitoring?</a:t>
            </a:r>
            <a:endParaRPr lang="en-US" sz="2450" dirty="0"/>
          </a:p>
        </p:txBody>
      </p:sp>
      <p:sp>
        <p:nvSpPr>
          <p:cNvPr id="6" name="Text 3"/>
          <p:cNvSpPr/>
          <p:nvPr/>
        </p:nvSpPr>
        <p:spPr>
          <a:xfrm>
            <a:off x="571500" y="1751614"/>
            <a:ext cx="3786188" cy="3520194"/>
          </a:xfrm>
          <a:prstGeom prst="rect">
            <a:avLst/>
          </a:prstGeom>
          <a:noFill/>
          <a:ln/>
        </p:spPr>
        <p:txBody>
          <a:bodyPr wrap="square" lIns="0" tIns="0" rIns="0" bIns="0" rtlCol="0" anchor="t">
            <a:spAutoFit/>
          </a:bodyPr>
          <a:lstStyle/>
          <a:p>
            <a:pPr algn="l" indent="0" marL="0">
              <a:lnSpc>
                <a:spcPct val="128000"/>
              </a:lnSpc>
              <a:buNone/>
            </a:pPr>
            <a:r>
              <a:rPr lang="en-US" sz="1500" dirty="0">
                <a:solidFill>
                  <a:srgbClr val="374151"/>
                </a:solidFill>
                <a:latin typeface="Inter Medium" pitchFamily="34" charset="0"/>
                <a:ea typeface="Inter Medium" pitchFamily="34" charset="-122"/>
                <a:cs typeface="Inter Medium" pitchFamily="34" charset="-120"/>
              </a:rPr>
              <a:t>Temperature-sensitive environments—server rooms, medical storage, greenhouses—require constant monitoring. Manual checks are slow, unreliable, and cannot respond fast enough to sudden changes. A single overheating event can cause thousands of dollars in equipment damage or endanger lives. An automated, real-time alert system is essential.</a:t>
            </a:r>
            <a:endParaRPr lang="en-US" sz="1500" dirty="0"/>
          </a:p>
        </p:txBody>
      </p:sp>
      <p:sp>
        <p:nvSpPr>
          <p:cNvPr id="7" name="Text 4"/>
          <p:cNvSpPr/>
          <p:nvPr/>
        </p:nvSpPr>
        <p:spPr>
          <a:xfrm>
            <a:off x="4786313" y="2394496"/>
            <a:ext cx="285750"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01</a:t>
            </a:r>
            <a:endParaRPr lang="en-US" sz="1600" dirty="0"/>
          </a:p>
        </p:txBody>
      </p:sp>
      <p:sp>
        <p:nvSpPr>
          <p:cNvPr id="8" name="Text 5"/>
          <p:cNvSpPr/>
          <p:nvPr/>
        </p:nvSpPr>
        <p:spPr>
          <a:xfrm>
            <a:off x="5186363" y="2394496"/>
            <a:ext cx="3386138" cy="494314"/>
          </a:xfrm>
          <a:prstGeom prst="rect">
            <a:avLst/>
          </a:prstGeom>
          <a:noFill/>
          <a:ln/>
        </p:spPr>
        <p:txBody>
          <a:bodyPr wrap="square" lIns="0" tIns="17018" rIns="0" bIns="0" rtlCol="0" anchor="t">
            <a:spAutoFit/>
          </a:bodyPr>
          <a:lstStyle/>
          <a:p>
            <a:pPr algn="l" indent="0" marL="0">
              <a:lnSpc>
                <a:spcPct val="112000"/>
              </a:lnSpc>
              <a:buNone/>
            </a:pPr>
            <a:r>
              <a:rPr lang="en-US" sz="1200" b="1" dirty="0">
                <a:solidFill>
                  <a:srgbClr val="111827"/>
                </a:solidFill>
                <a:latin typeface="Inter ExtraBold" pitchFamily="34" charset="0"/>
                <a:ea typeface="Inter ExtraBold" pitchFamily="34" charset="-122"/>
                <a:cs typeface="Inter ExtraBold" pitchFamily="34" charset="-120"/>
              </a:rPr>
              <a:t>Manual monitoring is inefficient and error-prone</a:t>
            </a:r>
            <a:endParaRPr lang="en-US" sz="1200" dirty="0"/>
          </a:p>
        </p:txBody>
      </p:sp>
      <p:sp>
        <p:nvSpPr>
          <p:cNvPr id="9" name="Text 6"/>
          <p:cNvSpPr/>
          <p:nvPr/>
        </p:nvSpPr>
        <p:spPr>
          <a:xfrm>
            <a:off x="4786313" y="2974535"/>
            <a:ext cx="285750"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02</a:t>
            </a:r>
            <a:endParaRPr lang="en-US" sz="1600" dirty="0"/>
          </a:p>
        </p:txBody>
      </p:sp>
      <p:sp>
        <p:nvSpPr>
          <p:cNvPr id="10" name="Text 7"/>
          <p:cNvSpPr/>
          <p:nvPr/>
        </p:nvSpPr>
        <p:spPr>
          <a:xfrm>
            <a:off x="5186363" y="2974535"/>
            <a:ext cx="3386138" cy="494314"/>
          </a:xfrm>
          <a:prstGeom prst="rect">
            <a:avLst/>
          </a:prstGeom>
          <a:noFill/>
          <a:ln/>
        </p:spPr>
        <p:txBody>
          <a:bodyPr wrap="square" lIns="0" tIns="17018" rIns="0" bIns="0" rtlCol="0" anchor="t">
            <a:spAutoFit/>
          </a:bodyPr>
          <a:lstStyle/>
          <a:p>
            <a:pPr algn="l" indent="0" marL="0">
              <a:lnSpc>
                <a:spcPct val="112000"/>
              </a:lnSpc>
              <a:buNone/>
            </a:pPr>
            <a:r>
              <a:rPr lang="en-US" sz="1200" b="1" dirty="0">
                <a:solidFill>
                  <a:srgbClr val="111827"/>
                </a:solidFill>
                <a:latin typeface="Inter ExtraBold" pitchFamily="34" charset="0"/>
                <a:ea typeface="Inter ExtraBold" pitchFamily="34" charset="-122"/>
                <a:cs typeface="Inter ExtraBold" pitchFamily="34" charset="-120"/>
              </a:rPr>
              <a:t>Overheating causes equipment failure and safety hazards</a:t>
            </a:r>
            <a:endParaRPr lang="en-US" sz="1200" dirty="0"/>
          </a:p>
        </p:txBody>
      </p:sp>
      <p:sp>
        <p:nvSpPr>
          <p:cNvPr id="11" name="Text 8"/>
          <p:cNvSpPr/>
          <p:nvPr/>
        </p:nvSpPr>
        <p:spPr>
          <a:xfrm>
            <a:off x="4786313" y="3554574"/>
            <a:ext cx="285750"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03</a:t>
            </a:r>
            <a:endParaRPr lang="en-US" sz="1600" dirty="0"/>
          </a:p>
        </p:txBody>
      </p:sp>
      <p:sp>
        <p:nvSpPr>
          <p:cNvPr id="12" name="Text 9"/>
          <p:cNvSpPr/>
          <p:nvPr/>
        </p:nvSpPr>
        <p:spPr>
          <a:xfrm>
            <a:off x="5186363" y="3554574"/>
            <a:ext cx="3386138" cy="494314"/>
          </a:xfrm>
          <a:prstGeom prst="rect">
            <a:avLst/>
          </a:prstGeom>
          <a:noFill/>
          <a:ln/>
        </p:spPr>
        <p:txBody>
          <a:bodyPr wrap="square" lIns="0" tIns="17018" rIns="0" bIns="0" rtlCol="0" anchor="t">
            <a:spAutoFit/>
          </a:bodyPr>
          <a:lstStyle/>
          <a:p>
            <a:pPr algn="l" indent="0" marL="0">
              <a:lnSpc>
                <a:spcPct val="112000"/>
              </a:lnSpc>
              <a:buNone/>
            </a:pPr>
            <a:r>
              <a:rPr lang="en-US" sz="1200" b="1" dirty="0">
                <a:solidFill>
                  <a:srgbClr val="111827"/>
                </a:solidFill>
                <a:latin typeface="Inter ExtraBold" pitchFamily="34" charset="0"/>
                <a:ea typeface="Inter ExtraBold" pitchFamily="34" charset="-122"/>
                <a:cs typeface="Inter ExtraBold" pitchFamily="34" charset="-120"/>
              </a:rPr>
              <a:t>Real-time alerts enable immediate corrective action</a:t>
            </a:r>
            <a:endParaRPr lang="en-US" sz="1200" dirty="0"/>
          </a:p>
        </p:txBody>
      </p:sp>
      <p:sp>
        <p:nvSpPr>
          <p:cNvPr id="13" name="Text 10"/>
          <p:cNvSpPr/>
          <p:nvPr/>
        </p:nvSpPr>
        <p:spPr>
          <a:xfrm>
            <a:off x="4786313" y="4134613"/>
            <a:ext cx="285750"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04</a:t>
            </a:r>
            <a:endParaRPr lang="en-US" sz="1600" dirty="0"/>
          </a:p>
        </p:txBody>
      </p:sp>
      <p:sp>
        <p:nvSpPr>
          <p:cNvPr id="14" name="Text 11"/>
          <p:cNvSpPr/>
          <p:nvPr/>
        </p:nvSpPr>
        <p:spPr>
          <a:xfrm>
            <a:off x="5186363" y="4134613"/>
            <a:ext cx="3386138" cy="494314"/>
          </a:xfrm>
          <a:prstGeom prst="rect">
            <a:avLst/>
          </a:prstGeom>
          <a:noFill/>
          <a:ln/>
        </p:spPr>
        <p:txBody>
          <a:bodyPr wrap="square" lIns="0" tIns="17018" rIns="0" bIns="0" rtlCol="0" anchor="t">
            <a:spAutoFit/>
          </a:bodyPr>
          <a:lstStyle/>
          <a:p>
            <a:pPr algn="l" indent="0" marL="0">
              <a:lnSpc>
                <a:spcPct val="112000"/>
              </a:lnSpc>
              <a:buNone/>
            </a:pPr>
            <a:r>
              <a:rPr lang="en-US" sz="1200" b="1" dirty="0">
                <a:solidFill>
                  <a:srgbClr val="111827"/>
                </a:solidFill>
                <a:latin typeface="Inter ExtraBold" pitchFamily="34" charset="0"/>
                <a:ea typeface="Inter ExtraBold" pitchFamily="34" charset="-122"/>
                <a:cs typeface="Inter ExtraBold" pitchFamily="34" charset="-120"/>
              </a:rPr>
              <a:t>Automation reduces reliance on human presence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325863"/>
          </a:xfrm>
          <a:prstGeom prst="rect">
            <a:avLst/>
          </a:prstGeom>
          <a:solidFill>
            <a:srgbClr val="111827"/>
          </a:solidFill>
          <a:ln/>
        </p:spPr>
      </p:sp>
      <p:sp>
        <p:nvSpPr>
          <p:cNvPr id="4" name="Shape 1"/>
          <p:cNvSpPr/>
          <p:nvPr/>
        </p:nvSpPr>
        <p:spPr>
          <a:xfrm>
            <a:off x="0" y="1268713"/>
            <a:ext cx="9144000" cy="57150"/>
          </a:xfrm>
          <a:prstGeom prst="rect">
            <a:avLst/>
          </a:prstGeom>
          <a:solidFill>
            <a:srgbClr val="DC2626"/>
          </a:solidFill>
          <a:ln/>
        </p:spPr>
      </p:sp>
      <p:sp>
        <p:nvSpPr>
          <p:cNvPr id="5" name="Text 2"/>
          <p:cNvSpPr/>
          <p:nvPr/>
        </p:nvSpPr>
        <p:spPr>
          <a:xfrm>
            <a:off x="571500" y="428625"/>
            <a:ext cx="8001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Smart Temperature Alert System — Overview</a:t>
            </a:r>
            <a:endParaRPr lang="en-US" sz="2450" dirty="0"/>
          </a:p>
        </p:txBody>
      </p:sp>
      <p:sp>
        <p:nvSpPr>
          <p:cNvPr id="6" name="Text 3"/>
          <p:cNvSpPr/>
          <p:nvPr/>
        </p:nvSpPr>
        <p:spPr>
          <a:xfrm>
            <a:off x="571500" y="1483026"/>
            <a:ext cx="3786188" cy="2194471"/>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Our system uses an Arduino Uno and a TMP36 temperature sensor to continuously monitor ambient temperature. When the temperature exceeds a defined threshold (30°C), the system immediately activates a Red LED and a Piezo Buzzer to alert nearby personnel. Below the threshold, a Green LED confirms normal operating conditions.</a:t>
            </a:r>
            <a:endParaRPr lang="en-US" sz="1250" dirty="0"/>
          </a:p>
        </p:txBody>
      </p:sp>
      <p:sp>
        <p:nvSpPr>
          <p:cNvPr id="7" name="Text 4"/>
          <p:cNvSpPr/>
          <p:nvPr/>
        </p:nvSpPr>
        <p:spPr>
          <a:xfrm>
            <a:off x="825829" y="3748934"/>
            <a:ext cx="3531859" cy="378619"/>
          </a:xfrm>
          <a:prstGeom prst="rect">
            <a:avLst/>
          </a:prstGeom>
          <a:noFill/>
          <a:ln/>
        </p:spPr>
        <p:txBody>
          <a:bodyPr wrap="square" lIns="0" tIns="0" rIns="0" bIns="0" rtlCol="0" anchor="t">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Continuous, real-time temperature monitoring</a:t>
            </a:r>
            <a:endParaRPr lang="en-US" sz="1100" dirty="0"/>
          </a:p>
        </p:txBody>
      </p:sp>
      <p:sp>
        <p:nvSpPr>
          <p:cNvPr id="8" name="Text 5"/>
          <p:cNvSpPr/>
          <p:nvPr/>
        </p:nvSpPr>
        <p:spPr>
          <a:xfrm>
            <a:off x="828675" y="4184703"/>
            <a:ext cx="3011091" cy="189309"/>
          </a:xfrm>
          <a:prstGeom prst="rect">
            <a:avLst/>
          </a:prstGeom>
          <a:noFill/>
          <a:ln/>
        </p:spPr>
        <p:txBody>
          <a:bodyPr wrap="square" lIns="0" tIns="0" rIns="0" bIns="0" rtlCol="0" anchor="t">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Instant visual alert: Red LED for danger</a:t>
            </a:r>
            <a:endParaRPr lang="en-US" sz="1100" dirty="0"/>
          </a:p>
        </p:txBody>
      </p:sp>
      <p:sp>
        <p:nvSpPr>
          <p:cNvPr id="9" name="Text 6"/>
          <p:cNvSpPr/>
          <p:nvPr/>
        </p:nvSpPr>
        <p:spPr>
          <a:xfrm>
            <a:off x="828675" y="4431162"/>
            <a:ext cx="3055739" cy="189309"/>
          </a:xfrm>
          <a:prstGeom prst="rect">
            <a:avLst/>
          </a:prstGeom>
          <a:noFill/>
          <a:ln/>
        </p:spPr>
        <p:txBody>
          <a:bodyPr wrap="square" lIns="0" tIns="0" rIns="0" bIns="0" rtlCol="0" anchor="t">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Visual confirmation: Green LED for safe</a:t>
            </a:r>
            <a:endParaRPr lang="en-US" sz="1100" dirty="0"/>
          </a:p>
        </p:txBody>
      </p:sp>
      <p:sp>
        <p:nvSpPr>
          <p:cNvPr id="10" name="Text 7"/>
          <p:cNvSpPr/>
          <p:nvPr/>
        </p:nvSpPr>
        <p:spPr>
          <a:xfrm>
            <a:off x="828675" y="4677621"/>
            <a:ext cx="3323630" cy="189309"/>
          </a:xfrm>
          <a:prstGeom prst="rect">
            <a:avLst/>
          </a:prstGeom>
          <a:noFill/>
          <a:ln/>
        </p:spPr>
        <p:txBody>
          <a:bodyPr wrap="square" lIns="0" tIns="0" rIns="0" bIns="0" rtlCol="0" anchor="t">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Auditory alarm via Piezo Buzzer at 1000 Hz</a:t>
            </a:r>
            <a:endParaRPr lang="en-US" sz="1100" dirty="0"/>
          </a:p>
        </p:txBody>
      </p:sp>
      <p:pic>
        <p:nvPicPr>
          <p:cNvPr id="11" name="Image 1" descr="preencoded.png">    </p:cNvPr>
          <p:cNvPicPr>
            <a:picLocks noChangeAspect="1"/>
          </p:cNvPicPr>
          <p:nvPr/>
        </p:nvPicPr>
        <p:blipFill>
          <a:blip r:embed="rId2"/>
          <a:stretch>
            <a:fillRect/>
          </a:stretch>
        </p:blipFill>
        <p:spPr>
          <a:xfrm>
            <a:off x="4893469" y="1483026"/>
            <a:ext cx="3571875" cy="25717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325863"/>
          </a:xfrm>
          <a:prstGeom prst="rect">
            <a:avLst/>
          </a:prstGeom>
          <a:solidFill>
            <a:srgbClr val="111827"/>
          </a:solidFill>
          <a:ln/>
        </p:spPr>
      </p:sp>
      <p:sp>
        <p:nvSpPr>
          <p:cNvPr id="4" name="Shape 1"/>
          <p:cNvSpPr/>
          <p:nvPr/>
        </p:nvSpPr>
        <p:spPr>
          <a:xfrm>
            <a:off x="0" y="1268713"/>
            <a:ext cx="9144000" cy="57150"/>
          </a:xfrm>
          <a:prstGeom prst="rect">
            <a:avLst/>
          </a:prstGeom>
          <a:solidFill>
            <a:srgbClr val="DC2626"/>
          </a:solidFill>
          <a:ln/>
        </p:spPr>
      </p:sp>
      <p:sp>
        <p:nvSpPr>
          <p:cNvPr id="5" name="Text 2"/>
          <p:cNvSpPr/>
          <p:nvPr/>
        </p:nvSpPr>
        <p:spPr>
          <a:xfrm>
            <a:off x="571500" y="428625"/>
            <a:ext cx="8001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Hardware Components</a:t>
            </a:r>
            <a:endParaRPr lang="en-US" sz="2450" dirty="0"/>
          </a:p>
        </p:txBody>
      </p:sp>
      <p:sp>
        <p:nvSpPr>
          <p:cNvPr id="6" name="Shape 3"/>
          <p:cNvSpPr/>
          <p:nvPr/>
        </p:nvSpPr>
        <p:spPr>
          <a:xfrm>
            <a:off x="571500" y="1640188"/>
            <a:ext cx="2522218" cy="342900"/>
          </a:xfrm>
          <a:prstGeom prst="rect">
            <a:avLst/>
          </a:prstGeom>
          <a:solidFill>
            <a:srgbClr val="E2E8F0"/>
          </a:solidFill>
          <a:ln/>
        </p:spPr>
      </p:sp>
      <p:sp>
        <p:nvSpPr>
          <p:cNvPr id="7" name="Shape 4"/>
          <p:cNvSpPr/>
          <p:nvPr/>
        </p:nvSpPr>
        <p:spPr>
          <a:xfrm>
            <a:off x="571500" y="1968801"/>
            <a:ext cx="2522218" cy="14288"/>
          </a:xfrm>
          <a:prstGeom prst="rect">
            <a:avLst/>
          </a:prstGeom>
          <a:solidFill>
            <a:srgbClr val="374151"/>
          </a:solidFill>
          <a:ln/>
        </p:spPr>
      </p:sp>
      <p:sp>
        <p:nvSpPr>
          <p:cNvPr id="8" name="Text 5"/>
          <p:cNvSpPr/>
          <p:nvPr/>
        </p:nvSpPr>
        <p:spPr>
          <a:xfrm>
            <a:off x="571500" y="1640188"/>
            <a:ext cx="2522218" cy="342900"/>
          </a:xfrm>
          <a:prstGeom prst="rect">
            <a:avLst/>
          </a:prstGeom>
          <a:noFill/>
          <a:ln/>
        </p:spPr>
        <p:txBody>
          <a:bodyPr wrap="square" lIns="102108" tIns="68072" rIns="102108" bIns="68072" rtlCol="0" anchor="ctr">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COMPONENT</a:t>
            </a:r>
            <a:endParaRPr lang="en-US" sz="1200" dirty="0"/>
          </a:p>
        </p:txBody>
      </p:sp>
      <p:sp>
        <p:nvSpPr>
          <p:cNvPr id="9" name="Shape 6"/>
          <p:cNvSpPr/>
          <p:nvPr/>
        </p:nvSpPr>
        <p:spPr>
          <a:xfrm>
            <a:off x="3093718" y="1640188"/>
            <a:ext cx="1200150" cy="342900"/>
          </a:xfrm>
          <a:prstGeom prst="rect">
            <a:avLst/>
          </a:prstGeom>
          <a:solidFill>
            <a:srgbClr val="E2E8F0"/>
          </a:solidFill>
          <a:ln/>
        </p:spPr>
      </p:sp>
      <p:sp>
        <p:nvSpPr>
          <p:cNvPr id="10" name="Shape 7"/>
          <p:cNvSpPr/>
          <p:nvPr/>
        </p:nvSpPr>
        <p:spPr>
          <a:xfrm>
            <a:off x="3093718" y="1968801"/>
            <a:ext cx="1200150" cy="14288"/>
          </a:xfrm>
          <a:prstGeom prst="rect">
            <a:avLst/>
          </a:prstGeom>
          <a:solidFill>
            <a:srgbClr val="374151"/>
          </a:solidFill>
          <a:ln/>
        </p:spPr>
      </p:sp>
      <p:sp>
        <p:nvSpPr>
          <p:cNvPr id="11" name="Text 8"/>
          <p:cNvSpPr/>
          <p:nvPr/>
        </p:nvSpPr>
        <p:spPr>
          <a:xfrm>
            <a:off x="3093718" y="1640188"/>
            <a:ext cx="1200150" cy="342900"/>
          </a:xfrm>
          <a:prstGeom prst="rect">
            <a:avLst/>
          </a:prstGeom>
          <a:noFill/>
          <a:ln/>
        </p:spPr>
        <p:txBody>
          <a:bodyPr wrap="none" lIns="102108" tIns="68072" rIns="102108" bIns="68072" rtlCol="0" anchor="ctr">
            <a:spAutoFit/>
          </a:bodyPr>
          <a:lstStyle/>
          <a:p>
            <a:pPr algn="ctr" indent="0" marL="0">
              <a:buNone/>
            </a:pPr>
            <a:r>
              <a:rPr lang="en-US" sz="1200" b="1" dirty="0">
                <a:solidFill>
                  <a:srgbClr val="111827"/>
                </a:solidFill>
                <a:latin typeface="Inter ExtraBold" pitchFamily="34" charset="0"/>
                <a:ea typeface="Inter ExtraBold" pitchFamily="34" charset="-122"/>
                <a:cs typeface="Inter ExtraBold" pitchFamily="34" charset="-120"/>
              </a:rPr>
              <a:t>QUANTITY</a:t>
            </a:r>
            <a:endParaRPr lang="en-US" sz="1200" dirty="0"/>
          </a:p>
        </p:txBody>
      </p:sp>
      <p:sp>
        <p:nvSpPr>
          <p:cNvPr id="12" name="Shape 9"/>
          <p:cNvSpPr/>
          <p:nvPr/>
        </p:nvSpPr>
        <p:spPr>
          <a:xfrm>
            <a:off x="4293868" y="1640188"/>
            <a:ext cx="4278632" cy="342900"/>
          </a:xfrm>
          <a:prstGeom prst="rect">
            <a:avLst/>
          </a:prstGeom>
          <a:solidFill>
            <a:srgbClr val="E2E8F0"/>
          </a:solidFill>
          <a:ln/>
        </p:spPr>
      </p:sp>
      <p:sp>
        <p:nvSpPr>
          <p:cNvPr id="13" name="Shape 10"/>
          <p:cNvSpPr/>
          <p:nvPr/>
        </p:nvSpPr>
        <p:spPr>
          <a:xfrm>
            <a:off x="4293868" y="1968801"/>
            <a:ext cx="4278632" cy="14288"/>
          </a:xfrm>
          <a:prstGeom prst="rect">
            <a:avLst/>
          </a:prstGeom>
          <a:solidFill>
            <a:srgbClr val="374151"/>
          </a:solidFill>
          <a:ln/>
        </p:spPr>
      </p:sp>
      <p:sp>
        <p:nvSpPr>
          <p:cNvPr id="14" name="Text 11"/>
          <p:cNvSpPr/>
          <p:nvPr/>
        </p:nvSpPr>
        <p:spPr>
          <a:xfrm>
            <a:off x="4293868" y="1640188"/>
            <a:ext cx="4278632" cy="342900"/>
          </a:xfrm>
          <a:prstGeom prst="rect">
            <a:avLst/>
          </a:prstGeom>
          <a:noFill/>
          <a:ln/>
        </p:spPr>
        <p:txBody>
          <a:bodyPr wrap="square" lIns="102108" tIns="68072" rIns="102108" bIns="68072" rtlCol="0" anchor="ctr">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ROLE</a:t>
            </a:r>
            <a:endParaRPr lang="en-US" sz="1200" dirty="0"/>
          </a:p>
        </p:txBody>
      </p:sp>
      <p:sp>
        <p:nvSpPr>
          <p:cNvPr id="15" name="Text 12"/>
          <p:cNvSpPr/>
          <p:nvPr/>
        </p:nvSpPr>
        <p:spPr>
          <a:xfrm>
            <a:off x="571500" y="1975945"/>
            <a:ext cx="2522218"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Arduino Uno</a:t>
            </a:r>
            <a:endParaRPr lang="en-US" sz="1150" dirty="0"/>
          </a:p>
        </p:txBody>
      </p:sp>
      <p:sp>
        <p:nvSpPr>
          <p:cNvPr id="16" name="Text 13"/>
          <p:cNvSpPr/>
          <p:nvPr/>
        </p:nvSpPr>
        <p:spPr>
          <a:xfrm>
            <a:off x="3093718" y="1975945"/>
            <a:ext cx="1200150" cy="310753"/>
          </a:xfrm>
          <a:prstGeom prst="rect">
            <a:avLst/>
          </a:prstGeom>
          <a:noFill/>
          <a:ln/>
        </p:spPr>
        <p:txBody>
          <a:bodyPr wrap="none" lIns="102108" tIns="68072" rIns="102108" bIns="68072" rtlCol="0" anchor="ctr">
            <a:spAutoFit/>
          </a:bodyPr>
          <a:lstStyle/>
          <a:p>
            <a:pPr algn="ctr" indent="0" marL="0">
              <a:buNone/>
            </a:pPr>
            <a:r>
              <a:rPr lang="en-US" sz="1100" b="1" dirty="0">
                <a:solidFill>
                  <a:srgbClr val="DC2626"/>
                </a:solidFill>
                <a:latin typeface="Inter ExtraBold" pitchFamily="34" charset="0"/>
                <a:ea typeface="Inter ExtraBold" pitchFamily="34" charset="-122"/>
                <a:cs typeface="Inter ExtraBold" pitchFamily="34" charset="-120"/>
              </a:rPr>
              <a:t>1</a:t>
            </a:r>
            <a:endParaRPr lang="en-US" sz="1100" dirty="0"/>
          </a:p>
        </p:txBody>
      </p:sp>
      <p:sp>
        <p:nvSpPr>
          <p:cNvPr id="17" name="Text 14"/>
          <p:cNvSpPr/>
          <p:nvPr/>
        </p:nvSpPr>
        <p:spPr>
          <a:xfrm>
            <a:off x="4293868" y="1975945"/>
            <a:ext cx="4278632" cy="310753"/>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Main microcontroller</a:t>
            </a:r>
            <a:endParaRPr lang="en-US" sz="1150" dirty="0"/>
          </a:p>
        </p:txBody>
      </p:sp>
      <p:sp>
        <p:nvSpPr>
          <p:cNvPr id="18" name="Text 15"/>
          <p:cNvSpPr/>
          <p:nvPr/>
        </p:nvSpPr>
        <p:spPr>
          <a:xfrm>
            <a:off x="571500" y="2286698"/>
            <a:ext cx="2522218"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TMP36 Sensor</a:t>
            </a:r>
            <a:endParaRPr lang="en-US" sz="1150" dirty="0"/>
          </a:p>
        </p:txBody>
      </p:sp>
      <p:sp>
        <p:nvSpPr>
          <p:cNvPr id="19" name="Text 16"/>
          <p:cNvSpPr/>
          <p:nvPr/>
        </p:nvSpPr>
        <p:spPr>
          <a:xfrm>
            <a:off x="3093718" y="2286698"/>
            <a:ext cx="1200150" cy="317897"/>
          </a:xfrm>
          <a:prstGeom prst="rect">
            <a:avLst/>
          </a:prstGeom>
          <a:noFill/>
          <a:ln/>
        </p:spPr>
        <p:txBody>
          <a:bodyPr wrap="none" lIns="102108" tIns="68072" rIns="102108" bIns="68072" rtlCol="0" anchor="ctr">
            <a:spAutoFit/>
          </a:bodyPr>
          <a:lstStyle/>
          <a:p>
            <a:pPr algn="ctr" indent="0" marL="0">
              <a:buNone/>
            </a:pPr>
            <a:r>
              <a:rPr lang="en-US" sz="1100" b="1" dirty="0">
                <a:solidFill>
                  <a:srgbClr val="DC2626"/>
                </a:solidFill>
                <a:latin typeface="Inter ExtraBold" pitchFamily="34" charset="0"/>
                <a:ea typeface="Inter ExtraBold" pitchFamily="34" charset="-122"/>
                <a:cs typeface="Inter ExtraBold" pitchFamily="34" charset="-120"/>
              </a:rPr>
              <a:t>1</a:t>
            </a:r>
            <a:endParaRPr lang="en-US" sz="1100" dirty="0"/>
          </a:p>
        </p:txBody>
      </p:sp>
      <p:sp>
        <p:nvSpPr>
          <p:cNvPr id="20" name="Text 17"/>
          <p:cNvSpPr/>
          <p:nvPr/>
        </p:nvSpPr>
        <p:spPr>
          <a:xfrm>
            <a:off x="4293868" y="2286698"/>
            <a:ext cx="4278632"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Reads ambient temperature</a:t>
            </a:r>
            <a:endParaRPr lang="en-US" sz="1150" dirty="0"/>
          </a:p>
        </p:txBody>
      </p:sp>
      <p:sp>
        <p:nvSpPr>
          <p:cNvPr id="21" name="Text 18"/>
          <p:cNvSpPr/>
          <p:nvPr/>
        </p:nvSpPr>
        <p:spPr>
          <a:xfrm>
            <a:off x="571500" y="2604595"/>
            <a:ext cx="2522218"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Green LED</a:t>
            </a:r>
            <a:endParaRPr lang="en-US" sz="1150" dirty="0"/>
          </a:p>
        </p:txBody>
      </p:sp>
      <p:sp>
        <p:nvSpPr>
          <p:cNvPr id="22" name="Text 19"/>
          <p:cNvSpPr/>
          <p:nvPr/>
        </p:nvSpPr>
        <p:spPr>
          <a:xfrm>
            <a:off x="3093718" y="2604595"/>
            <a:ext cx="1200150" cy="317897"/>
          </a:xfrm>
          <a:prstGeom prst="rect">
            <a:avLst/>
          </a:prstGeom>
          <a:noFill/>
          <a:ln/>
        </p:spPr>
        <p:txBody>
          <a:bodyPr wrap="none" lIns="102108" tIns="68072" rIns="102108" bIns="68072" rtlCol="0" anchor="ctr">
            <a:spAutoFit/>
          </a:bodyPr>
          <a:lstStyle/>
          <a:p>
            <a:pPr algn="ctr" indent="0" marL="0">
              <a:buNone/>
            </a:pPr>
            <a:r>
              <a:rPr lang="en-US" sz="1100" b="1" dirty="0">
                <a:solidFill>
                  <a:srgbClr val="DC2626"/>
                </a:solidFill>
                <a:latin typeface="Inter ExtraBold" pitchFamily="34" charset="0"/>
                <a:ea typeface="Inter ExtraBold" pitchFamily="34" charset="-122"/>
                <a:cs typeface="Inter ExtraBold" pitchFamily="34" charset="-120"/>
              </a:rPr>
              <a:t>1</a:t>
            </a:r>
            <a:endParaRPr lang="en-US" sz="1100" dirty="0"/>
          </a:p>
        </p:txBody>
      </p:sp>
      <p:sp>
        <p:nvSpPr>
          <p:cNvPr id="23" name="Text 20"/>
          <p:cNvSpPr/>
          <p:nvPr/>
        </p:nvSpPr>
        <p:spPr>
          <a:xfrm>
            <a:off x="4293868" y="2604595"/>
            <a:ext cx="4278632"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Normal state indicator</a:t>
            </a:r>
            <a:endParaRPr lang="en-US" sz="1150" dirty="0"/>
          </a:p>
        </p:txBody>
      </p:sp>
      <p:sp>
        <p:nvSpPr>
          <p:cNvPr id="24" name="Text 21"/>
          <p:cNvSpPr/>
          <p:nvPr/>
        </p:nvSpPr>
        <p:spPr>
          <a:xfrm>
            <a:off x="571500" y="2922491"/>
            <a:ext cx="2522218"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Red LED</a:t>
            </a:r>
            <a:endParaRPr lang="en-US" sz="1150" dirty="0"/>
          </a:p>
        </p:txBody>
      </p:sp>
      <p:sp>
        <p:nvSpPr>
          <p:cNvPr id="25" name="Text 22"/>
          <p:cNvSpPr/>
          <p:nvPr/>
        </p:nvSpPr>
        <p:spPr>
          <a:xfrm>
            <a:off x="3093718" y="2922491"/>
            <a:ext cx="1200150" cy="317897"/>
          </a:xfrm>
          <a:prstGeom prst="rect">
            <a:avLst/>
          </a:prstGeom>
          <a:noFill/>
          <a:ln/>
        </p:spPr>
        <p:txBody>
          <a:bodyPr wrap="none" lIns="102108" tIns="68072" rIns="102108" bIns="68072" rtlCol="0" anchor="ctr">
            <a:spAutoFit/>
          </a:bodyPr>
          <a:lstStyle/>
          <a:p>
            <a:pPr algn="ctr" indent="0" marL="0">
              <a:buNone/>
            </a:pPr>
            <a:r>
              <a:rPr lang="en-US" sz="1100" b="1" dirty="0">
                <a:solidFill>
                  <a:srgbClr val="DC2626"/>
                </a:solidFill>
                <a:latin typeface="Inter ExtraBold" pitchFamily="34" charset="0"/>
                <a:ea typeface="Inter ExtraBold" pitchFamily="34" charset="-122"/>
                <a:cs typeface="Inter ExtraBold" pitchFamily="34" charset="-120"/>
              </a:rPr>
              <a:t>1</a:t>
            </a:r>
            <a:endParaRPr lang="en-US" sz="1100" dirty="0"/>
          </a:p>
        </p:txBody>
      </p:sp>
      <p:sp>
        <p:nvSpPr>
          <p:cNvPr id="26" name="Text 23"/>
          <p:cNvSpPr/>
          <p:nvPr/>
        </p:nvSpPr>
        <p:spPr>
          <a:xfrm>
            <a:off x="4293868" y="2922491"/>
            <a:ext cx="4278632"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Alert state indicator</a:t>
            </a:r>
            <a:endParaRPr lang="en-US" sz="1150" dirty="0"/>
          </a:p>
        </p:txBody>
      </p:sp>
      <p:sp>
        <p:nvSpPr>
          <p:cNvPr id="27" name="Text 24"/>
          <p:cNvSpPr/>
          <p:nvPr/>
        </p:nvSpPr>
        <p:spPr>
          <a:xfrm>
            <a:off x="571500" y="3240388"/>
            <a:ext cx="2522218"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Piezo Buzzer</a:t>
            </a:r>
            <a:endParaRPr lang="en-US" sz="1150" dirty="0"/>
          </a:p>
        </p:txBody>
      </p:sp>
      <p:sp>
        <p:nvSpPr>
          <p:cNvPr id="28" name="Text 25"/>
          <p:cNvSpPr/>
          <p:nvPr/>
        </p:nvSpPr>
        <p:spPr>
          <a:xfrm>
            <a:off x="3093718" y="3240388"/>
            <a:ext cx="1200150" cy="317897"/>
          </a:xfrm>
          <a:prstGeom prst="rect">
            <a:avLst/>
          </a:prstGeom>
          <a:noFill/>
          <a:ln/>
        </p:spPr>
        <p:txBody>
          <a:bodyPr wrap="none" lIns="102108" tIns="68072" rIns="102108" bIns="68072" rtlCol="0" anchor="ctr">
            <a:spAutoFit/>
          </a:bodyPr>
          <a:lstStyle/>
          <a:p>
            <a:pPr algn="ctr" indent="0" marL="0">
              <a:buNone/>
            </a:pPr>
            <a:r>
              <a:rPr lang="en-US" sz="1100" b="1" dirty="0">
                <a:solidFill>
                  <a:srgbClr val="DC2626"/>
                </a:solidFill>
                <a:latin typeface="Inter ExtraBold" pitchFamily="34" charset="0"/>
                <a:ea typeface="Inter ExtraBold" pitchFamily="34" charset="-122"/>
                <a:cs typeface="Inter ExtraBold" pitchFamily="34" charset="-120"/>
              </a:rPr>
              <a:t>1</a:t>
            </a:r>
            <a:endParaRPr lang="en-US" sz="1100" dirty="0"/>
          </a:p>
        </p:txBody>
      </p:sp>
      <p:sp>
        <p:nvSpPr>
          <p:cNvPr id="29" name="Text 26"/>
          <p:cNvSpPr/>
          <p:nvPr/>
        </p:nvSpPr>
        <p:spPr>
          <a:xfrm>
            <a:off x="4293868" y="3240388"/>
            <a:ext cx="4278632" cy="317897"/>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Audible alarm</a:t>
            </a:r>
            <a:endParaRPr lang="en-US" sz="1150" dirty="0"/>
          </a:p>
        </p:txBody>
      </p:sp>
      <p:sp>
        <p:nvSpPr>
          <p:cNvPr id="30" name="Text 27"/>
          <p:cNvSpPr/>
          <p:nvPr/>
        </p:nvSpPr>
        <p:spPr>
          <a:xfrm>
            <a:off x="571500" y="3558285"/>
            <a:ext cx="2522218" cy="325041"/>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220Ω Resistors</a:t>
            </a:r>
            <a:endParaRPr lang="en-US" sz="1150" dirty="0"/>
          </a:p>
        </p:txBody>
      </p:sp>
      <p:sp>
        <p:nvSpPr>
          <p:cNvPr id="31" name="Text 28"/>
          <p:cNvSpPr/>
          <p:nvPr/>
        </p:nvSpPr>
        <p:spPr>
          <a:xfrm>
            <a:off x="3093718" y="3558285"/>
            <a:ext cx="1200150" cy="325041"/>
          </a:xfrm>
          <a:prstGeom prst="rect">
            <a:avLst/>
          </a:prstGeom>
          <a:noFill/>
          <a:ln/>
        </p:spPr>
        <p:txBody>
          <a:bodyPr wrap="none" lIns="102108" tIns="68072" rIns="102108" bIns="68072" rtlCol="0" anchor="ctr">
            <a:spAutoFit/>
          </a:bodyPr>
          <a:lstStyle/>
          <a:p>
            <a:pPr algn="ctr" indent="0" marL="0">
              <a:buNone/>
            </a:pPr>
            <a:r>
              <a:rPr lang="en-US" sz="1100" b="1" dirty="0">
                <a:solidFill>
                  <a:srgbClr val="DC2626"/>
                </a:solidFill>
                <a:latin typeface="Inter ExtraBold" pitchFamily="34" charset="0"/>
                <a:ea typeface="Inter ExtraBold" pitchFamily="34" charset="-122"/>
                <a:cs typeface="Inter ExtraBold" pitchFamily="34" charset="-120"/>
              </a:rPr>
              <a:t>2</a:t>
            </a:r>
            <a:endParaRPr lang="en-US" sz="1100" dirty="0"/>
          </a:p>
        </p:txBody>
      </p:sp>
      <p:sp>
        <p:nvSpPr>
          <p:cNvPr id="32" name="Text 29"/>
          <p:cNvSpPr/>
          <p:nvPr/>
        </p:nvSpPr>
        <p:spPr>
          <a:xfrm>
            <a:off x="4293868" y="3558285"/>
            <a:ext cx="4278632" cy="325041"/>
          </a:xfrm>
          <a:prstGeom prst="rect">
            <a:avLst/>
          </a:prstGeom>
          <a:noFill/>
          <a:ln/>
        </p:spPr>
        <p:txBody>
          <a:bodyPr wrap="square" lIns="102108" tIns="68072" rIns="102108" bIns="68072" rtlCol="0" anchor="ctr">
            <a:spAutoFit/>
          </a:bodyPr>
          <a:lstStyle/>
          <a:p>
            <a:pPr algn="l" indent="0" marL="0">
              <a:buNone/>
            </a:pPr>
            <a:r>
              <a:rPr lang="en-US" sz="1150" dirty="0">
                <a:solidFill>
                  <a:srgbClr val="111827"/>
                </a:solidFill>
                <a:latin typeface="Inter Medium" pitchFamily="34" charset="0"/>
                <a:ea typeface="Inter Medium" pitchFamily="34" charset="-122"/>
                <a:cs typeface="Inter Medium" pitchFamily="34" charset="-120"/>
              </a:rPr>
              <a:t>Current limiting for LEDs</a:t>
            </a:r>
            <a:endParaRPr lang="en-US" sz="1150" dirty="0"/>
          </a:p>
        </p:txBody>
      </p:sp>
      <p:sp>
        <p:nvSpPr>
          <p:cNvPr id="33" name="Text 30"/>
          <p:cNvSpPr/>
          <p:nvPr/>
        </p:nvSpPr>
        <p:spPr>
          <a:xfrm>
            <a:off x="571500" y="4111926"/>
            <a:ext cx="8001000" cy="207169"/>
          </a:xfrm>
          <a:prstGeom prst="rect">
            <a:avLst/>
          </a:prstGeom>
          <a:noFill/>
          <a:ln/>
        </p:spPr>
        <p:txBody>
          <a:bodyPr wrap="square" lIns="0" tIns="0" rIns="0" bIns="0" rtlCol="0" anchor="t">
            <a:spAutoFit/>
          </a:bodyPr>
          <a:lstStyle/>
          <a:p>
            <a:pPr algn="ctr" indent="0" marL="0">
              <a:buNone/>
            </a:pPr>
            <a:r>
              <a:rPr lang="en-US" sz="1200" b="1" dirty="0">
                <a:solidFill>
                  <a:srgbClr val="DC2626"/>
                </a:solidFill>
                <a:latin typeface="Inter ExtraBold" pitchFamily="34" charset="0"/>
                <a:ea typeface="Inter ExtraBold" pitchFamily="34" charset="-122"/>
                <a:cs typeface="Inter ExtraBold" pitchFamily="34" charset="-120"/>
              </a:rPr>
              <a:t>All components are standard, low-cost, and available in Tinkercad's simulation library.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143000"/>
          </a:xfrm>
          <a:prstGeom prst="rect">
            <a:avLst/>
          </a:prstGeom>
          <a:solidFill>
            <a:srgbClr val="111827"/>
          </a:solidFill>
          <a:ln/>
        </p:spPr>
      </p:sp>
      <p:sp>
        <p:nvSpPr>
          <p:cNvPr id="4" name="Shape 1"/>
          <p:cNvSpPr/>
          <p:nvPr/>
        </p:nvSpPr>
        <p:spPr>
          <a:xfrm>
            <a:off x="0" y="1085850"/>
            <a:ext cx="9144000" cy="57150"/>
          </a:xfrm>
          <a:prstGeom prst="rect">
            <a:avLst/>
          </a:prstGeom>
          <a:solidFill>
            <a:srgbClr val="DC2626"/>
          </a:solidFill>
          <a:ln/>
        </p:spPr>
      </p:sp>
      <p:sp>
        <p:nvSpPr>
          <p:cNvPr id="5" name="Text 2"/>
          <p:cNvSpPr/>
          <p:nvPr/>
        </p:nvSpPr>
        <p:spPr>
          <a:xfrm>
            <a:off x="0" y="0"/>
            <a:ext cx="9144000" cy="768651"/>
          </a:xfrm>
          <a:prstGeom prst="rect">
            <a:avLst/>
          </a:prstGeom>
          <a:noFill/>
          <a:ln/>
        </p:spPr>
        <p:txBody>
          <a:bodyPr wrap="square" lIns="680339" tIns="425196"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Wiring Diagram and Pin Assignments</a:t>
            </a:r>
            <a:endParaRPr lang="en-US" sz="2450" dirty="0"/>
          </a:p>
        </p:txBody>
      </p:sp>
      <p:sp>
        <p:nvSpPr>
          <p:cNvPr id="6" name="Text 3"/>
          <p:cNvSpPr/>
          <p:nvPr/>
        </p:nvSpPr>
        <p:spPr>
          <a:xfrm>
            <a:off x="571500" y="1428750"/>
            <a:ext cx="3714750" cy="1508727"/>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374151"/>
                </a:solidFill>
                <a:latin typeface="Inter Medium" pitchFamily="34" charset="0"/>
                <a:ea typeface="Inter Medium" pitchFamily="34" charset="-122"/>
                <a:cs typeface="Inter Medium" pitchFamily="34" charset="-120"/>
              </a:rPr>
              <a:t>The circuit connects the TMP36 sensor to Arduino's analog pin A0 for temperature reading. The Green LED is connected to digital pin 8, the Red LED to pin 9, and the Buzzer to pin 10. Two 220Ω resistors protect the LEDs from excessive current.</a:t>
            </a:r>
            <a:endParaRPr lang="en-US" sz="1150" dirty="0"/>
          </a:p>
        </p:txBody>
      </p:sp>
      <p:sp>
        <p:nvSpPr>
          <p:cNvPr id="7" name="Text 4"/>
          <p:cNvSpPr/>
          <p:nvPr/>
        </p:nvSpPr>
        <p:spPr>
          <a:xfrm>
            <a:off x="571500" y="2937477"/>
            <a:ext cx="3714750" cy="439341"/>
          </a:xfrm>
          <a:prstGeom prst="rect">
            <a:avLst/>
          </a:prstGeom>
          <a:noFill/>
          <a:ln/>
        </p:spPr>
        <p:txBody>
          <a:bodyPr wrap="square" lIns="0" tIns="255143" rIns="0" bIns="0" rtlCol="0" anchor="t">
            <a:spAutoFit/>
          </a:bodyPr>
          <a:lstStyle/>
          <a:p>
            <a:pPr algn="l" indent="0" marL="0">
              <a:buNone/>
            </a:pPr>
            <a:r>
              <a:rPr lang="en-US" sz="1300" b="1" dirty="0">
                <a:solidFill>
                  <a:srgbClr val="111827"/>
                </a:solidFill>
                <a:latin typeface="Inter ExtraBold" pitchFamily="34" charset="0"/>
                <a:ea typeface="Inter ExtraBold" pitchFamily="34" charset="-122"/>
                <a:cs typeface="Inter ExtraBold" pitchFamily="34" charset="-120"/>
              </a:rPr>
              <a:t>Connection Summary</a:t>
            </a:r>
            <a:endParaRPr lang="en-US" sz="1300" dirty="0"/>
          </a:p>
        </p:txBody>
      </p:sp>
      <p:sp>
        <p:nvSpPr>
          <p:cNvPr id="8" name="Text 5"/>
          <p:cNvSpPr/>
          <p:nvPr/>
        </p:nvSpPr>
        <p:spPr>
          <a:xfrm>
            <a:off x="792956" y="3519692"/>
            <a:ext cx="2627114" cy="173236"/>
          </a:xfrm>
          <a:prstGeom prst="rect">
            <a:avLst/>
          </a:prstGeom>
          <a:noFill/>
          <a:ln/>
        </p:spPr>
        <p:txBody>
          <a:bodyPr wrap="square" lIns="0" tIns="0" rIns="0" bIns="0" rtlCol="0" anchor="t">
            <a:spAutoFit/>
          </a:bodyPr>
          <a:lstStyle/>
          <a:p>
            <a:pPr algn="l" indent="0" marL="0">
              <a:buNone/>
            </a:pPr>
            <a:r>
              <a:rPr lang="en-US" sz="1000" b="1" dirty="0">
                <a:solidFill>
                  <a:srgbClr val="374151"/>
                </a:solidFill>
                <a:latin typeface="Inter ExtraBold" pitchFamily="34" charset="0"/>
                <a:ea typeface="Inter ExtraBold" pitchFamily="34" charset="-122"/>
                <a:cs typeface="Inter ExtraBold" pitchFamily="34" charset="-120"/>
              </a:rPr>
              <a:t>TMP36 VCC → Arduino 5V </a:t>
            </a:r>
            <a:r>
              <a:rPr lang="en-US" sz="1000" b="1" dirty="0">
                <a:solidFill>
                  <a:srgbClr val="DC2626"/>
                </a:solidFill>
                <a:latin typeface="Inter ExtraBold" pitchFamily="34" charset="0"/>
                <a:ea typeface="Inter ExtraBold" pitchFamily="34" charset="-122"/>
                <a:cs typeface="Inter ExtraBold" pitchFamily="34" charset="-120"/>
              </a:rPr>
              <a:t>(Red wire)</a:t>
            </a:r>
            <a:endParaRPr lang="en-US" sz="1000" dirty="0"/>
          </a:p>
        </p:txBody>
      </p:sp>
      <p:sp>
        <p:nvSpPr>
          <p:cNvPr id="9" name="Text 6"/>
          <p:cNvSpPr/>
          <p:nvPr/>
        </p:nvSpPr>
        <p:spPr>
          <a:xfrm>
            <a:off x="792956" y="3778653"/>
            <a:ext cx="2818209" cy="173236"/>
          </a:xfrm>
          <a:prstGeom prst="rect">
            <a:avLst/>
          </a:prstGeom>
          <a:noFill/>
          <a:ln/>
        </p:spPr>
        <p:txBody>
          <a:bodyPr wrap="square" lIns="0" tIns="0" rIns="0" bIns="0" rtlCol="0" anchor="t">
            <a:spAutoFit/>
          </a:bodyPr>
          <a:lstStyle/>
          <a:p>
            <a:pPr algn="l" indent="0" marL="0">
              <a:buNone/>
            </a:pPr>
            <a:r>
              <a:rPr lang="en-US" sz="1000" b="1" dirty="0">
                <a:solidFill>
                  <a:srgbClr val="374151"/>
                </a:solidFill>
                <a:latin typeface="Inter ExtraBold" pitchFamily="34" charset="0"/>
                <a:ea typeface="Inter ExtraBold" pitchFamily="34" charset="-122"/>
                <a:cs typeface="Inter ExtraBold" pitchFamily="34" charset="-120"/>
              </a:rPr>
              <a:t>TMP36 OUT → Arduino A0 </a:t>
            </a:r>
            <a:r>
              <a:rPr lang="en-US" sz="1000" b="1" dirty="0">
                <a:solidFill>
                  <a:srgbClr val="9333EA"/>
                </a:solidFill>
                <a:latin typeface="Inter ExtraBold" pitchFamily="34" charset="0"/>
                <a:ea typeface="Inter ExtraBold" pitchFamily="34" charset="-122"/>
                <a:cs typeface="Inter ExtraBold" pitchFamily="34" charset="-120"/>
              </a:rPr>
              <a:t>(Purple wire)</a:t>
            </a:r>
            <a:endParaRPr lang="en-US" sz="1000" dirty="0"/>
          </a:p>
        </p:txBody>
      </p:sp>
      <p:sp>
        <p:nvSpPr>
          <p:cNvPr id="10" name="Text 7"/>
          <p:cNvSpPr/>
          <p:nvPr/>
        </p:nvSpPr>
        <p:spPr>
          <a:xfrm>
            <a:off x="792956" y="4037614"/>
            <a:ext cx="2864644" cy="173236"/>
          </a:xfrm>
          <a:prstGeom prst="rect">
            <a:avLst/>
          </a:prstGeom>
          <a:noFill/>
          <a:ln/>
        </p:spPr>
        <p:txBody>
          <a:bodyPr wrap="square" lIns="0" tIns="0" rIns="0" bIns="0" rtlCol="0" anchor="t">
            <a:spAutoFit/>
          </a:bodyPr>
          <a:lstStyle/>
          <a:p>
            <a:pPr algn="l" indent="0" marL="0">
              <a:buNone/>
            </a:pPr>
            <a:r>
              <a:rPr lang="en-US" sz="1000" b="1" dirty="0">
                <a:solidFill>
                  <a:srgbClr val="374151"/>
                </a:solidFill>
                <a:latin typeface="Inter ExtraBold" pitchFamily="34" charset="0"/>
                <a:ea typeface="Inter ExtraBold" pitchFamily="34" charset="-122"/>
                <a:cs typeface="Inter ExtraBold" pitchFamily="34" charset="-120"/>
              </a:rPr>
              <a:t>TMP36 GND → Arduino GND </a:t>
            </a:r>
            <a:r>
              <a:rPr lang="en-US" sz="1000" b="1" dirty="0">
                <a:solidFill>
                  <a:srgbClr val="111827"/>
                </a:solidFill>
                <a:latin typeface="Inter ExtraBold" pitchFamily="34" charset="0"/>
                <a:ea typeface="Inter ExtraBold" pitchFamily="34" charset="-122"/>
                <a:cs typeface="Inter ExtraBold" pitchFamily="34" charset="-120"/>
              </a:rPr>
              <a:t>(Black wire)</a:t>
            </a:r>
            <a:endParaRPr lang="en-US" sz="1000" dirty="0"/>
          </a:p>
        </p:txBody>
      </p:sp>
      <p:sp>
        <p:nvSpPr>
          <p:cNvPr id="11" name="Text 8"/>
          <p:cNvSpPr/>
          <p:nvPr/>
        </p:nvSpPr>
        <p:spPr>
          <a:xfrm>
            <a:off x="792956" y="4296575"/>
            <a:ext cx="2200275" cy="173236"/>
          </a:xfrm>
          <a:prstGeom prst="rect">
            <a:avLst/>
          </a:prstGeom>
          <a:noFill/>
          <a:ln/>
        </p:spPr>
        <p:txBody>
          <a:bodyPr wrap="square" lIns="0" tIns="0" rIns="0" bIns="0" rtlCol="0" anchor="t">
            <a:spAutoFit/>
          </a:bodyPr>
          <a:lstStyle/>
          <a:p>
            <a:pPr algn="l" indent="0" marL="0">
              <a:buNone/>
            </a:pPr>
            <a:r>
              <a:rPr lang="en-US" sz="1000" b="1" dirty="0">
                <a:solidFill>
                  <a:srgbClr val="374151"/>
                </a:solidFill>
                <a:latin typeface="Inter ExtraBold" pitchFamily="34" charset="0"/>
                <a:ea typeface="Inter ExtraBold" pitchFamily="34" charset="-122"/>
                <a:cs typeface="Inter ExtraBold" pitchFamily="34" charset="-120"/>
              </a:rPr>
              <a:t>Green LED (+) → Pin 8 via 220Ω</a:t>
            </a:r>
            <a:endParaRPr lang="en-US" sz="1000" dirty="0"/>
          </a:p>
        </p:txBody>
      </p:sp>
      <p:sp>
        <p:nvSpPr>
          <p:cNvPr id="12" name="Text 9"/>
          <p:cNvSpPr/>
          <p:nvPr/>
        </p:nvSpPr>
        <p:spPr>
          <a:xfrm>
            <a:off x="792956" y="4555536"/>
            <a:ext cx="2043113" cy="173236"/>
          </a:xfrm>
          <a:prstGeom prst="rect">
            <a:avLst/>
          </a:prstGeom>
          <a:noFill/>
          <a:ln/>
        </p:spPr>
        <p:txBody>
          <a:bodyPr wrap="square" lIns="0" tIns="0" rIns="0" bIns="0" rtlCol="0" anchor="t">
            <a:spAutoFit/>
          </a:bodyPr>
          <a:lstStyle/>
          <a:p>
            <a:pPr algn="l" indent="0" marL="0">
              <a:buNone/>
            </a:pPr>
            <a:r>
              <a:rPr lang="en-US" sz="1000" b="1" dirty="0">
                <a:solidFill>
                  <a:srgbClr val="374151"/>
                </a:solidFill>
                <a:latin typeface="Inter ExtraBold" pitchFamily="34" charset="0"/>
                <a:ea typeface="Inter ExtraBold" pitchFamily="34" charset="-122"/>
                <a:cs typeface="Inter ExtraBold" pitchFamily="34" charset="-120"/>
              </a:rPr>
              <a:t>Red LED (+) → Pin 9 via 220Ω</a:t>
            </a:r>
            <a:endParaRPr lang="en-US" sz="1000" dirty="0"/>
          </a:p>
        </p:txBody>
      </p:sp>
      <p:sp>
        <p:nvSpPr>
          <p:cNvPr id="13" name="Text 10"/>
          <p:cNvSpPr/>
          <p:nvPr/>
        </p:nvSpPr>
        <p:spPr>
          <a:xfrm>
            <a:off x="792956" y="4814497"/>
            <a:ext cx="1359098" cy="173236"/>
          </a:xfrm>
          <a:prstGeom prst="rect">
            <a:avLst/>
          </a:prstGeom>
          <a:noFill/>
          <a:ln/>
        </p:spPr>
        <p:txBody>
          <a:bodyPr wrap="square" lIns="0" tIns="0" rIns="0" bIns="0" rtlCol="0" anchor="t">
            <a:spAutoFit/>
          </a:bodyPr>
          <a:lstStyle/>
          <a:p>
            <a:pPr algn="l" indent="0" marL="0">
              <a:buNone/>
            </a:pPr>
            <a:r>
              <a:rPr lang="en-US" sz="1000" b="1" dirty="0">
                <a:solidFill>
                  <a:srgbClr val="374151"/>
                </a:solidFill>
                <a:latin typeface="Inter ExtraBold" pitchFamily="34" charset="0"/>
                <a:ea typeface="Inter ExtraBold" pitchFamily="34" charset="-122"/>
                <a:cs typeface="Inter ExtraBold" pitchFamily="34" charset="-120"/>
              </a:rPr>
              <a:t>Buzzer (+) → Pin 10</a:t>
            </a:r>
            <a:endParaRPr lang="en-US" sz="1000" dirty="0"/>
          </a:p>
        </p:txBody>
      </p:sp>
      <p:pic>
        <p:nvPicPr>
          <p:cNvPr id="14" name="Image 1" descr="preencoded.png">    </p:cNvPr>
          <p:cNvPicPr>
            <a:picLocks noChangeAspect="1"/>
          </p:cNvPicPr>
          <p:nvPr/>
        </p:nvPicPr>
        <p:blipFill>
          <a:blip r:embed="rId2"/>
          <a:stretch>
            <a:fillRect/>
          </a:stretch>
        </p:blipFill>
        <p:spPr>
          <a:xfrm>
            <a:off x="4572000" y="1428750"/>
            <a:ext cx="4000500" cy="32861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737327"/>
          </a:xfrm>
          <a:prstGeom prst="rect">
            <a:avLst/>
          </a:prstGeom>
          <a:solidFill>
            <a:srgbClr val="111827"/>
          </a:solidFill>
          <a:ln/>
        </p:spPr>
      </p:sp>
      <p:sp>
        <p:nvSpPr>
          <p:cNvPr id="4" name="Shape 1"/>
          <p:cNvSpPr/>
          <p:nvPr/>
        </p:nvSpPr>
        <p:spPr>
          <a:xfrm>
            <a:off x="0" y="1680177"/>
            <a:ext cx="9144000" cy="57150"/>
          </a:xfrm>
          <a:prstGeom prst="rect">
            <a:avLst/>
          </a:prstGeom>
          <a:solidFill>
            <a:srgbClr val="DC262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Two-State Finite State Machine Controls All Outputs</a:t>
            </a:r>
            <a:endParaRPr lang="en-US" sz="2450" dirty="0"/>
          </a:p>
        </p:txBody>
      </p:sp>
      <p:sp>
        <p:nvSpPr>
          <p:cNvPr id="6" name="Text 3"/>
          <p:cNvSpPr/>
          <p:nvPr/>
        </p:nvSpPr>
        <p:spPr>
          <a:xfrm>
            <a:off x="571500" y="1823052"/>
            <a:ext cx="3893344" cy="2240124"/>
          </a:xfrm>
          <a:prstGeom prst="rect">
            <a:avLst/>
          </a:prstGeom>
          <a:noFill/>
          <a:ln/>
        </p:spPr>
        <p:txBody>
          <a:bodyPr wrap="square" lIns="0" tIns="0" rIns="0" bIns="0" rtlCol="0" anchor="t">
            <a:spAutoFit/>
          </a:bodyPr>
          <a:lstStyle/>
          <a:p>
            <a:pPr algn="l" indent="0" marL="0">
              <a:lnSpc>
                <a:spcPct val="128000"/>
              </a:lnSpc>
              <a:buNone/>
            </a:pPr>
            <a:r>
              <a:rPr lang="en-US" sz="1500" dirty="0">
                <a:solidFill>
                  <a:srgbClr val="374151"/>
                </a:solidFill>
                <a:latin typeface="Inter Medium" pitchFamily="34" charset="0"/>
                <a:ea typeface="Inter Medium" pitchFamily="34" charset="-122"/>
                <a:cs typeface="Inter Medium" pitchFamily="34" charset="-120"/>
              </a:rPr>
              <a:t>The system is a two-state machine. In </a:t>
            </a:r>
            <a:r>
              <a:rPr lang="en-US" sz="1500" dirty="0">
                <a:solidFill>
                  <a:srgbClr val="374151"/>
                </a:solidFill>
                <a:latin typeface="Inter Medium" pitchFamily="34" charset="0"/>
                <a:ea typeface="Inter Medium" pitchFamily="34" charset="-122"/>
                <a:cs typeface="Inter Medium" pitchFamily="34" charset="-120"/>
              </a:rPr>
              <a:t>the </a:t>
            </a:r>
            <a:r>
              <a:rPr lang="en-US" sz="1400" b="1" dirty="0">
                <a:solidFill>
                  <a:srgbClr val="374151"/>
                </a:solidFill>
                <a:latin typeface="Inter ExtraBold" pitchFamily="34" charset="0"/>
                <a:ea typeface="Inter ExtraBold" pitchFamily="34" charset="-122"/>
                <a:cs typeface="Inter ExtraBold" pitchFamily="34" charset="-120"/>
              </a:rPr>
              <a:t>NORMAL</a:t>
            </a:r>
            <a:r>
              <a:rPr lang="en-US" sz="1500" dirty="0">
                <a:solidFill>
                  <a:srgbClr val="374151"/>
                </a:solidFill>
                <a:latin typeface="Inter Medium" pitchFamily="34" charset="0"/>
                <a:ea typeface="Inter Medium" pitchFamily="34" charset="-122"/>
                <a:cs typeface="Inter Medium" pitchFamily="34" charset="-120"/>
              </a:rPr>
              <a:t> state (temp &lt; 30°C) the </a:t>
            </a:r>
            <a:r>
              <a:rPr lang="en-US" sz="1500" dirty="0">
                <a:solidFill>
                  <a:srgbClr val="374151"/>
                </a:solidFill>
                <a:latin typeface="Inter Medium" pitchFamily="34" charset="0"/>
                <a:ea typeface="Inter Medium" pitchFamily="34" charset="-122"/>
                <a:cs typeface="Inter Medium" pitchFamily="34" charset="-120"/>
              </a:rPr>
              <a:t>green LED is ON and alarms are silent. In </a:t>
            </a:r>
            <a:r>
              <a:rPr lang="en-US" sz="1500" dirty="0">
                <a:solidFill>
                  <a:srgbClr val="374151"/>
                </a:solidFill>
                <a:latin typeface="Inter Medium" pitchFamily="34" charset="0"/>
                <a:ea typeface="Inter Medium" pitchFamily="34" charset="-122"/>
                <a:cs typeface="Inter Medium" pitchFamily="34" charset="-120"/>
              </a:rPr>
              <a:t>the </a:t>
            </a:r>
            <a:r>
              <a:rPr lang="en-US" sz="1400" b="1" dirty="0">
                <a:solidFill>
                  <a:srgbClr val="374151"/>
                </a:solidFill>
                <a:latin typeface="Inter ExtraBold" pitchFamily="34" charset="0"/>
                <a:ea typeface="Inter ExtraBold" pitchFamily="34" charset="-122"/>
                <a:cs typeface="Inter ExtraBold" pitchFamily="34" charset="-120"/>
              </a:rPr>
              <a:t>ALERT</a:t>
            </a:r>
            <a:r>
              <a:rPr lang="en-US" sz="1500" dirty="0">
                <a:solidFill>
                  <a:srgbClr val="374151"/>
                </a:solidFill>
                <a:latin typeface="Inter Medium" pitchFamily="34" charset="0"/>
                <a:ea typeface="Inter Medium" pitchFamily="34" charset="-122"/>
                <a:cs typeface="Inter Medium" pitchFamily="34" charset="-120"/>
              </a:rPr>
              <a:t> state (temp ≥ 30°C) the red </a:t>
            </a:r>
            <a:r>
              <a:rPr lang="en-US" sz="1500" dirty="0">
                <a:solidFill>
                  <a:srgbClr val="374151"/>
                </a:solidFill>
                <a:latin typeface="Inter Medium" pitchFamily="34" charset="0"/>
                <a:ea typeface="Inter Medium" pitchFamily="34" charset="-122"/>
                <a:cs typeface="Inter Medium" pitchFamily="34" charset="-120"/>
              </a:rPr>
              <a:t>LED and buzzer activate. The sensor is </a:t>
            </a:r>
            <a:r>
              <a:rPr lang="en-US" sz="1500" dirty="0">
                <a:solidFill>
                  <a:srgbClr val="374151"/>
                </a:solidFill>
                <a:latin typeface="Inter Medium" pitchFamily="34" charset="0"/>
                <a:ea typeface="Inter Medium" pitchFamily="34" charset="-122"/>
                <a:cs typeface="Inter Medium" pitchFamily="34" charset="-120"/>
              </a:rPr>
              <a:t>polled every second and the machine </a:t>
            </a:r>
            <a:r>
              <a:rPr lang="en-US" sz="1500" dirty="0">
                <a:solidFill>
                  <a:srgbClr val="374151"/>
                </a:solidFill>
                <a:latin typeface="Inter Medium" pitchFamily="34" charset="0"/>
                <a:ea typeface="Inter Medium" pitchFamily="34" charset="-122"/>
                <a:cs typeface="Inter Medium" pitchFamily="34" charset="-120"/>
              </a:rPr>
              <a:t>transitions based on the reading.</a:t>
            </a:r>
            <a:endParaRPr lang="en-US" sz="1500" dirty="0"/>
          </a:p>
        </p:txBody>
      </p:sp>
      <p:sp>
        <p:nvSpPr>
          <p:cNvPr id="7" name="Shape 4"/>
          <p:cNvSpPr/>
          <p:nvPr/>
        </p:nvSpPr>
        <p:spPr>
          <a:xfrm>
            <a:off x="4679156" y="1823052"/>
            <a:ext cx="3627239" cy="1082613"/>
          </a:xfrm>
          <a:prstGeom prst="rect">
            <a:avLst/>
          </a:prstGeom>
          <a:solidFill>
            <a:srgbClr val="FFFFFF"/>
          </a:solidFill>
          <a:ln w="27432">
            <a:solidFill>
              <a:srgbClr val="111827"/>
            </a:solidFill>
            <a:prstDash val="solid"/>
          </a:ln>
        </p:spPr>
      </p:sp>
      <p:sp>
        <p:nvSpPr>
          <p:cNvPr id="8" name="Text 5"/>
          <p:cNvSpPr/>
          <p:nvPr/>
        </p:nvSpPr>
        <p:spPr>
          <a:xfrm>
            <a:off x="5064919" y="1908777"/>
            <a:ext cx="2030611" cy="312539"/>
          </a:xfrm>
          <a:prstGeom prst="rect">
            <a:avLst/>
          </a:prstGeom>
          <a:noFill/>
          <a:ln/>
        </p:spPr>
        <p:txBody>
          <a:bodyPr wrap="square" lIns="0" tIns="0" rIns="0" bIns="0" rtlCol="0" anchor="t">
            <a:spAutoFit/>
          </a:bodyPr>
          <a:lstStyle/>
          <a:p>
            <a:pPr algn="l" indent="0" marL="0">
              <a:buNone/>
            </a:pPr>
            <a:r>
              <a:rPr lang="en-US" sz="1800" b="1" dirty="0">
                <a:solidFill>
                  <a:srgbClr val="111827"/>
                </a:solidFill>
                <a:latin typeface="Inter ExtraBold" pitchFamily="34" charset="0"/>
                <a:ea typeface="Inter ExtraBold" pitchFamily="34" charset="-122"/>
                <a:cs typeface="Inter ExtraBold" pitchFamily="34" charset="-120"/>
              </a:rPr>
              <a:t>NORMAL STATE</a:t>
            </a:r>
            <a:endParaRPr lang="en-US" sz="1800" dirty="0"/>
          </a:p>
        </p:txBody>
      </p:sp>
      <p:sp>
        <p:nvSpPr>
          <p:cNvPr id="9" name="Text 6"/>
          <p:cNvSpPr/>
          <p:nvPr/>
        </p:nvSpPr>
        <p:spPr>
          <a:xfrm>
            <a:off x="4764881" y="2278466"/>
            <a:ext cx="3398639" cy="207169"/>
          </a:xfrm>
          <a:prstGeom prst="rect">
            <a:avLst/>
          </a:prstGeom>
          <a:noFill/>
          <a:ln/>
        </p:spPr>
        <p:txBody>
          <a:bodyPr wrap="square" lIns="0" tIns="0" rIns="0" bIns="0" rtlCol="0" anchor="t">
            <a:spAutoFit/>
          </a:bodyPr>
          <a:lstStyle/>
          <a:p>
            <a:pPr algn="l" indent="0" marL="0">
              <a:buNone/>
            </a:pPr>
            <a:r>
              <a:rPr lang="en-US" sz="1200" b="1" dirty="0">
                <a:solidFill>
                  <a:srgbClr val="374151"/>
                </a:solidFill>
                <a:latin typeface="Inter ExtraBold" pitchFamily="34" charset="0"/>
                <a:ea typeface="Inter ExtraBold" pitchFamily="34" charset="-122"/>
                <a:cs typeface="Inter ExtraBold" pitchFamily="34" charset="-120"/>
              </a:rPr>
              <a:t>Condition: Temp &lt; 30°C</a:t>
            </a:r>
            <a:endParaRPr lang="en-US" sz="1200" dirty="0"/>
          </a:p>
        </p:txBody>
      </p:sp>
      <p:sp>
        <p:nvSpPr>
          <p:cNvPr id="10" name="Text 7"/>
          <p:cNvSpPr/>
          <p:nvPr/>
        </p:nvSpPr>
        <p:spPr>
          <a:xfrm>
            <a:off x="4764881" y="2542784"/>
            <a:ext cx="3398639"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Green LED: ON • Red LED: OFF • Buzzer: OFF</a:t>
            </a:r>
            <a:endParaRPr lang="en-US" sz="1150" dirty="0"/>
          </a:p>
        </p:txBody>
      </p:sp>
      <p:sp>
        <p:nvSpPr>
          <p:cNvPr id="11" name="Text 8"/>
          <p:cNvSpPr/>
          <p:nvPr/>
        </p:nvSpPr>
        <p:spPr>
          <a:xfrm>
            <a:off x="6554391" y="2934240"/>
            <a:ext cx="142875" cy="346472"/>
          </a:xfrm>
          <a:prstGeom prst="rect">
            <a:avLst/>
          </a:prstGeom>
          <a:noFill/>
          <a:ln/>
        </p:spPr>
        <p:txBody>
          <a:bodyPr wrap="none" lIns="0" tIns="0" rIns="0" bIns="0" rtlCol="0" anchor="t">
            <a:spAutoFit/>
          </a:bodyPr>
          <a:lstStyle/>
          <a:p>
            <a:pPr algn="ctr" indent="0" marL="0">
              <a:buNone/>
            </a:pPr>
            <a:r>
              <a:rPr lang="en-US" sz="2000" b="1" dirty="0">
                <a:solidFill>
                  <a:srgbClr val="111827"/>
                </a:solidFill>
                <a:latin typeface="Inter ExtraBold" pitchFamily="34" charset="0"/>
                <a:ea typeface="Inter ExtraBold" pitchFamily="34" charset="-122"/>
                <a:cs typeface="Inter ExtraBold" pitchFamily="34" charset="-120"/>
              </a:rPr>
              <a:t>↕</a:t>
            </a:r>
            <a:endParaRPr lang="en-US" sz="2000" dirty="0"/>
          </a:p>
        </p:txBody>
      </p:sp>
      <p:sp>
        <p:nvSpPr>
          <p:cNvPr id="12" name="Shape 9"/>
          <p:cNvSpPr/>
          <p:nvPr/>
        </p:nvSpPr>
        <p:spPr>
          <a:xfrm>
            <a:off x="4679156" y="3366436"/>
            <a:ext cx="3893344" cy="1302618"/>
          </a:xfrm>
          <a:prstGeom prst="rect">
            <a:avLst/>
          </a:prstGeom>
          <a:solidFill>
            <a:srgbClr val="FFFFFF"/>
          </a:solidFill>
          <a:ln w="27432">
            <a:solidFill>
              <a:srgbClr val="DC2626"/>
            </a:solidFill>
            <a:prstDash val="solid"/>
          </a:ln>
        </p:spPr>
      </p:sp>
      <p:sp>
        <p:nvSpPr>
          <p:cNvPr id="13" name="Text 10"/>
          <p:cNvSpPr/>
          <p:nvPr/>
        </p:nvSpPr>
        <p:spPr>
          <a:xfrm>
            <a:off x="5064919" y="3452161"/>
            <a:ext cx="1723430" cy="312539"/>
          </a:xfrm>
          <a:prstGeom prst="rect">
            <a:avLst/>
          </a:prstGeom>
          <a:noFill/>
          <a:ln/>
        </p:spPr>
        <p:txBody>
          <a:bodyPr wrap="square" lIns="0" tIns="0" rIns="0" bIns="0" rtlCol="0" anchor="t">
            <a:spAutoFit/>
          </a:bodyPr>
          <a:lstStyle/>
          <a:p>
            <a:pPr algn="l" indent="0" marL="0">
              <a:buNone/>
            </a:pPr>
            <a:r>
              <a:rPr lang="en-US" sz="1800" b="1" dirty="0">
                <a:solidFill>
                  <a:srgbClr val="DC2626"/>
                </a:solidFill>
                <a:latin typeface="Inter ExtraBold" pitchFamily="34" charset="0"/>
                <a:ea typeface="Inter ExtraBold" pitchFamily="34" charset="-122"/>
                <a:cs typeface="Inter ExtraBold" pitchFamily="34" charset="-120"/>
              </a:rPr>
              <a:t>ALERT STATE</a:t>
            </a:r>
            <a:endParaRPr lang="en-US" sz="1800" dirty="0"/>
          </a:p>
        </p:txBody>
      </p:sp>
      <p:sp>
        <p:nvSpPr>
          <p:cNvPr id="14" name="Text 11"/>
          <p:cNvSpPr/>
          <p:nvPr/>
        </p:nvSpPr>
        <p:spPr>
          <a:xfrm>
            <a:off x="4764881" y="3821850"/>
            <a:ext cx="3721894" cy="207169"/>
          </a:xfrm>
          <a:prstGeom prst="rect">
            <a:avLst/>
          </a:prstGeom>
          <a:noFill/>
          <a:ln/>
        </p:spPr>
        <p:txBody>
          <a:bodyPr wrap="square" lIns="0" tIns="0" rIns="0" bIns="0" rtlCol="0" anchor="t">
            <a:spAutoFit/>
          </a:bodyPr>
          <a:lstStyle/>
          <a:p>
            <a:pPr algn="l" indent="0" marL="0">
              <a:buNone/>
            </a:pPr>
            <a:r>
              <a:rPr lang="en-US" sz="1200" b="1" dirty="0">
                <a:solidFill>
                  <a:srgbClr val="374151"/>
                </a:solidFill>
                <a:latin typeface="Inter ExtraBold" pitchFamily="34" charset="0"/>
                <a:ea typeface="Inter ExtraBold" pitchFamily="34" charset="-122"/>
                <a:cs typeface="Inter ExtraBold" pitchFamily="34" charset="-120"/>
              </a:rPr>
              <a:t>Condition: Temp ≥ 30°C</a:t>
            </a:r>
            <a:endParaRPr lang="en-US" sz="1200" dirty="0"/>
          </a:p>
        </p:txBody>
      </p:sp>
      <p:sp>
        <p:nvSpPr>
          <p:cNvPr id="15" name="Text 12"/>
          <p:cNvSpPr/>
          <p:nvPr/>
        </p:nvSpPr>
        <p:spPr>
          <a:xfrm>
            <a:off x="4764881" y="4086169"/>
            <a:ext cx="3721894" cy="440010"/>
          </a:xfrm>
          <a:prstGeom prst="rect">
            <a:avLst/>
          </a:prstGeom>
          <a:noFill/>
          <a:ln/>
        </p:spPr>
        <p:txBody>
          <a:bodyPr wrap="squar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Green LED: OFF • Red LED: ON • Buzzer: ON (1kHz)</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394427"/>
          </a:xfrm>
          <a:prstGeom prst="rect">
            <a:avLst/>
          </a:prstGeom>
          <a:solidFill>
            <a:srgbClr val="111827"/>
          </a:solidFill>
          <a:ln/>
        </p:spPr>
      </p:sp>
      <p:sp>
        <p:nvSpPr>
          <p:cNvPr id="4" name="Shape 1"/>
          <p:cNvSpPr/>
          <p:nvPr/>
        </p:nvSpPr>
        <p:spPr>
          <a:xfrm>
            <a:off x="0" y="1337277"/>
            <a:ext cx="9144000" cy="57150"/>
          </a:xfrm>
          <a:prstGeom prst="rect">
            <a:avLst/>
          </a:prstGeom>
          <a:solidFill>
            <a:srgbClr val="DC2626"/>
          </a:solidFill>
          <a:ln/>
        </p:spPr>
      </p:sp>
      <p:sp>
        <p:nvSpPr>
          <p:cNvPr id="5" name="Text 2"/>
          <p:cNvSpPr/>
          <p:nvPr/>
        </p:nvSpPr>
        <p:spPr>
          <a:xfrm>
            <a:off x="571500" y="428625"/>
            <a:ext cx="8001000" cy="822927"/>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Arduino Code — Clean, Commented, and Readable</a:t>
            </a:r>
            <a:endParaRPr lang="en-US" sz="2450" dirty="0"/>
          </a:p>
        </p:txBody>
      </p:sp>
      <p:sp>
        <p:nvSpPr>
          <p:cNvPr id="6" name="Text 3"/>
          <p:cNvSpPr/>
          <p:nvPr/>
        </p:nvSpPr>
        <p:spPr>
          <a:xfrm>
            <a:off x="428625" y="1583736"/>
            <a:ext cx="3893344" cy="207169"/>
          </a:xfrm>
          <a:prstGeom prst="rect">
            <a:avLst/>
          </a:prstGeom>
          <a:noFill/>
          <a:ln/>
        </p:spPr>
        <p:txBody>
          <a:bodyPr wrap="non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The code reads the raw ADC value from pin A0,</a:t>
            </a:r>
            <a:endParaRPr lang="en-US" sz="1250" dirty="0"/>
          </a:p>
        </p:txBody>
      </p:sp>
      <p:sp>
        <p:nvSpPr>
          <p:cNvPr id="7" name="Text 4"/>
          <p:cNvSpPr/>
          <p:nvPr/>
        </p:nvSpPr>
        <p:spPr>
          <a:xfrm>
            <a:off x="428625" y="1858045"/>
            <a:ext cx="3837980" cy="207169"/>
          </a:xfrm>
          <a:prstGeom prst="rect">
            <a:avLst/>
          </a:prstGeom>
          <a:noFill/>
          <a:ln/>
        </p:spPr>
        <p:txBody>
          <a:bodyPr wrap="non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converts it to Celsius using the TMP36 formula</a:t>
            </a:r>
            <a:endParaRPr lang="en-US" sz="1250" dirty="0"/>
          </a:p>
        </p:txBody>
      </p:sp>
      <p:sp>
        <p:nvSpPr>
          <p:cNvPr id="8" name="Shape 5"/>
          <p:cNvSpPr/>
          <p:nvPr/>
        </p:nvSpPr>
        <p:spPr>
          <a:xfrm>
            <a:off x="428625" y="2105565"/>
            <a:ext cx="2246012" cy="262533"/>
          </a:xfrm>
          <a:prstGeom prst="rect">
            <a:avLst/>
          </a:prstGeom>
          <a:solidFill>
            <a:srgbClr val="E5E7EB"/>
          </a:solidFill>
          <a:ln/>
        </p:spPr>
      </p:sp>
      <p:sp>
        <p:nvSpPr>
          <p:cNvPr id="9" name="Text 6"/>
          <p:cNvSpPr/>
          <p:nvPr/>
        </p:nvSpPr>
        <p:spPr>
          <a:xfrm>
            <a:off x="428625" y="2105565"/>
            <a:ext cx="2246012" cy="262533"/>
          </a:xfrm>
          <a:prstGeom prst="rect">
            <a:avLst/>
          </a:prstGeom>
          <a:noFill/>
          <a:ln/>
        </p:spPr>
        <p:txBody>
          <a:bodyPr wrap="none" lIns="51054" tIns="17018" rIns="51054" bIns="17018" rtlCol="0" anchor="t">
            <a:spAutoFit/>
          </a:bodyPr>
          <a:lstStyle/>
          <a:p>
            <a:pPr algn="l" indent="0" marL="0">
              <a:lnSpc>
                <a:spcPct val="128000"/>
              </a:lnSpc>
              <a:buNone/>
            </a:pPr>
            <a:r>
              <a:rPr lang="en-US" sz="1200" b="1" dirty="0">
                <a:solidFill>
                  <a:srgbClr val="111827"/>
                </a:solidFill>
                <a:latin typeface="monospace" pitchFamily="34" charset="0"/>
                <a:ea typeface="monospace" pitchFamily="34" charset="-122"/>
                <a:cs typeface="monospace" pitchFamily="34" charset="-120"/>
              </a:rPr>
              <a:t>(Voltage - 0.5) * 100</a:t>
            </a:r>
            <a:endParaRPr lang="en-US" sz="1200" dirty="0"/>
          </a:p>
        </p:txBody>
      </p:sp>
      <p:sp>
        <p:nvSpPr>
          <p:cNvPr id="10" name="Text 7"/>
          <p:cNvSpPr/>
          <p:nvPr/>
        </p:nvSpPr>
        <p:spPr>
          <a:xfrm>
            <a:off x="2674637" y="2135925"/>
            <a:ext cx="1678781" cy="207169"/>
          </a:xfrm>
          <a:prstGeom prst="rect">
            <a:avLst/>
          </a:prstGeom>
          <a:noFill/>
          <a:ln/>
        </p:spPr>
        <p:txBody>
          <a:bodyPr wrap="non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 then compares it to</a:t>
            </a:r>
            <a:endParaRPr lang="en-US" sz="1250" dirty="0"/>
          </a:p>
        </p:txBody>
      </p:sp>
      <p:sp>
        <p:nvSpPr>
          <p:cNvPr id="11" name="Text 8"/>
          <p:cNvSpPr/>
          <p:nvPr/>
        </p:nvSpPr>
        <p:spPr>
          <a:xfrm>
            <a:off x="428625" y="2410234"/>
            <a:ext cx="3664744" cy="207169"/>
          </a:xfrm>
          <a:prstGeom prst="rect">
            <a:avLst/>
          </a:prstGeom>
          <a:noFill/>
          <a:ln/>
        </p:spPr>
        <p:txBody>
          <a:bodyPr wrap="non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the 30°C threshold. The entire logic runs in a</a:t>
            </a:r>
            <a:endParaRPr lang="en-US" sz="1250" dirty="0"/>
          </a:p>
        </p:txBody>
      </p:sp>
      <p:sp>
        <p:nvSpPr>
          <p:cNvPr id="12" name="Shape 9"/>
          <p:cNvSpPr/>
          <p:nvPr/>
        </p:nvSpPr>
        <p:spPr>
          <a:xfrm>
            <a:off x="428625" y="2657754"/>
            <a:ext cx="702962" cy="262533"/>
          </a:xfrm>
          <a:prstGeom prst="rect">
            <a:avLst/>
          </a:prstGeom>
          <a:solidFill>
            <a:srgbClr val="E5E7EB"/>
          </a:solidFill>
          <a:ln/>
        </p:spPr>
      </p:sp>
      <p:sp>
        <p:nvSpPr>
          <p:cNvPr id="13" name="Text 10"/>
          <p:cNvSpPr/>
          <p:nvPr/>
        </p:nvSpPr>
        <p:spPr>
          <a:xfrm>
            <a:off x="428625" y="2657754"/>
            <a:ext cx="702962" cy="262533"/>
          </a:xfrm>
          <a:prstGeom prst="rect">
            <a:avLst/>
          </a:prstGeom>
          <a:noFill/>
          <a:ln/>
        </p:spPr>
        <p:txBody>
          <a:bodyPr wrap="none" lIns="51054" tIns="17018" rIns="51054" bIns="17018" rtlCol="0" anchor="t">
            <a:spAutoFit/>
          </a:bodyPr>
          <a:lstStyle/>
          <a:p>
            <a:pPr algn="l" indent="0" marL="0">
              <a:lnSpc>
                <a:spcPct val="128000"/>
              </a:lnSpc>
              <a:buNone/>
            </a:pPr>
            <a:r>
              <a:rPr lang="en-US" sz="1200" b="1" dirty="0">
                <a:solidFill>
                  <a:srgbClr val="111827"/>
                </a:solidFill>
                <a:latin typeface="monospace" pitchFamily="34" charset="0"/>
                <a:ea typeface="monospace" pitchFamily="34" charset="-122"/>
                <a:cs typeface="monospace" pitchFamily="34" charset="-120"/>
              </a:rPr>
              <a:t>loop()</a:t>
            </a:r>
            <a:endParaRPr lang="en-US" sz="1200" dirty="0"/>
          </a:p>
        </p:txBody>
      </p:sp>
      <p:sp>
        <p:nvSpPr>
          <p:cNvPr id="14" name="Text 11"/>
          <p:cNvSpPr/>
          <p:nvPr/>
        </p:nvSpPr>
        <p:spPr>
          <a:xfrm>
            <a:off x="1131587" y="2688115"/>
            <a:ext cx="3202186" cy="207169"/>
          </a:xfrm>
          <a:prstGeom prst="rect">
            <a:avLst/>
          </a:prstGeom>
          <a:noFill/>
          <a:ln/>
        </p:spPr>
        <p:txBody>
          <a:bodyPr wrap="non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function that executes every 1 second.</a:t>
            </a:r>
            <a:endParaRPr lang="en-US" sz="1250" dirty="0"/>
          </a:p>
        </p:txBody>
      </p:sp>
      <p:sp>
        <p:nvSpPr>
          <p:cNvPr id="15" name="Shape 12"/>
          <p:cNvSpPr/>
          <p:nvPr/>
        </p:nvSpPr>
        <p:spPr>
          <a:xfrm>
            <a:off x="428625" y="2987427"/>
            <a:ext cx="4000500" cy="1943100"/>
          </a:xfrm>
          <a:prstGeom prst="rect">
            <a:avLst/>
          </a:prstGeom>
          <a:solidFill>
            <a:srgbClr val="111827"/>
          </a:solidFill>
          <a:ln/>
        </p:spPr>
      </p:sp>
      <p:sp>
        <p:nvSpPr>
          <p:cNvPr id="16" name="Shape 13"/>
          <p:cNvSpPr/>
          <p:nvPr/>
        </p:nvSpPr>
        <p:spPr>
          <a:xfrm>
            <a:off x="428625" y="2987427"/>
            <a:ext cx="57150" cy="1943100"/>
          </a:xfrm>
          <a:prstGeom prst="rect">
            <a:avLst/>
          </a:prstGeom>
          <a:solidFill>
            <a:srgbClr val="DC2626"/>
          </a:solidFill>
          <a:ln/>
        </p:spPr>
      </p:sp>
      <p:sp>
        <p:nvSpPr>
          <p:cNvPr id="17" name="Text 14"/>
          <p:cNvSpPr/>
          <p:nvPr/>
        </p:nvSpPr>
        <p:spPr>
          <a:xfrm>
            <a:off x="428625" y="2987427"/>
            <a:ext cx="4000500" cy="1943100"/>
          </a:xfrm>
          <a:prstGeom prst="rect">
            <a:avLst/>
          </a:prstGeom>
          <a:noFill/>
          <a:ln/>
        </p:spPr>
        <p:txBody>
          <a:bodyPr wrap="square" lIns="68072" tIns="68072" rIns="68072" bIns="68072" rtlCol="0" anchor="t">
            <a:spAutoFit/>
          </a:bodyPr>
          <a:lstStyle/>
          <a:p>
            <a:pPr algn="l" indent="0" marL="0">
              <a:lnSpc>
                <a:spcPct val="128000"/>
              </a:lnSpc>
              <a:buNone/>
            </a:pPr>
            <a:r>
              <a:rPr lang="en-US" sz="1050" dirty="0">
                <a:solidFill>
                  <a:srgbClr val="9CA3AF"/>
                </a:solidFill>
                <a:latin typeface="monospace" pitchFamily="34" charset="0"/>
                <a:ea typeface="monospace" pitchFamily="34" charset="-122"/>
                <a:cs typeface="monospace" pitchFamily="34" charset="-120"/>
              </a:rPr>
              <a:t>// Convert raw ADC to Celsius</a:t>
            </a:r>
            <a:r>
              <a:rPr lang="en-US" sz="1050" dirty="0">
                <a:solidFill>
                  <a:srgbClr val="F8FAFC"/>
                </a:solidFill>
                <a:latin typeface="monospace" pitchFamily="34" charset="0"/>
                <a:ea typeface="monospace" pitchFamily="34" charset="-122"/>
                <a:cs typeface="monospace" pitchFamily="34" charset="-120"/>
              </a:rPr>
              <a:t>
</a:t>
            </a:r>
            <a:r>
              <a:rPr lang="en-US" sz="1000" b="1" dirty="0">
                <a:solidFill>
                  <a:srgbClr val="DC2626"/>
                </a:solidFill>
                <a:latin typeface="monospace" pitchFamily="34" charset="0"/>
                <a:ea typeface="monospace" pitchFamily="34" charset="-122"/>
                <a:cs typeface="monospace" pitchFamily="34" charset="-120"/>
              </a:rPr>
              <a:t>float</a:t>
            </a:r>
            <a:r>
              <a:rPr lang="en-US" sz="1050" dirty="0">
                <a:solidFill>
                  <a:srgbClr val="F8FAFC"/>
                </a:solidFill>
                <a:latin typeface="monospace" pitchFamily="34" charset="0"/>
                <a:ea typeface="monospace" pitchFamily="34" charset="-122"/>
                <a:cs typeface="monospace" pitchFamily="34" charset="-120"/>
              </a:rPr>
              <a:t> voltage = rawValue * (5.0 / 1023.0); </a:t>
            </a:r>
            <a:r>
              <a:rPr lang="en-US" sz="1000" b="1" dirty="0">
                <a:solidFill>
                  <a:srgbClr val="DC2626"/>
                </a:solidFill>
                <a:latin typeface="monospace" pitchFamily="34" charset="0"/>
                <a:ea typeface="monospace" pitchFamily="34" charset="-122"/>
                <a:cs typeface="monospace" pitchFamily="34" charset="-120"/>
              </a:rPr>
              <a:t>float</a:t>
            </a:r>
            <a:r>
              <a:rPr lang="en-US" sz="1050" dirty="0">
                <a:solidFill>
                  <a:srgbClr val="F8FAFC"/>
                </a:solidFill>
                <a:latin typeface="monospace" pitchFamily="34" charset="0"/>
                <a:ea typeface="monospace" pitchFamily="34" charset="-122"/>
                <a:cs typeface="monospace" pitchFamily="34" charset="-120"/>
              </a:rPr>
              <a:t> tempC = (voltage - 0.5) * 100.0;
</a:t>
            </a:r>
            <a:r>
              <a:rPr lang="en-US" sz="1000" b="1" dirty="0">
                <a:solidFill>
                  <a:srgbClr val="DC2626"/>
                </a:solidFill>
                <a:latin typeface="monospace" pitchFamily="34" charset="0"/>
                <a:ea typeface="monospace" pitchFamily="34" charset="-122"/>
                <a:cs typeface="monospace" pitchFamily="34" charset="-120"/>
              </a:rPr>
              <a:t>if</a:t>
            </a:r>
            <a:r>
              <a:rPr lang="en-US" sz="1050" dirty="0">
                <a:solidFill>
                  <a:srgbClr val="F8FAFC"/>
                </a:solidFill>
                <a:latin typeface="monospace" pitchFamily="34" charset="0"/>
                <a:ea typeface="monospace" pitchFamily="34" charset="-122"/>
                <a:cs typeface="monospace" pitchFamily="34" charset="-120"/>
              </a:rPr>
              <a:t> (tempC &lt; threshold) { </a:t>
            </a:r>
            <a:r>
              <a:rPr lang="en-US" sz="1050" dirty="0">
                <a:solidFill>
                  <a:srgbClr val="F8FAFC"/>
                </a:solidFill>
                <a:latin typeface="monospace" pitchFamily="34" charset="0"/>
                <a:ea typeface="monospace" pitchFamily="34" charset="-122"/>
                <a:cs typeface="monospace" pitchFamily="34" charset="-120"/>
              </a:rPr>
              <a:t>digitalWrite(greenLED, HIGH); } </a:t>
            </a:r>
            <a:r>
              <a:rPr lang="en-US" sz="1000" b="1" dirty="0">
                <a:solidFill>
                  <a:srgbClr val="DC2626"/>
                </a:solidFill>
                <a:latin typeface="monospace" pitchFamily="34" charset="0"/>
                <a:ea typeface="monospace" pitchFamily="34" charset="-122"/>
                <a:cs typeface="monospace" pitchFamily="34" charset="-120"/>
              </a:rPr>
              <a:t>else</a:t>
            </a:r>
            <a:r>
              <a:rPr lang="en-US" sz="1050" dirty="0">
                <a:solidFill>
                  <a:srgbClr val="F8FAFC"/>
                </a:solidFill>
                <a:latin typeface="monospace" pitchFamily="34" charset="0"/>
                <a:ea typeface="monospace" pitchFamily="34" charset="-122"/>
                <a:cs typeface="monospace" pitchFamily="34" charset="-120"/>
              </a:rPr>
              <a:t> { </a:t>
            </a:r>
            <a:r>
              <a:rPr lang="en-US" sz="1050" dirty="0">
                <a:solidFill>
                  <a:srgbClr val="F8FAFC"/>
                </a:solidFill>
                <a:latin typeface="monospace" pitchFamily="34" charset="0"/>
                <a:ea typeface="monospace" pitchFamily="34" charset="-122"/>
                <a:cs typeface="monospace" pitchFamily="34" charset="-120"/>
              </a:rPr>
              <a:t>digitalWrite(redLED, HIGH); }
</a:t>
            </a:r>
            <a:endParaRPr lang="en-US" sz="1050" dirty="0"/>
          </a:p>
        </p:txBody>
      </p:sp>
      <p:sp>
        <p:nvSpPr>
          <p:cNvPr id="18" name="Text 15"/>
          <p:cNvSpPr/>
          <p:nvPr/>
        </p:nvSpPr>
        <p:spPr>
          <a:xfrm>
            <a:off x="4714875" y="1551589"/>
            <a:ext cx="4000500" cy="273248"/>
          </a:xfrm>
          <a:prstGeom prst="rect">
            <a:avLst/>
          </a:prstGeom>
          <a:noFill/>
          <a:ln/>
        </p:spPr>
        <p:txBody>
          <a:bodyPr wrap="square" lIns="0" tIns="0" rIns="0" bIns="0" rtlCol="0" anchor="t">
            <a:spAutoFit/>
          </a:bodyPr>
          <a:lstStyle/>
          <a:p>
            <a:pPr algn="l" indent="0" marL="0">
              <a:buNone/>
            </a:pPr>
            <a:r>
              <a:rPr lang="en-US" sz="1400" b="1" dirty="0">
                <a:solidFill>
                  <a:srgbClr val="DC2626"/>
                </a:solidFill>
                <a:latin typeface="monospace" pitchFamily="34" charset="0"/>
                <a:ea typeface="monospace" pitchFamily="34" charset="-122"/>
                <a:cs typeface="monospace" pitchFamily="34" charset="-120"/>
              </a:rPr>
              <a:t>setup()</a:t>
            </a:r>
            <a:endParaRPr lang="en-US" sz="1400" dirty="0"/>
          </a:p>
        </p:txBody>
      </p:sp>
      <p:sp>
        <p:nvSpPr>
          <p:cNvPr id="19" name="Text 16"/>
          <p:cNvSpPr/>
          <p:nvPr/>
        </p:nvSpPr>
        <p:spPr>
          <a:xfrm>
            <a:off x="4714875" y="1853412"/>
            <a:ext cx="40005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Initializes pins and Serial Monitor</a:t>
            </a:r>
            <a:endParaRPr lang="en-US" sz="1150" dirty="0"/>
          </a:p>
        </p:txBody>
      </p:sp>
      <p:sp>
        <p:nvSpPr>
          <p:cNvPr id="20" name="Text 17"/>
          <p:cNvSpPr/>
          <p:nvPr/>
        </p:nvSpPr>
        <p:spPr>
          <a:xfrm>
            <a:off x="4714875" y="2187718"/>
            <a:ext cx="4000500" cy="273248"/>
          </a:xfrm>
          <a:prstGeom prst="rect">
            <a:avLst/>
          </a:prstGeom>
          <a:noFill/>
          <a:ln/>
        </p:spPr>
        <p:txBody>
          <a:bodyPr wrap="square" lIns="0" tIns="0" rIns="0" bIns="0" rtlCol="0" anchor="t">
            <a:spAutoFit/>
          </a:bodyPr>
          <a:lstStyle/>
          <a:p>
            <a:pPr algn="l" indent="0" marL="0">
              <a:buNone/>
            </a:pPr>
            <a:r>
              <a:rPr lang="en-US" sz="1400" b="1" dirty="0">
                <a:solidFill>
                  <a:srgbClr val="DC2626"/>
                </a:solidFill>
                <a:latin typeface="monospace" pitchFamily="34" charset="0"/>
                <a:ea typeface="monospace" pitchFamily="34" charset="-122"/>
                <a:cs typeface="monospace" pitchFamily="34" charset="-120"/>
              </a:rPr>
              <a:t>analogRead(A0)</a:t>
            </a:r>
            <a:endParaRPr lang="en-US" sz="1400" dirty="0"/>
          </a:p>
        </p:txBody>
      </p:sp>
      <p:sp>
        <p:nvSpPr>
          <p:cNvPr id="21" name="Text 18"/>
          <p:cNvSpPr/>
          <p:nvPr/>
        </p:nvSpPr>
        <p:spPr>
          <a:xfrm>
            <a:off x="4714875" y="2489541"/>
            <a:ext cx="40005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Reads raw sensor value (0–1023)</a:t>
            </a:r>
            <a:endParaRPr lang="en-US" sz="1150" dirty="0"/>
          </a:p>
        </p:txBody>
      </p:sp>
      <p:sp>
        <p:nvSpPr>
          <p:cNvPr id="22" name="Text 19"/>
          <p:cNvSpPr/>
          <p:nvPr/>
        </p:nvSpPr>
        <p:spPr>
          <a:xfrm>
            <a:off x="4714875" y="2823846"/>
            <a:ext cx="4000500" cy="273248"/>
          </a:xfrm>
          <a:prstGeom prst="rect">
            <a:avLst/>
          </a:prstGeom>
          <a:noFill/>
          <a:ln/>
        </p:spPr>
        <p:txBody>
          <a:bodyPr wrap="square" lIns="0" tIns="0" rIns="0" bIns="0" rtlCol="0" anchor="t">
            <a:spAutoFit/>
          </a:bodyPr>
          <a:lstStyle/>
          <a:p>
            <a:pPr algn="l" indent="0" marL="0">
              <a:buNone/>
            </a:pPr>
            <a:r>
              <a:rPr lang="en-US" sz="1400" b="1" dirty="0">
                <a:solidFill>
                  <a:srgbClr val="DC2626"/>
                </a:solidFill>
                <a:latin typeface="monospace" pitchFamily="34" charset="0"/>
                <a:ea typeface="monospace" pitchFamily="34" charset="-122"/>
                <a:cs typeface="monospace" pitchFamily="34" charset="-120"/>
              </a:rPr>
              <a:t>Conversion Formula</a:t>
            </a:r>
            <a:endParaRPr lang="en-US" sz="1400" dirty="0"/>
          </a:p>
        </p:txBody>
      </p:sp>
      <p:sp>
        <p:nvSpPr>
          <p:cNvPr id="23" name="Text 20"/>
          <p:cNvSpPr/>
          <p:nvPr/>
        </p:nvSpPr>
        <p:spPr>
          <a:xfrm>
            <a:off x="4714875" y="3125670"/>
            <a:ext cx="40005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Voltage &amp; Celsius conversion math</a:t>
            </a:r>
            <a:endParaRPr lang="en-US" sz="1150" dirty="0"/>
          </a:p>
        </p:txBody>
      </p:sp>
      <p:sp>
        <p:nvSpPr>
          <p:cNvPr id="24" name="Text 21"/>
          <p:cNvSpPr/>
          <p:nvPr/>
        </p:nvSpPr>
        <p:spPr>
          <a:xfrm>
            <a:off x="4714875" y="3459975"/>
            <a:ext cx="4000500" cy="273248"/>
          </a:xfrm>
          <a:prstGeom prst="rect">
            <a:avLst/>
          </a:prstGeom>
          <a:noFill/>
          <a:ln/>
        </p:spPr>
        <p:txBody>
          <a:bodyPr wrap="square" lIns="0" tIns="0" rIns="0" bIns="0" rtlCol="0" anchor="t">
            <a:spAutoFit/>
          </a:bodyPr>
          <a:lstStyle/>
          <a:p>
            <a:pPr algn="l" indent="0" marL="0">
              <a:buNone/>
            </a:pPr>
            <a:r>
              <a:rPr lang="en-US" sz="1400" b="1" dirty="0">
                <a:solidFill>
                  <a:srgbClr val="DC2626"/>
                </a:solidFill>
                <a:latin typeface="monospace" pitchFamily="34" charset="0"/>
                <a:ea typeface="monospace" pitchFamily="34" charset="-122"/>
                <a:cs typeface="monospace" pitchFamily="34" charset="-120"/>
              </a:rPr>
              <a:t>if/else block</a:t>
            </a:r>
            <a:endParaRPr lang="en-US" sz="1400" dirty="0"/>
          </a:p>
        </p:txBody>
      </p:sp>
      <p:sp>
        <p:nvSpPr>
          <p:cNvPr id="25" name="Text 22"/>
          <p:cNvSpPr/>
          <p:nvPr/>
        </p:nvSpPr>
        <p:spPr>
          <a:xfrm>
            <a:off x="4714875" y="3761798"/>
            <a:ext cx="40005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Controls LED and Buzzer outputs based on threshold</a:t>
            </a:r>
            <a:endParaRPr lang="en-US" sz="1150" dirty="0"/>
          </a:p>
        </p:txBody>
      </p:sp>
      <p:sp>
        <p:nvSpPr>
          <p:cNvPr id="26" name="Text 23"/>
          <p:cNvSpPr/>
          <p:nvPr/>
        </p:nvSpPr>
        <p:spPr>
          <a:xfrm>
            <a:off x="4714875" y="4096103"/>
            <a:ext cx="4000500" cy="273248"/>
          </a:xfrm>
          <a:prstGeom prst="rect">
            <a:avLst/>
          </a:prstGeom>
          <a:noFill/>
          <a:ln/>
        </p:spPr>
        <p:txBody>
          <a:bodyPr wrap="square" lIns="0" tIns="0" rIns="0" bIns="0" rtlCol="0" anchor="t">
            <a:spAutoFit/>
          </a:bodyPr>
          <a:lstStyle/>
          <a:p>
            <a:pPr algn="l" indent="0" marL="0">
              <a:buNone/>
            </a:pPr>
            <a:r>
              <a:rPr lang="en-US" sz="1400" b="1" dirty="0">
                <a:solidFill>
                  <a:srgbClr val="DC2626"/>
                </a:solidFill>
                <a:latin typeface="monospace" pitchFamily="34" charset="0"/>
                <a:ea typeface="monospace" pitchFamily="34" charset="-122"/>
                <a:cs typeface="monospace" pitchFamily="34" charset="-120"/>
              </a:rPr>
              <a:t>delay(1000)</a:t>
            </a:r>
            <a:endParaRPr lang="en-US" sz="1400" dirty="0"/>
          </a:p>
        </p:txBody>
      </p:sp>
      <p:sp>
        <p:nvSpPr>
          <p:cNvPr id="27" name="Text 24"/>
          <p:cNvSpPr/>
          <p:nvPr/>
        </p:nvSpPr>
        <p:spPr>
          <a:xfrm>
            <a:off x="4714875" y="4397927"/>
            <a:ext cx="4000500" cy="220005"/>
          </a:xfrm>
          <a:prstGeom prst="rect">
            <a:avLst/>
          </a:prstGeom>
          <a:noFill/>
          <a:ln/>
        </p:spPr>
        <p:txBody>
          <a:bodyPr wrap="none" lIns="0" tIns="0" rIns="0" bIns="0" rtlCol="0" anchor="t">
            <a:spAutoFit/>
          </a:bodyPr>
          <a:lstStyle/>
          <a:p>
            <a:pPr algn="l" indent="0" marL="0">
              <a:lnSpc>
                <a:spcPct val="112000"/>
              </a:lnSpc>
              <a:buNone/>
            </a:pPr>
            <a:r>
              <a:rPr lang="en-US" sz="1150" dirty="0">
                <a:solidFill>
                  <a:srgbClr val="111827"/>
                </a:solidFill>
                <a:latin typeface="Inter Medium" pitchFamily="34" charset="0"/>
                <a:ea typeface="Inter Medium" pitchFamily="34" charset="-122"/>
                <a:cs typeface="Inter Medium" pitchFamily="34" charset="-120"/>
              </a:rPr>
              <a:t>1-second polling interval for continuous monitoring</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325863"/>
          </a:xfrm>
          <a:prstGeom prst="rect">
            <a:avLst/>
          </a:prstGeom>
          <a:solidFill>
            <a:srgbClr val="111827"/>
          </a:solidFill>
          <a:ln/>
        </p:spPr>
      </p:sp>
      <p:sp>
        <p:nvSpPr>
          <p:cNvPr id="4" name="Shape 1"/>
          <p:cNvSpPr/>
          <p:nvPr/>
        </p:nvSpPr>
        <p:spPr>
          <a:xfrm>
            <a:off x="0" y="1268713"/>
            <a:ext cx="9144000" cy="57150"/>
          </a:xfrm>
          <a:prstGeom prst="rect">
            <a:avLst/>
          </a:prstGeom>
          <a:solidFill>
            <a:srgbClr val="DC2626"/>
          </a:solidFill>
          <a:ln/>
        </p:spPr>
      </p:sp>
      <p:sp>
        <p:nvSpPr>
          <p:cNvPr id="5" name="Text 2"/>
          <p:cNvSpPr/>
          <p:nvPr/>
        </p:nvSpPr>
        <p:spPr>
          <a:xfrm>
            <a:off x="571500" y="428625"/>
            <a:ext cx="8001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Sensor Calibration and Test Results</a:t>
            </a:r>
            <a:endParaRPr lang="en-US" sz="2450" dirty="0"/>
          </a:p>
        </p:txBody>
      </p:sp>
      <p:sp>
        <p:nvSpPr>
          <p:cNvPr id="6" name="Text 3"/>
          <p:cNvSpPr/>
          <p:nvPr/>
        </p:nvSpPr>
        <p:spPr>
          <a:xfrm>
            <a:off x="571500" y="1625901"/>
            <a:ext cx="3441976" cy="1645853"/>
          </a:xfrm>
          <a:prstGeom prst="rect">
            <a:avLst/>
          </a:prstGeom>
          <a:noFill/>
          <a:ln/>
        </p:spPr>
        <p:txBody>
          <a:bodyPr wrap="square" lIns="0" tIns="0" rIns="0" bIns="0" rtlCol="0" anchor="t">
            <a:spAutoFit/>
          </a:bodyPr>
          <a:lstStyle/>
          <a:p>
            <a:pPr algn="l" indent="0" marL="0">
              <a:lnSpc>
                <a:spcPct val="128000"/>
              </a:lnSpc>
              <a:buNone/>
            </a:pPr>
            <a:r>
              <a:rPr lang="en-US" sz="1250" dirty="0">
                <a:solidFill>
                  <a:srgbClr val="374151"/>
                </a:solidFill>
                <a:latin typeface="Inter Medium" pitchFamily="34" charset="0"/>
                <a:ea typeface="Inter Medium" pitchFamily="34" charset="-122"/>
                <a:cs typeface="Inter Medium" pitchFamily="34" charset="-120"/>
              </a:rPr>
              <a:t>The TMP36 sensor has a linear output, making it highly predictable. Four test cases were run in the Tinkercad simulation, covering both normal and alert conditions. All test cases produced the expected outputs without any errors.</a:t>
            </a:r>
            <a:endParaRPr lang="en-US" sz="1250" dirty="0"/>
          </a:p>
        </p:txBody>
      </p:sp>
      <p:sp>
        <p:nvSpPr>
          <p:cNvPr id="7" name="Text 4"/>
          <p:cNvSpPr/>
          <p:nvPr/>
        </p:nvSpPr>
        <p:spPr>
          <a:xfrm>
            <a:off x="571500" y="3700379"/>
            <a:ext cx="3441976" cy="207169"/>
          </a:xfrm>
          <a:prstGeom prst="rect">
            <a:avLst/>
          </a:prstGeom>
          <a:noFill/>
          <a:ln/>
        </p:spPr>
        <p:txBody>
          <a:bodyPr wrap="square" lIns="0" tIns="0" rIns="0" bIns="0" rtlCol="0" anchor="t">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LINEAR SCALE FACTOR</a:t>
            </a:r>
            <a:endParaRPr lang="en-US" sz="1200" dirty="0"/>
          </a:p>
        </p:txBody>
      </p:sp>
      <p:sp>
        <p:nvSpPr>
          <p:cNvPr id="8" name="Text 5"/>
          <p:cNvSpPr/>
          <p:nvPr/>
        </p:nvSpPr>
        <p:spPr>
          <a:xfrm>
            <a:off x="571500" y="3964698"/>
            <a:ext cx="3441976" cy="276820"/>
          </a:xfrm>
          <a:prstGeom prst="rect">
            <a:avLst/>
          </a:prstGeom>
          <a:noFill/>
          <a:ln/>
        </p:spPr>
        <p:txBody>
          <a:bodyPr wrap="squar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10 mV / °C</a:t>
            </a:r>
            <a:endParaRPr lang="en-US" sz="1600" dirty="0"/>
          </a:p>
        </p:txBody>
      </p:sp>
      <p:sp>
        <p:nvSpPr>
          <p:cNvPr id="9" name="Text 6"/>
          <p:cNvSpPr/>
          <p:nvPr/>
        </p:nvSpPr>
        <p:spPr>
          <a:xfrm>
            <a:off x="571500" y="4384393"/>
            <a:ext cx="3441976" cy="207169"/>
          </a:xfrm>
          <a:prstGeom prst="rect">
            <a:avLst/>
          </a:prstGeom>
          <a:noFill/>
          <a:ln/>
        </p:spPr>
        <p:txBody>
          <a:bodyPr wrap="square" lIns="0" tIns="0" rIns="0" bIns="0" rtlCol="0" anchor="t">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OFFSET VOLTAGE (AT 0°C)</a:t>
            </a:r>
            <a:endParaRPr lang="en-US" sz="1200" dirty="0"/>
          </a:p>
        </p:txBody>
      </p:sp>
      <p:sp>
        <p:nvSpPr>
          <p:cNvPr id="10" name="Text 7"/>
          <p:cNvSpPr/>
          <p:nvPr/>
        </p:nvSpPr>
        <p:spPr>
          <a:xfrm>
            <a:off x="571500" y="4648712"/>
            <a:ext cx="3441976" cy="276820"/>
          </a:xfrm>
          <a:prstGeom prst="rect">
            <a:avLst/>
          </a:prstGeom>
          <a:noFill/>
          <a:ln/>
        </p:spPr>
        <p:txBody>
          <a:bodyPr wrap="squar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500 mV</a:t>
            </a:r>
            <a:endParaRPr lang="en-US" sz="1600" dirty="0"/>
          </a:p>
        </p:txBody>
      </p:sp>
      <p:sp>
        <p:nvSpPr>
          <p:cNvPr id="11" name="Shape 8"/>
          <p:cNvSpPr/>
          <p:nvPr/>
        </p:nvSpPr>
        <p:spPr>
          <a:xfrm>
            <a:off x="4442101" y="1640188"/>
            <a:ext cx="720598" cy="628650"/>
          </a:xfrm>
          <a:prstGeom prst="rect">
            <a:avLst/>
          </a:prstGeom>
          <a:solidFill>
            <a:srgbClr val="E2E8F0"/>
          </a:solidFill>
          <a:ln/>
        </p:spPr>
      </p:sp>
      <p:sp>
        <p:nvSpPr>
          <p:cNvPr id="12" name="Shape 9"/>
          <p:cNvSpPr/>
          <p:nvPr/>
        </p:nvSpPr>
        <p:spPr>
          <a:xfrm>
            <a:off x="4442101" y="2254551"/>
            <a:ext cx="720598" cy="14288"/>
          </a:xfrm>
          <a:prstGeom prst="rect">
            <a:avLst/>
          </a:prstGeom>
          <a:solidFill>
            <a:srgbClr val="374151"/>
          </a:solidFill>
          <a:ln/>
        </p:spPr>
      </p:sp>
      <p:sp>
        <p:nvSpPr>
          <p:cNvPr id="13" name="Text 10"/>
          <p:cNvSpPr/>
          <p:nvPr/>
        </p:nvSpPr>
        <p:spPr>
          <a:xfrm>
            <a:off x="4442101" y="1640188"/>
            <a:ext cx="720598" cy="628650"/>
          </a:xfrm>
          <a:prstGeom prst="rect">
            <a:avLst/>
          </a:prstGeom>
          <a:noFill/>
          <a:ln/>
        </p:spPr>
        <p:txBody>
          <a:bodyPr wrap="none" lIns="170053" tIns="136017" rIns="170053" bIns="136017" rtlCol="0" anchor="ctr">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TEST</a:t>
            </a:r>
            <a:endParaRPr lang="en-US" sz="1100" dirty="0"/>
          </a:p>
        </p:txBody>
      </p:sp>
      <p:sp>
        <p:nvSpPr>
          <p:cNvPr id="14" name="Shape 11"/>
          <p:cNvSpPr/>
          <p:nvPr/>
        </p:nvSpPr>
        <p:spPr>
          <a:xfrm>
            <a:off x="5162699" y="1640188"/>
            <a:ext cx="952491" cy="628650"/>
          </a:xfrm>
          <a:prstGeom prst="rect">
            <a:avLst/>
          </a:prstGeom>
          <a:solidFill>
            <a:srgbClr val="E2E8F0"/>
          </a:solidFill>
          <a:ln/>
        </p:spPr>
      </p:sp>
      <p:sp>
        <p:nvSpPr>
          <p:cNvPr id="15" name="Shape 12"/>
          <p:cNvSpPr/>
          <p:nvPr/>
        </p:nvSpPr>
        <p:spPr>
          <a:xfrm>
            <a:off x="5162699" y="2254551"/>
            <a:ext cx="952491" cy="14288"/>
          </a:xfrm>
          <a:prstGeom prst="rect">
            <a:avLst/>
          </a:prstGeom>
          <a:solidFill>
            <a:srgbClr val="374151"/>
          </a:solidFill>
          <a:ln/>
        </p:spPr>
      </p:sp>
      <p:sp>
        <p:nvSpPr>
          <p:cNvPr id="16" name="Text 13"/>
          <p:cNvSpPr/>
          <p:nvPr/>
        </p:nvSpPr>
        <p:spPr>
          <a:xfrm>
            <a:off x="5162699" y="1640188"/>
            <a:ext cx="952491" cy="628650"/>
          </a:xfrm>
          <a:prstGeom prst="rect">
            <a:avLst/>
          </a:prstGeom>
          <a:noFill/>
          <a:ln/>
        </p:spPr>
        <p:txBody>
          <a:bodyPr wrap="none" lIns="170053" tIns="136017" rIns="170053" bIns="136017" rtlCol="0" anchor="ctr">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TEMP (°C)</a:t>
            </a:r>
            <a:endParaRPr lang="en-US" sz="1100" dirty="0"/>
          </a:p>
        </p:txBody>
      </p:sp>
      <p:sp>
        <p:nvSpPr>
          <p:cNvPr id="17" name="Shape 14"/>
          <p:cNvSpPr/>
          <p:nvPr/>
        </p:nvSpPr>
        <p:spPr>
          <a:xfrm>
            <a:off x="6115190" y="1640188"/>
            <a:ext cx="1571458" cy="628650"/>
          </a:xfrm>
          <a:prstGeom prst="rect">
            <a:avLst/>
          </a:prstGeom>
          <a:solidFill>
            <a:srgbClr val="E2E8F0"/>
          </a:solidFill>
          <a:ln/>
        </p:spPr>
      </p:sp>
      <p:sp>
        <p:nvSpPr>
          <p:cNvPr id="18" name="Shape 15"/>
          <p:cNvSpPr/>
          <p:nvPr/>
        </p:nvSpPr>
        <p:spPr>
          <a:xfrm>
            <a:off x="6115190" y="2254551"/>
            <a:ext cx="1571458" cy="14288"/>
          </a:xfrm>
          <a:prstGeom prst="rect">
            <a:avLst/>
          </a:prstGeom>
          <a:solidFill>
            <a:srgbClr val="374151"/>
          </a:solidFill>
          <a:ln/>
        </p:spPr>
      </p:sp>
      <p:sp>
        <p:nvSpPr>
          <p:cNvPr id="19" name="Text 16"/>
          <p:cNvSpPr/>
          <p:nvPr/>
        </p:nvSpPr>
        <p:spPr>
          <a:xfrm>
            <a:off x="6115190" y="1640188"/>
            <a:ext cx="1571458" cy="628650"/>
          </a:xfrm>
          <a:prstGeom prst="rect">
            <a:avLst/>
          </a:prstGeom>
          <a:noFill/>
          <a:ln/>
        </p:spPr>
        <p:txBody>
          <a:bodyPr wrap="square" lIns="170053" tIns="136017" rIns="170053" bIns="136017" rtlCol="0" anchor="ctr">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EXPECTED OUTPUT</a:t>
            </a:r>
            <a:endParaRPr lang="en-US" sz="1100" dirty="0"/>
          </a:p>
        </p:txBody>
      </p:sp>
      <p:sp>
        <p:nvSpPr>
          <p:cNvPr id="20" name="Shape 17"/>
          <p:cNvSpPr/>
          <p:nvPr/>
        </p:nvSpPr>
        <p:spPr>
          <a:xfrm>
            <a:off x="7686647" y="1640188"/>
            <a:ext cx="885853" cy="621506"/>
          </a:xfrm>
          <a:prstGeom prst="rect">
            <a:avLst/>
          </a:prstGeom>
          <a:solidFill>
            <a:srgbClr val="E2E8F0"/>
          </a:solidFill>
          <a:ln/>
        </p:spPr>
      </p:sp>
      <p:sp>
        <p:nvSpPr>
          <p:cNvPr id="21" name="Shape 18"/>
          <p:cNvSpPr/>
          <p:nvPr/>
        </p:nvSpPr>
        <p:spPr>
          <a:xfrm>
            <a:off x="7686647" y="2247407"/>
            <a:ext cx="885853" cy="14288"/>
          </a:xfrm>
          <a:prstGeom prst="rect">
            <a:avLst/>
          </a:prstGeom>
          <a:solidFill>
            <a:srgbClr val="374151"/>
          </a:solidFill>
          <a:ln/>
        </p:spPr>
      </p:sp>
      <p:sp>
        <p:nvSpPr>
          <p:cNvPr id="22" name="Text 19"/>
          <p:cNvSpPr/>
          <p:nvPr/>
        </p:nvSpPr>
        <p:spPr>
          <a:xfrm>
            <a:off x="7686647" y="1640188"/>
            <a:ext cx="885853" cy="621506"/>
          </a:xfrm>
          <a:prstGeom prst="rect">
            <a:avLst/>
          </a:prstGeom>
          <a:noFill/>
          <a:ln/>
        </p:spPr>
        <p:txBody>
          <a:bodyPr wrap="none" lIns="170053" tIns="136017" rIns="170053" bIns="136017" rtlCol="0" anchor="ctr">
            <a:spAutoFit/>
          </a:bodyPr>
          <a:lstStyle/>
          <a:p>
            <a:pPr algn="l" indent="0" marL="0">
              <a:buNone/>
            </a:pPr>
            <a:r>
              <a:rPr lang="en-US" sz="1100" b="1" dirty="0">
                <a:solidFill>
                  <a:srgbClr val="111827"/>
                </a:solidFill>
                <a:latin typeface="Inter ExtraBold" pitchFamily="34" charset="0"/>
                <a:ea typeface="Inter ExtraBold" pitchFamily="34" charset="-122"/>
                <a:cs typeface="Inter ExtraBold" pitchFamily="34" charset="-120"/>
              </a:rPr>
              <a:t>RESULT</a:t>
            </a:r>
            <a:endParaRPr lang="en-US" sz="1100" dirty="0"/>
          </a:p>
        </p:txBody>
      </p:sp>
      <p:sp>
        <p:nvSpPr>
          <p:cNvPr id="23" name="Text 20"/>
          <p:cNvSpPr/>
          <p:nvPr/>
        </p:nvSpPr>
        <p:spPr>
          <a:xfrm>
            <a:off x="4442101" y="2261695"/>
            <a:ext cx="720598" cy="408980"/>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TC-01</a:t>
            </a:r>
            <a:endParaRPr lang="en-US" sz="1050" dirty="0"/>
          </a:p>
        </p:txBody>
      </p:sp>
      <p:sp>
        <p:nvSpPr>
          <p:cNvPr id="24" name="Text 21"/>
          <p:cNvSpPr/>
          <p:nvPr/>
        </p:nvSpPr>
        <p:spPr>
          <a:xfrm>
            <a:off x="5162699" y="2261695"/>
            <a:ext cx="952491" cy="408980"/>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20.0</a:t>
            </a:r>
            <a:endParaRPr lang="en-US" sz="1050" dirty="0"/>
          </a:p>
        </p:txBody>
      </p:sp>
      <p:sp>
        <p:nvSpPr>
          <p:cNvPr id="25" name="Text 22"/>
          <p:cNvSpPr/>
          <p:nvPr/>
        </p:nvSpPr>
        <p:spPr>
          <a:xfrm>
            <a:off x="6258065" y="2375995"/>
            <a:ext cx="678656" cy="173236"/>
          </a:xfrm>
          <a:prstGeom prst="rect">
            <a:avLst/>
          </a:prstGeom>
          <a:noFill/>
          <a:ln/>
        </p:spPr>
        <p:txBody>
          <a:bodyPr wrap="none" lIns="0" tIns="0" rIns="0" bIns="0" rtlCol="0" anchor="t">
            <a:spAutoFit/>
          </a:bodyPr>
          <a:lstStyle/>
          <a:p>
            <a:pPr algn="l" indent="0" marL="0">
              <a:buNone/>
            </a:pPr>
            <a:r>
              <a:rPr lang="en-US" sz="1000" b="1" dirty="0">
                <a:solidFill>
                  <a:srgbClr val="16A34A"/>
                </a:solidFill>
                <a:latin typeface="Inter ExtraBold" pitchFamily="34" charset="0"/>
                <a:ea typeface="Inter ExtraBold" pitchFamily="34" charset="-122"/>
                <a:cs typeface="Inter ExtraBold" pitchFamily="34" charset="-120"/>
              </a:rPr>
              <a:t>Green ON</a:t>
            </a:r>
            <a:endParaRPr lang="en-US" sz="1000" dirty="0"/>
          </a:p>
        </p:txBody>
      </p:sp>
      <p:sp>
        <p:nvSpPr>
          <p:cNvPr id="26" name="Text 23"/>
          <p:cNvSpPr/>
          <p:nvPr/>
        </p:nvSpPr>
        <p:spPr>
          <a:xfrm>
            <a:off x="7686647" y="2261695"/>
            <a:ext cx="885853" cy="408980"/>
          </a:xfrm>
          <a:prstGeom prst="rect">
            <a:avLst/>
          </a:prstGeom>
          <a:noFill/>
          <a:ln/>
        </p:spPr>
        <p:txBody>
          <a:bodyPr wrap="none" lIns="170053" tIns="136017" rIns="170053" bIns="136017" rtlCol="0" anchor="ctr">
            <a:spAutoFit/>
          </a:bodyPr>
          <a:lstStyle/>
          <a:p>
            <a:pPr algn="l" indent="0" marL="0">
              <a:buNone/>
            </a:pPr>
            <a:r>
              <a:rPr lang="en-US" sz="1000" b="1" dirty="0">
                <a:solidFill>
                  <a:srgbClr val="16A34A"/>
                </a:solidFill>
                <a:latin typeface="Inter ExtraBold" pitchFamily="34" charset="0"/>
                <a:ea typeface="Inter ExtraBold" pitchFamily="34" charset="-122"/>
                <a:cs typeface="Inter ExtraBold" pitchFamily="34" charset="-120"/>
              </a:rPr>
              <a:t>PASS</a:t>
            </a:r>
            <a:endParaRPr lang="en-US" sz="1000" dirty="0"/>
          </a:p>
        </p:txBody>
      </p:sp>
      <p:sp>
        <p:nvSpPr>
          <p:cNvPr id="27" name="Text 24"/>
          <p:cNvSpPr/>
          <p:nvPr/>
        </p:nvSpPr>
        <p:spPr>
          <a:xfrm>
            <a:off x="4442101" y="2670674"/>
            <a:ext cx="720598" cy="589359"/>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TC-02</a:t>
            </a:r>
            <a:endParaRPr lang="en-US" sz="1050" dirty="0"/>
          </a:p>
        </p:txBody>
      </p:sp>
      <p:sp>
        <p:nvSpPr>
          <p:cNvPr id="28" name="Text 25"/>
          <p:cNvSpPr/>
          <p:nvPr/>
        </p:nvSpPr>
        <p:spPr>
          <a:xfrm>
            <a:off x="5162699" y="2670674"/>
            <a:ext cx="952491" cy="589359"/>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29.5</a:t>
            </a:r>
            <a:endParaRPr lang="en-US" sz="1050" dirty="0"/>
          </a:p>
        </p:txBody>
      </p:sp>
      <p:sp>
        <p:nvSpPr>
          <p:cNvPr id="29" name="Text 26"/>
          <p:cNvSpPr/>
          <p:nvPr/>
        </p:nvSpPr>
        <p:spPr>
          <a:xfrm>
            <a:off x="6258065" y="2878736"/>
            <a:ext cx="678656" cy="173236"/>
          </a:xfrm>
          <a:prstGeom prst="rect">
            <a:avLst/>
          </a:prstGeom>
          <a:noFill/>
          <a:ln/>
        </p:spPr>
        <p:txBody>
          <a:bodyPr wrap="none" lIns="0" tIns="0" rIns="0" bIns="0" rtlCol="0" anchor="t">
            <a:spAutoFit/>
          </a:bodyPr>
          <a:lstStyle/>
          <a:p>
            <a:pPr algn="l" indent="0" marL="0">
              <a:buNone/>
            </a:pPr>
            <a:r>
              <a:rPr lang="en-US" sz="1000" b="1" dirty="0">
                <a:solidFill>
                  <a:srgbClr val="16A34A"/>
                </a:solidFill>
                <a:latin typeface="Inter ExtraBold" pitchFamily="34" charset="0"/>
                <a:ea typeface="Inter ExtraBold" pitchFamily="34" charset="-122"/>
                <a:cs typeface="Inter ExtraBold" pitchFamily="34" charset="-120"/>
              </a:rPr>
              <a:t>Green ON</a:t>
            </a:r>
            <a:endParaRPr lang="en-US" sz="1000" dirty="0"/>
          </a:p>
        </p:txBody>
      </p:sp>
      <p:sp>
        <p:nvSpPr>
          <p:cNvPr id="30" name="Text 27"/>
          <p:cNvSpPr/>
          <p:nvPr/>
        </p:nvSpPr>
        <p:spPr>
          <a:xfrm>
            <a:off x="7686647" y="2670674"/>
            <a:ext cx="885853" cy="589359"/>
          </a:xfrm>
          <a:prstGeom prst="rect">
            <a:avLst/>
          </a:prstGeom>
          <a:noFill/>
          <a:ln/>
        </p:spPr>
        <p:txBody>
          <a:bodyPr wrap="none" lIns="170053" tIns="136017" rIns="170053" bIns="136017" rtlCol="0" anchor="ctr">
            <a:spAutoFit/>
          </a:bodyPr>
          <a:lstStyle/>
          <a:p>
            <a:pPr algn="l" indent="0" marL="0">
              <a:buNone/>
            </a:pPr>
            <a:r>
              <a:rPr lang="en-US" sz="1000" b="1" dirty="0">
                <a:solidFill>
                  <a:srgbClr val="16A34A"/>
                </a:solidFill>
                <a:latin typeface="Inter ExtraBold" pitchFamily="34" charset="0"/>
                <a:ea typeface="Inter ExtraBold" pitchFamily="34" charset="-122"/>
                <a:cs typeface="Inter ExtraBold" pitchFamily="34" charset="-120"/>
              </a:rPr>
              <a:t>PASS</a:t>
            </a:r>
            <a:endParaRPr lang="en-US" sz="1000" dirty="0"/>
          </a:p>
        </p:txBody>
      </p:sp>
      <p:sp>
        <p:nvSpPr>
          <p:cNvPr id="31" name="Text 28"/>
          <p:cNvSpPr/>
          <p:nvPr/>
        </p:nvSpPr>
        <p:spPr>
          <a:xfrm>
            <a:off x="4442101" y="3260034"/>
            <a:ext cx="720598" cy="589359"/>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TC-03</a:t>
            </a:r>
            <a:endParaRPr lang="en-US" sz="1050" dirty="0"/>
          </a:p>
        </p:txBody>
      </p:sp>
      <p:sp>
        <p:nvSpPr>
          <p:cNvPr id="32" name="Text 29"/>
          <p:cNvSpPr/>
          <p:nvPr/>
        </p:nvSpPr>
        <p:spPr>
          <a:xfrm>
            <a:off x="5162699" y="3260034"/>
            <a:ext cx="952491" cy="589359"/>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30.5</a:t>
            </a:r>
            <a:endParaRPr lang="en-US" sz="1050" dirty="0"/>
          </a:p>
        </p:txBody>
      </p:sp>
      <p:sp>
        <p:nvSpPr>
          <p:cNvPr id="33" name="Text 30"/>
          <p:cNvSpPr/>
          <p:nvPr/>
        </p:nvSpPr>
        <p:spPr>
          <a:xfrm>
            <a:off x="6258065" y="3468095"/>
            <a:ext cx="1176933" cy="173236"/>
          </a:xfrm>
          <a:prstGeom prst="rect">
            <a:avLst/>
          </a:prstGeom>
          <a:noFill/>
          <a:ln/>
        </p:spPr>
        <p:txBody>
          <a:bodyPr wrap="none" lIns="0" tIns="0" rIns="0" bIns="0" rtlCol="0" anchor="t">
            <a:spAutoFit/>
          </a:bodyPr>
          <a:lstStyle/>
          <a:p>
            <a:pPr algn="l" indent="0" marL="0">
              <a:buNone/>
            </a:pPr>
            <a:r>
              <a:rPr lang="en-US" sz="1000" b="1" dirty="0">
                <a:solidFill>
                  <a:srgbClr val="DC2626"/>
                </a:solidFill>
                <a:latin typeface="Inter ExtraBold" pitchFamily="34" charset="0"/>
                <a:ea typeface="Inter ExtraBold" pitchFamily="34" charset="-122"/>
                <a:cs typeface="Inter ExtraBold" pitchFamily="34" charset="-120"/>
              </a:rPr>
              <a:t>Red ON + Buzzer</a:t>
            </a:r>
            <a:endParaRPr lang="en-US" sz="1000" dirty="0"/>
          </a:p>
        </p:txBody>
      </p:sp>
      <p:sp>
        <p:nvSpPr>
          <p:cNvPr id="34" name="Text 31"/>
          <p:cNvSpPr/>
          <p:nvPr/>
        </p:nvSpPr>
        <p:spPr>
          <a:xfrm>
            <a:off x="7686647" y="3260034"/>
            <a:ext cx="885853" cy="589359"/>
          </a:xfrm>
          <a:prstGeom prst="rect">
            <a:avLst/>
          </a:prstGeom>
          <a:noFill/>
          <a:ln/>
        </p:spPr>
        <p:txBody>
          <a:bodyPr wrap="none" lIns="170053" tIns="136017" rIns="170053" bIns="136017" rtlCol="0" anchor="ctr">
            <a:spAutoFit/>
          </a:bodyPr>
          <a:lstStyle/>
          <a:p>
            <a:pPr algn="l" indent="0" marL="0">
              <a:buNone/>
            </a:pPr>
            <a:r>
              <a:rPr lang="en-US" sz="1000" b="1" dirty="0">
                <a:solidFill>
                  <a:srgbClr val="16A34A"/>
                </a:solidFill>
                <a:latin typeface="Inter ExtraBold" pitchFamily="34" charset="0"/>
                <a:ea typeface="Inter ExtraBold" pitchFamily="34" charset="-122"/>
                <a:cs typeface="Inter ExtraBold" pitchFamily="34" charset="-120"/>
              </a:rPr>
              <a:t>PASS</a:t>
            </a:r>
            <a:endParaRPr lang="en-US" sz="1000" dirty="0"/>
          </a:p>
        </p:txBody>
      </p:sp>
      <p:sp>
        <p:nvSpPr>
          <p:cNvPr id="35" name="Text 32"/>
          <p:cNvSpPr/>
          <p:nvPr/>
        </p:nvSpPr>
        <p:spPr>
          <a:xfrm>
            <a:off x="4442101" y="3849393"/>
            <a:ext cx="720598" cy="596503"/>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TC-04</a:t>
            </a:r>
            <a:endParaRPr lang="en-US" sz="1050" dirty="0"/>
          </a:p>
        </p:txBody>
      </p:sp>
      <p:sp>
        <p:nvSpPr>
          <p:cNvPr id="36" name="Text 33"/>
          <p:cNvSpPr/>
          <p:nvPr/>
        </p:nvSpPr>
        <p:spPr>
          <a:xfrm>
            <a:off x="5162699" y="3849393"/>
            <a:ext cx="952491" cy="596503"/>
          </a:xfrm>
          <a:prstGeom prst="rect">
            <a:avLst/>
          </a:prstGeom>
          <a:noFill/>
          <a:ln/>
        </p:spPr>
        <p:txBody>
          <a:bodyPr wrap="none" lIns="170053" tIns="136017" rIns="170053" bIns="136017" rtlCol="0" anchor="ctr">
            <a:spAutoFit/>
          </a:bodyPr>
          <a:lstStyle/>
          <a:p>
            <a:pPr algn="l" indent="0" marL="0">
              <a:buNone/>
            </a:pPr>
            <a:r>
              <a:rPr lang="en-US" sz="1050" dirty="0">
                <a:solidFill>
                  <a:srgbClr val="111827"/>
                </a:solidFill>
                <a:latin typeface="Inter Medium" pitchFamily="34" charset="0"/>
                <a:ea typeface="Inter Medium" pitchFamily="34" charset="-122"/>
                <a:cs typeface="Inter Medium" pitchFamily="34" charset="-120"/>
              </a:rPr>
              <a:t>50.0</a:t>
            </a:r>
            <a:endParaRPr lang="en-US" sz="1050" dirty="0"/>
          </a:p>
        </p:txBody>
      </p:sp>
      <p:sp>
        <p:nvSpPr>
          <p:cNvPr id="37" name="Text 34"/>
          <p:cNvSpPr/>
          <p:nvPr/>
        </p:nvSpPr>
        <p:spPr>
          <a:xfrm>
            <a:off x="6258065" y="4057455"/>
            <a:ext cx="1176933" cy="173236"/>
          </a:xfrm>
          <a:prstGeom prst="rect">
            <a:avLst/>
          </a:prstGeom>
          <a:noFill/>
          <a:ln/>
        </p:spPr>
        <p:txBody>
          <a:bodyPr wrap="none" lIns="0" tIns="0" rIns="0" bIns="0" rtlCol="0" anchor="t">
            <a:spAutoFit/>
          </a:bodyPr>
          <a:lstStyle/>
          <a:p>
            <a:pPr algn="l" indent="0" marL="0">
              <a:buNone/>
            </a:pPr>
            <a:r>
              <a:rPr lang="en-US" sz="1000" b="1" dirty="0">
                <a:solidFill>
                  <a:srgbClr val="DC2626"/>
                </a:solidFill>
                <a:latin typeface="Inter ExtraBold" pitchFamily="34" charset="0"/>
                <a:ea typeface="Inter ExtraBold" pitchFamily="34" charset="-122"/>
                <a:cs typeface="Inter ExtraBold" pitchFamily="34" charset="-120"/>
              </a:rPr>
              <a:t>Red ON + Buzzer</a:t>
            </a:r>
            <a:endParaRPr lang="en-US" sz="1000" dirty="0"/>
          </a:p>
        </p:txBody>
      </p:sp>
      <p:sp>
        <p:nvSpPr>
          <p:cNvPr id="38" name="Text 35"/>
          <p:cNvSpPr/>
          <p:nvPr/>
        </p:nvSpPr>
        <p:spPr>
          <a:xfrm>
            <a:off x="7686647" y="3849393"/>
            <a:ext cx="885853" cy="596503"/>
          </a:xfrm>
          <a:prstGeom prst="rect">
            <a:avLst/>
          </a:prstGeom>
          <a:noFill/>
          <a:ln/>
        </p:spPr>
        <p:txBody>
          <a:bodyPr wrap="none" lIns="170053" tIns="136017" rIns="170053" bIns="136017" rtlCol="0" anchor="ctr">
            <a:spAutoFit/>
          </a:bodyPr>
          <a:lstStyle/>
          <a:p>
            <a:pPr algn="l" indent="0" marL="0">
              <a:buNone/>
            </a:pPr>
            <a:r>
              <a:rPr lang="en-US" sz="1000" b="1" dirty="0">
                <a:solidFill>
                  <a:srgbClr val="16A34A"/>
                </a:solidFill>
                <a:latin typeface="Inter ExtraBold" pitchFamily="34" charset="0"/>
                <a:ea typeface="Inter ExtraBold" pitchFamily="34" charset="-122"/>
                <a:cs typeface="Inter ExtraBold" pitchFamily="34" charset="-120"/>
              </a:rPr>
              <a:t>PASS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12076"/>
          </a:xfrm>
          <a:prstGeom prst="rect">
            <a:avLst/>
          </a:prstGeom>
        </p:spPr>
      </p:pic>
      <p:sp>
        <p:nvSpPr>
          <p:cNvPr id="3" name="Shape 0"/>
          <p:cNvSpPr/>
          <p:nvPr/>
        </p:nvSpPr>
        <p:spPr>
          <a:xfrm>
            <a:off x="0" y="0"/>
            <a:ext cx="9144000" cy="1040113"/>
          </a:xfrm>
          <a:prstGeom prst="rect">
            <a:avLst/>
          </a:prstGeom>
          <a:solidFill>
            <a:srgbClr val="111827"/>
          </a:solidFill>
          <a:ln/>
        </p:spPr>
      </p:sp>
      <p:sp>
        <p:nvSpPr>
          <p:cNvPr id="4" name="Shape 1"/>
          <p:cNvSpPr/>
          <p:nvPr/>
        </p:nvSpPr>
        <p:spPr>
          <a:xfrm>
            <a:off x="0" y="982963"/>
            <a:ext cx="9144000" cy="57150"/>
          </a:xfrm>
          <a:prstGeom prst="rect">
            <a:avLst/>
          </a:prstGeom>
          <a:solidFill>
            <a:srgbClr val="DC2626"/>
          </a:solidFill>
          <a:ln/>
        </p:spPr>
      </p:sp>
      <p:sp>
        <p:nvSpPr>
          <p:cNvPr id="5" name="Text 2"/>
          <p:cNvSpPr/>
          <p:nvPr/>
        </p:nvSpPr>
        <p:spPr>
          <a:xfrm>
            <a:off x="571500" y="428625"/>
            <a:ext cx="8001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System Limitations</a:t>
            </a:r>
            <a:endParaRPr lang="en-US" sz="2450" dirty="0"/>
          </a:p>
        </p:txBody>
      </p:sp>
      <p:sp>
        <p:nvSpPr>
          <p:cNvPr id="6" name="Text 3"/>
          <p:cNvSpPr/>
          <p:nvPr/>
        </p:nvSpPr>
        <p:spPr>
          <a:xfrm>
            <a:off x="571500" y="1340151"/>
            <a:ext cx="3441976" cy="2240124"/>
          </a:xfrm>
          <a:prstGeom prst="rect">
            <a:avLst/>
          </a:prstGeom>
          <a:noFill/>
          <a:ln/>
        </p:spPr>
        <p:txBody>
          <a:bodyPr wrap="square" lIns="0" tIns="0" rIns="0" bIns="0" rtlCol="0" anchor="t">
            <a:spAutoFit/>
          </a:bodyPr>
          <a:lstStyle/>
          <a:p>
            <a:pPr algn="l" indent="0" marL="0">
              <a:lnSpc>
                <a:spcPct val="128000"/>
              </a:lnSpc>
              <a:buNone/>
            </a:pPr>
            <a:r>
              <a:rPr lang="en-US" sz="1500" dirty="0">
                <a:solidFill>
                  <a:srgbClr val="374151"/>
                </a:solidFill>
                <a:latin typeface="Inter Medium" pitchFamily="34" charset="0"/>
                <a:ea typeface="Inter Medium" pitchFamily="34" charset="-122"/>
                <a:cs typeface="Inter Medium" pitchFamily="34" charset="-120"/>
              </a:rPr>
              <a:t>While the current prototype successfully demonstrates automated temperature monitoring, it has specific architectural limitations that must be addressed before it can be deployed in a real-world industrial environment.</a:t>
            </a:r>
            <a:endParaRPr lang="en-US" sz="1500" dirty="0"/>
          </a:p>
        </p:txBody>
      </p:sp>
      <p:sp>
        <p:nvSpPr>
          <p:cNvPr id="7" name="Shape 4"/>
          <p:cNvSpPr/>
          <p:nvPr/>
        </p:nvSpPr>
        <p:spPr>
          <a:xfrm>
            <a:off x="4442101" y="1340151"/>
            <a:ext cx="4130399" cy="1850231"/>
          </a:xfrm>
          <a:prstGeom prst="rect">
            <a:avLst/>
          </a:prstGeom>
          <a:solidFill>
            <a:srgbClr val="E2E8F0"/>
          </a:solidFill>
          <a:ln/>
        </p:spPr>
      </p:sp>
      <p:sp>
        <p:nvSpPr>
          <p:cNvPr id="8" name="Shape 5"/>
          <p:cNvSpPr/>
          <p:nvPr/>
        </p:nvSpPr>
        <p:spPr>
          <a:xfrm>
            <a:off x="4442101" y="1340151"/>
            <a:ext cx="57150" cy="1850231"/>
          </a:xfrm>
          <a:prstGeom prst="rect">
            <a:avLst/>
          </a:prstGeom>
          <a:solidFill>
            <a:srgbClr val="DC2626"/>
          </a:solidFill>
          <a:ln/>
        </p:spPr>
      </p:sp>
      <p:sp>
        <p:nvSpPr>
          <p:cNvPr id="9" name="Text 6"/>
          <p:cNvSpPr/>
          <p:nvPr/>
        </p:nvSpPr>
        <p:spPr>
          <a:xfrm>
            <a:off x="4656413" y="1511601"/>
            <a:ext cx="3701774" cy="242888"/>
          </a:xfrm>
          <a:prstGeom prst="rect">
            <a:avLst/>
          </a:prstGeom>
          <a:noFill/>
          <a:ln/>
        </p:spPr>
        <p:txBody>
          <a:bodyPr wrap="square" lIns="0" tIns="0" rIns="0" bIns="0" rtlCol="0" anchor="t">
            <a:spAutoFit/>
          </a:bodyPr>
          <a:lstStyle/>
          <a:p>
            <a:pPr algn="l" indent="0" marL="0">
              <a:buNone/>
            </a:pPr>
            <a:r>
              <a:rPr lang="en-US" sz="1400" b="1" dirty="0">
                <a:solidFill>
                  <a:srgbClr val="111827"/>
                </a:solidFill>
                <a:latin typeface="Inter ExtraBold" pitchFamily="34" charset="0"/>
                <a:ea typeface="Inter ExtraBold" pitchFamily="34" charset="-122"/>
                <a:cs typeface="Inter ExtraBold" pitchFamily="34" charset="-120"/>
              </a:rPr>
              <a:t>HARDCODED THRESHOLDS</a:t>
            </a:r>
            <a:endParaRPr lang="en-US" sz="1400" dirty="0"/>
          </a:p>
        </p:txBody>
      </p:sp>
      <p:sp>
        <p:nvSpPr>
          <p:cNvPr id="10" name="Text 7"/>
          <p:cNvSpPr/>
          <p:nvPr/>
        </p:nvSpPr>
        <p:spPr>
          <a:xfrm>
            <a:off x="4656413" y="1840213"/>
            <a:ext cx="3701774" cy="1178719"/>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374151"/>
                </a:solidFill>
                <a:latin typeface="Inter Medium" pitchFamily="34" charset="0"/>
                <a:ea typeface="Inter Medium" pitchFamily="34" charset="-122"/>
                <a:cs typeface="Inter Medium" pitchFamily="34" charset="-120"/>
              </a:rPr>
              <a:t>The 30°C alert limit is fixed directly within the Arduino code. Changing this threshold requires modifying the source code and reprogramming the microcontroller, which is impractical for end-users.</a:t>
            </a:r>
            <a:endParaRPr lang="en-US" sz="1150" dirty="0"/>
          </a:p>
        </p:txBody>
      </p:sp>
      <p:sp>
        <p:nvSpPr>
          <p:cNvPr id="11" name="Shape 8"/>
          <p:cNvSpPr/>
          <p:nvPr/>
        </p:nvSpPr>
        <p:spPr>
          <a:xfrm>
            <a:off x="4442101" y="3404695"/>
            <a:ext cx="4130399" cy="1850231"/>
          </a:xfrm>
          <a:prstGeom prst="rect">
            <a:avLst/>
          </a:prstGeom>
          <a:solidFill>
            <a:srgbClr val="E2E8F0"/>
          </a:solidFill>
          <a:ln/>
        </p:spPr>
      </p:sp>
      <p:sp>
        <p:nvSpPr>
          <p:cNvPr id="12" name="Shape 9"/>
          <p:cNvSpPr/>
          <p:nvPr/>
        </p:nvSpPr>
        <p:spPr>
          <a:xfrm>
            <a:off x="4442101" y="3404695"/>
            <a:ext cx="57150" cy="1850231"/>
          </a:xfrm>
          <a:prstGeom prst="rect">
            <a:avLst/>
          </a:prstGeom>
          <a:solidFill>
            <a:srgbClr val="DC2626"/>
          </a:solidFill>
          <a:ln/>
        </p:spPr>
      </p:sp>
      <p:sp>
        <p:nvSpPr>
          <p:cNvPr id="13" name="Text 10"/>
          <p:cNvSpPr/>
          <p:nvPr/>
        </p:nvSpPr>
        <p:spPr>
          <a:xfrm>
            <a:off x="4656413" y="3576145"/>
            <a:ext cx="3701774" cy="242888"/>
          </a:xfrm>
          <a:prstGeom prst="rect">
            <a:avLst/>
          </a:prstGeom>
          <a:noFill/>
          <a:ln/>
        </p:spPr>
        <p:txBody>
          <a:bodyPr wrap="square" lIns="0" tIns="0" rIns="0" bIns="0" rtlCol="0" anchor="t">
            <a:spAutoFit/>
          </a:bodyPr>
          <a:lstStyle/>
          <a:p>
            <a:pPr algn="l" indent="0" marL="0">
              <a:buNone/>
            </a:pPr>
            <a:r>
              <a:rPr lang="en-US" sz="1400" b="1" dirty="0">
                <a:solidFill>
                  <a:srgbClr val="111827"/>
                </a:solidFill>
                <a:latin typeface="Inter ExtraBold" pitchFamily="34" charset="0"/>
                <a:ea typeface="Inter ExtraBold" pitchFamily="34" charset="-122"/>
                <a:cs typeface="Inter ExtraBold" pitchFamily="34" charset="-120"/>
              </a:rPr>
              <a:t>LACK OF HYSTERESIS</a:t>
            </a:r>
            <a:endParaRPr lang="en-US" sz="1400" dirty="0"/>
          </a:p>
        </p:txBody>
      </p:sp>
      <p:sp>
        <p:nvSpPr>
          <p:cNvPr id="14" name="Text 11"/>
          <p:cNvSpPr/>
          <p:nvPr/>
        </p:nvSpPr>
        <p:spPr>
          <a:xfrm>
            <a:off x="4656413" y="3904757"/>
            <a:ext cx="3701774" cy="1178719"/>
          </a:xfrm>
          <a:prstGeom prst="rect">
            <a:avLst/>
          </a:prstGeom>
          <a:noFill/>
          <a:ln/>
        </p:spPr>
        <p:txBody>
          <a:bodyPr wrap="square" lIns="0" tIns="0" rIns="0" bIns="0" rtlCol="0" anchor="t">
            <a:spAutoFit/>
          </a:bodyPr>
          <a:lstStyle/>
          <a:p>
            <a:pPr algn="l" indent="0" marL="0">
              <a:lnSpc>
                <a:spcPct val="120000"/>
              </a:lnSpc>
              <a:buNone/>
            </a:pPr>
            <a:r>
              <a:rPr lang="en-US" sz="1150" dirty="0">
                <a:solidFill>
                  <a:srgbClr val="374151"/>
                </a:solidFill>
                <a:latin typeface="Inter Medium" pitchFamily="34" charset="0"/>
                <a:ea typeface="Inter Medium" pitchFamily="34" charset="-122"/>
                <a:cs typeface="Inter Medium" pitchFamily="34" charset="-120"/>
              </a:rPr>
              <a:t>The system uses a strict ≥30°C cutoff. If the ambient temperature fluctuates rapidly between 29.9°C and 30.1°C, the alarms will rapidly toggle on and off (chattering), causing hardware wear and user annoyance.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1143000"/>
          </a:xfrm>
          <a:prstGeom prst="rect">
            <a:avLst/>
          </a:prstGeom>
          <a:solidFill>
            <a:srgbClr val="111827"/>
          </a:solidFill>
          <a:ln/>
        </p:spPr>
      </p:sp>
      <p:sp>
        <p:nvSpPr>
          <p:cNvPr id="4" name="Shape 1"/>
          <p:cNvSpPr/>
          <p:nvPr/>
        </p:nvSpPr>
        <p:spPr>
          <a:xfrm>
            <a:off x="0" y="1085850"/>
            <a:ext cx="9144000" cy="57150"/>
          </a:xfrm>
          <a:prstGeom prst="rect">
            <a:avLst/>
          </a:prstGeom>
          <a:solidFill>
            <a:srgbClr val="DC2626"/>
          </a:solidFill>
          <a:ln/>
        </p:spPr>
      </p:sp>
      <p:sp>
        <p:nvSpPr>
          <p:cNvPr id="5" name="Text 2"/>
          <p:cNvSpPr/>
          <p:nvPr/>
        </p:nvSpPr>
        <p:spPr>
          <a:xfrm>
            <a:off x="0" y="0"/>
            <a:ext cx="9144000" cy="768651"/>
          </a:xfrm>
          <a:prstGeom prst="rect">
            <a:avLst/>
          </a:prstGeom>
          <a:noFill/>
          <a:ln/>
        </p:spPr>
        <p:txBody>
          <a:bodyPr wrap="square" lIns="680339" tIns="425196" rIns="0" bIns="0" rtlCol="0" anchor="t">
            <a:spAutoFit/>
          </a:bodyPr>
          <a:lstStyle/>
          <a:p>
            <a:pPr algn="l" indent="0" marL="0">
              <a:lnSpc>
                <a:spcPct val="96000"/>
              </a:lnSpc>
              <a:buNone/>
            </a:pPr>
            <a:r>
              <a:rPr lang="en-US" sz="2450" b="1" dirty="0">
                <a:solidFill>
                  <a:srgbClr val="F8FAFC"/>
                </a:solidFill>
                <a:latin typeface="Inter ExtraBold" pitchFamily="34" charset="0"/>
                <a:ea typeface="Inter ExtraBold" pitchFamily="34" charset="-122"/>
                <a:cs typeface="Inter ExtraBold" pitchFamily="34" charset="-120"/>
              </a:rPr>
              <a:t>Next Steps &amp; Conclusion</a:t>
            </a:r>
            <a:endParaRPr lang="en-US" sz="2450" dirty="0"/>
          </a:p>
        </p:txBody>
      </p:sp>
      <p:sp>
        <p:nvSpPr>
          <p:cNvPr id="6" name="Text 3"/>
          <p:cNvSpPr/>
          <p:nvPr/>
        </p:nvSpPr>
        <p:spPr>
          <a:xfrm>
            <a:off x="571500" y="1571625"/>
            <a:ext cx="3786188" cy="312539"/>
          </a:xfrm>
          <a:prstGeom prst="rect">
            <a:avLst/>
          </a:prstGeom>
          <a:noFill/>
          <a:ln/>
        </p:spPr>
        <p:txBody>
          <a:bodyPr wrap="square" lIns="0" tIns="0" rIns="0" bIns="0" rtlCol="0" anchor="t">
            <a:spAutoFit/>
          </a:bodyPr>
          <a:lstStyle/>
          <a:p>
            <a:pPr algn="l" indent="0" marL="0">
              <a:buNone/>
            </a:pPr>
            <a:r>
              <a:rPr lang="en-US" sz="1800" b="1" dirty="0">
                <a:solidFill>
                  <a:srgbClr val="111827"/>
                </a:solidFill>
                <a:latin typeface="Inter ExtraBold" pitchFamily="34" charset="0"/>
                <a:ea typeface="Inter ExtraBold" pitchFamily="34" charset="-122"/>
                <a:cs typeface="Inter ExtraBold" pitchFamily="34" charset="-120"/>
              </a:rPr>
              <a:t>FUTURE IMPROVEMENTS</a:t>
            </a:r>
            <a:endParaRPr lang="en-US" sz="1800" dirty="0"/>
          </a:p>
        </p:txBody>
      </p:sp>
      <p:sp>
        <p:nvSpPr>
          <p:cNvPr id="7" name="Text 4"/>
          <p:cNvSpPr/>
          <p:nvPr/>
        </p:nvSpPr>
        <p:spPr>
          <a:xfrm>
            <a:off x="571500" y="2098477"/>
            <a:ext cx="321469"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01</a:t>
            </a:r>
            <a:endParaRPr lang="en-US" sz="1600" dirty="0"/>
          </a:p>
        </p:txBody>
      </p:sp>
      <p:sp>
        <p:nvSpPr>
          <p:cNvPr id="8" name="Text 5"/>
          <p:cNvSpPr/>
          <p:nvPr/>
        </p:nvSpPr>
        <p:spPr>
          <a:xfrm>
            <a:off x="1035844" y="2098477"/>
            <a:ext cx="3321844" cy="207169"/>
          </a:xfrm>
          <a:prstGeom prst="rect">
            <a:avLst/>
          </a:prstGeom>
          <a:noFill/>
          <a:ln/>
        </p:spPr>
        <p:txBody>
          <a:bodyPr wrap="square" lIns="0" tIns="0" rIns="0" bIns="0" rtlCol="0" anchor="t">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LCD Display Integration</a:t>
            </a:r>
            <a:endParaRPr lang="en-US" sz="1200" dirty="0"/>
          </a:p>
        </p:txBody>
      </p:sp>
      <p:sp>
        <p:nvSpPr>
          <p:cNvPr id="9" name="Text 6"/>
          <p:cNvSpPr/>
          <p:nvPr/>
        </p:nvSpPr>
        <p:spPr>
          <a:xfrm>
            <a:off x="1035844" y="2362795"/>
            <a:ext cx="3321844"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74151"/>
                </a:solidFill>
                <a:latin typeface="Inter Medium" pitchFamily="34" charset="0"/>
                <a:ea typeface="Inter Medium" pitchFamily="34" charset="-122"/>
                <a:cs typeface="Inter Medium" pitchFamily="34" charset="-120"/>
              </a:rPr>
              <a:t>Add an I2C LCD screen to display real-time temperature readings locally without needing a Serial Monitor.</a:t>
            </a:r>
            <a:endParaRPr lang="en-US" sz="1050" dirty="0"/>
          </a:p>
        </p:txBody>
      </p:sp>
      <p:sp>
        <p:nvSpPr>
          <p:cNvPr id="10" name="Text 7"/>
          <p:cNvSpPr/>
          <p:nvPr/>
        </p:nvSpPr>
        <p:spPr>
          <a:xfrm>
            <a:off x="571500" y="3220045"/>
            <a:ext cx="321469"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02</a:t>
            </a:r>
            <a:endParaRPr lang="en-US" sz="1600" dirty="0"/>
          </a:p>
        </p:txBody>
      </p:sp>
      <p:sp>
        <p:nvSpPr>
          <p:cNvPr id="11" name="Text 8"/>
          <p:cNvSpPr/>
          <p:nvPr/>
        </p:nvSpPr>
        <p:spPr>
          <a:xfrm>
            <a:off x="1035844" y="3220045"/>
            <a:ext cx="3321844" cy="207169"/>
          </a:xfrm>
          <a:prstGeom prst="rect">
            <a:avLst/>
          </a:prstGeom>
          <a:noFill/>
          <a:ln/>
        </p:spPr>
        <p:txBody>
          <a:bodyPr wrap="square" lIns="0" tIns="0" rIns="0" bIns="0" rtlCol="0" anchor="t">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Software Hysteresis</a:t>
            </a:r>
            <a:endParaRPr lang="en-US" sz="1200" dirty="0"/>
          </a:p>
        </p:txBody>
      </p:sp>
      <p:sp>
        <p:nvSpPr>
          <p:cNvPr id="12" name="Text 9"/>
          <p:cNvSpPr/>
          <p:nvPr/>
        </p:nvSpPr>
        <p:spPr>
          <a:xfrm>
            <a:off x="1035844" y="3484364"/>
            <a:ext cx="3321844"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74151"/>
                </a:solidFill>
                <a:latin typeface="Inter Medium" pitchFamily="34" charset="0"/>
                <a:ea typeface="Inter Medium" pitchFamily="34" charset="-122"/>
                <a:cs typeface="Inter Medium" pitchFamily="34" charset="-120"/>
              </a:rPr>
              <a:t>Implement a hysteresis band (e.g., ±1°C) in the code to prevent the alarm from rapidly toggling when hovering exactly at 30°C.</a:t>
            </a:r>
            <a:endParaRPr lang="en-US" sz="1050" dirty="0"/>
          </a:p>
        </p:txBody>
      </p:sp>
      <p:sp>
        <p:nvSpPr>
          <p:cNvPr id="13" name="Text 10"/>
          <p:cNvSpPr/>
          <p:nvPr/>
        </p:nvSpPr>
        <p:spPr>
          <a:xfrm>
            <a:off x="571500" y="4341614"/>
            <a:ext cx="321469" cy="276820"/>
          </a:xfrm>
          <a:prstGeom prst="rect">
            <a:avLst/>
          </a:prstGeom>
          <a:noFill/>
          <a:ln/>
        </p:spPr>
        <p:txBody>
          <a:bodyPr wrap="none" lIns="0" tIns="0" rIns="0" bIns="0" rtlCol="0" anchor="t">
            <a:spAutoFit/>
          </a:bodyPr>
          <a:lstStyle/>
          <a:p>
            <a:pPr algn="l" indent="0" marL="0">
              <a:buNone/>
            </a:pPr>
            <a:r>
              <a:rPr lang="en-US" sz="1600" b="1" dirty="0">
                <a:solidFill>
                  <a:srgbClr val="DC2626"/>
                </a:solidFill>
                <a:latin typeface="Inter ExtraBold" pitchFamily="34" charset="0"/>
                <a:ea typeface="Inter ExtraBold" pitchFamily="34" charset="-122"/>
                <a:cs typeface="Inter ExtraBold" pitchFamily="34" charset="-120"/>
              </a:rPr>
              <a:t>03</a:t>
            </a:r>
            <a:endParaRPr lang="en-US" sz="1600" dirty="0"/>
          </a:p>
        </p:txBody>
      </p:sp>
      <p:sp>
        <p:nvSpPr>
          <p:cNvPr id="14" name="Text 11"/>
          <p:cNvSpPr/>
          <p:nvPr/>
        </p:nvSpPr>
        <p:spPr>
          <a:xfrm>
            <a:off x="1035844" y="4341614"/>
            <a:ext cx="3321844" cy="207169"/>
          </a:xfrm>
          <a:prstGeom prst="rect">
            <a:avLst/>
          </a:prstGeom>
          <a:noFill/>
          <a:ln/>
        </p:spPr>
        <p:txBody>
          <a:bodyPr wrap="square" lIns="0" tIns="0" rIns="0" bIns="0" rtlCol="0" anchor="t">
            <a:spAutoFit/>
          </a:bodyPr>
          <a:lstStyle/>
          <a:p>
            <a:pPr algn="l" indent="0" marL="0">
              <a:buNone/>
            </a:pPr>
            <a:r>
              <a:rPr lang="en-US" sz="1200" b="1" dirty="0">
                <a:solidFill>
                  <a:srgbClr val="111827"/>
                </a:solidFill>
                <a:latin typeface="Inter ExtraBold" pitchFamily="34" charset="0"/>
                <a:ea typeface="Inter ExtraBold" pitchFamily="34" charset="-122"/>
                <a:cs typeface="Inter ExtraBold" pitchFamily="34" charset="-120"/>
              </a:rPr>
              <a:t>IoT Connectivity</a:t>
            </a:r>
            <a:endParaRPr lang="en-US" sz="1200" dirty="0"/>
          </a:p>
        </p:txBody>
      </p:sp>
      <p:sp>
        <p:nvSpPr>
          <p:cNvPr id="15" name="Text 12"/>
          <p:cNvSpPr/>
          <p:nvPr/>
        </p:nvSpPr>
        <p:spPr>
          <a:xfrm>
            <a:off x="1035844" y="4605933"/>
            <a:ext cx="3321844" cy="642938"/>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374151"/>
                </a:solidFill>
                <a:latin typeface="Inter Medium" pitchFamily="34" charset="0"/>
                <a:ea typeface="Inter Medium" pitchFamily="34" charset="-122"/>
                <a:cs typeface="Inter Medium" pitchFamily="34" charset="-120"/>
              </a:rPr>
              <a:t>Upgrade to an ESP8266 or ESP32 microcontroller to send email or SMS alerts to administrators when thresholds are breached.</a:t>
            </a:r>
            <a:endParaRPr lang="en-US" sz="1050" dirty="0"/>
          </a:p>
        </p:txBody>
      </p:sp>
      <p:sp>
        <p:nvSpPr>
          <p:cNvPr id="16" name="Text 13"/>
          <p:cNvSpPr/>
          <p:nvPr/>
        </p:nvSpPr>
        <p:spPr>
          <a:xfrm>
            <a:off x="4786313" y="1571625"/>
            <a:ext cx="3786188" cy="312539"/>
          </a:xfrm>
          <a:prstGeom prst="rect">
            <a:avLst/>
          </a:prstGeom>
          <a:noFill/>
          <a:ln/>
        </p:spPr>
        <p:txBody>
          <a:bodyPr wrap="square" lIns="0" tIns="0" rIns="0" bIns="0" rtlCol="0" anchor="t">
            <a:spAutoFit/>
          </a:bodyPr>
          <a:lstStyle/>
          <a:p>
            <a:pPr algn="l" indent="0" marL="0">
              <a:buNone/>
            </a:pPr>
            <a:r>
              <a:rPr lang="en-US" sz="1800" b="1" dirty="0">
                <a:solidFill>
                  <a:srgbClr val="111827"/>
                </a:solidFill>
                <a:latin typeface="Inter ExtraBold" pitchFamily="34" charset="0"/>
                <a:ea typeface="Inter ExtraBold" pitchFamily="34" charset="-122"/>
                <a:cs typeface="Inter ExtraBold" pitchFamily="34" charset="-120"/>
              </a:rPr>
              <a:t>CONCLUSION</a:t>
            </a:r>
            <a:endParaRPr lang="en-US" sz="1800" dirty="0"/>
          </a:p>
        </p:txBody>
      </p:sp>
      <p:sp>
        <p:nvSpPr>
          <p:cNvPr id="17" name="Shape 14"/>
          <p:cNvSpPr/>
          <p:nvPr/>
        </p:nvSpPr>
        <p:spPr>
          <a:xfrm>
            <a:off x="4786313" y="2098477"/>
            <a:ext cx="3786188" cy="4668887"/>
          </a:xfrm>
          <a:prstGeom prst="rect">
            <a:avLst/>
          </a:prstGeom>
          <a:solidFill>
            <a:srgbClr val="FFFFFF"/>
          </a:solidFill>
          <a:ln w="54864">
            <a:solidFill>
              <a:srgbClr val="111827"/>
            </a:solidFill>
            <a:prstDash val="solid"/>
          </a:ln>
        </p:spPr>
      </p:sp>
      <p:sp>
        <p:nvSpPr>
          <p:cNvPr id="18" name="Text 15"/>
          <p:cNvSpPr/>
          <p:nvPr/>
        </p:nvSpPr>
        <p:spPr>
          <a:xfrm>
            <a:off x="5072063" y="2384227"/>
            <a:ext cx="3214688" cy="1600088"/>
          </a:xfrm>
          <a:prstGeom prst="rect">
            <a:avLst/>
          </a:prstGeom>
          <a:noFill/>
          <a:ln/>
        </p:spPr>
        <p:txBody>
          <a:bodyPr wrap="square" lIns="0" tIns="0" rIns="0" bIns="0" rtlCol="0" anchor="t">
            <a:spAutoFit/>
          </a:bodyPr>
          <a:lstStyle/>
          <a:p>
            <a:pPr algn="l" indent="0" marL="0">
              <a:lnSpc>
                <a:spcPct val="128000"/>
              </a:lnSpc>
              <a:buNone/>
            </a:pPr>
            <a:r>
              <a:rPr lang="en-US" sz="1500" dirty="0">
                <a:solidFill>
                  <a:srgbClr val="111827"/>
                </a:solidFill>
                <a:latin typeface="Inter Medium" pitchFamily="34" charset="0"/>
                <a:ea typeface="Inter Medium" pitchFamily="34" charset="-122"/>
                <a:cs typeface="Inter Medium" pitchFamily="34" charset="-120"/>
              </a:rPr>
              <a:t>The </a:t>
            </a:r>
            <a:r>
              <a:rPr lang="en-US" sz="1400" b="1" dirty="0">
                <a:solidFill>
                  <a:srgbClr val="DC2626"/>
                </a:solidFill>
                <a:latin typeface="Inter ExtraBold" pitchFamily="34" charset="0"/>
                <a:ea typeface="Inter ExtraBold" pitchFamily="34" charset="-122"/>
                <a:cs typeface="Inter ExtraBold" pitchFamily="34" charset="-120"/>
              </a:rPr>
              <a:t>Smart Temperature Alert </a:t>
            </a:r>
            <a:r>
              <a:rPr lang="en-US" sz="1400" b="1" dirty="0">
                <a:solidFill>
                  <a:srgbClr val="DC2626"/>
                </a:solidFill>
                <a:latin typeface="Inter ExtraBold" pitchFamily="34" charset="0"/>
                <a:ea typeface="Inter ExtraBold" pitchFamily="34" charset="-122"/>
                <a:cs typeface="Inter ExtraBold" pitchFamily="34" charset="-120"/>
              </a:rPr>
              <a:t>System</a:t>
            </a:r>
            <a:r>
              <a:rPr lang="en-US" sz="1500" dirty="0">
                <a:solidFill>
                  <a:srgbClr val="111827"/>
                </a:solidFill>
                <a:latin typeface="Inter Medium" pitchFamily="34" charset="0"/>
                <a:ea typeface="Inter Medium" pitchFamily="34" charset="-122"/>
                <a:cs typeface="Inter Medium" pitchFamily="34" charset="-120"/>
              </a:rPr>
              <a:t> successfully </a:t>
            </a:r>
            <a:r>
              <a:rPr lang="en-US" sz="1500" dirty="0">
                <a:solidFill>
                  <a:srgbClr val="111827"/>
                </a:solidFill>
                <a:latin typeface="Inter Medium" pitchFamily="34" charset="0"/>
                <a:ea typeface="Inter Medium" pitchFamily="34" charset="-122"/>
                <a:cs typeface="Inter Medium" pitchFamily="34" charset="-120"/>
              </a:rPr>
              <a:t>demonstrates a reliable, </a:t>
            </a:r>
            <a:r>
              <a:rPr lang="en-US" sz="1500" dirty="0">
                <a:solidFill>
                  <a:srgbClr val="111827"/>
                </a:solidFill>
                <a:latin typeface="Inter Medium" pitchFamily="34" charset="0"/>
                <a:ea typeface="Inter Medium" pitchFamily="34" charset="-122"/>
                <a:cs typeface="Inter Medium" pitchFamily="34" charset="-120"/>
              </a:rPr>
              <a:t>automated approach to </a:t>
            </a:r>
            <a:r>
              <a:rPr lang="en-US" sz="1500" dirty="0">
                <a:solidFill>
                  <a:srgbClr val="111827"/>
                </a:solidFill>
                <a:latin typeface="Inter Medium" pitchFamily="34" charset="0"/>
                <a:ea typeface="Inter Medium" pitchFamily="34" charset="-122"/>
                <a:cs typeface="Inter Medium" pitchFamily="34" charset="-120"/>
              </a:rPr>
              <a:t>environmental monitoring.</a:t>
            </a:r>
            <a:endParaRPr lang="en-US" sz="1500" dirty="0"/>
          </a:p>
        </p:txBody>
      </p:sp>
      <p:sp>
        <p:nvSpPr>
          <p:cNvPr id="19" name="Text 16"/>
          <p:cNvSpPr/>
          <p:nvPr/>
        </p:nvSpPr>
        <p:spPr>
          <a:xfrm>
            <a:off x="5072063" y="4127190"/>
            <a:ext cx="3214688" cy="2240124"/>
          </a:xfrm>
          <a:prstGeom prst="rect">
            <a:avLst/>
          </a:prstGeom>
          <a:noFill/>
          <a:ln/>
        </p:spPr>
        <p:txBody>
          <a:bodyPr wrap="square" lIns="0" tIns="0" rIns="0" bIns="0" rtlCol="0" anchor="t">
            <a:spAutoFit/>
          </a:bodyPr>
          <a:lstStyle/>
          <a:p>
            <a:pPr algn="l" indent="0" marL="0">
              <a:lnSpc>
                <a:spcPct val="128000"/>
              </a:lnSpc>
              <a:buNone/>
            </a:pPr>
            <a:r>
              <a:rPr lang="en-US" sz="1500" dirty="0">
                <a:solidFill>
                  <a:srgbClr val="111827"/>
                </a:solidFill>
                <a:latin typeface="Inter Medium" pitchFamily="34" charset="0"/>
                <a:ea typeface="Inter Medium" pitchFamily="34" charset="-122"/>
                <a:cs typeface="Inter Medium" pitchFamily="34" charset="-120"/>
              </a:rPr>
              <a:t>By utilizing standard Arduino components and a simple finite state machine, the project provides an effective foundation that can be easily scaled for industrial or commercial applications.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2026-05-16T23:04:46Z</dcterms:created>
  <dcterms:modified xsi:type="dcterms:W3CDTF">2026-05-16T23:04:46Z</dcterms:modified>
</cp:coreProperties>
</file>