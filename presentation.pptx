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"/>
  </p:notesMasterIdLst>
  <p:sldIdLst>
    <p:sldId id="256" r:id="rId2"/>
    <p:sldId id="257" r:id="rId3"/>
    <p:sldId id="258" r:id="rId4"/>
    <p:sldId id="259" r:id="rId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7"/>
    <p:restoredTop sz="94610"/>
  </p:normalViewPr>
  <p:slideViewPr>
    <p:cSldViewPr snapToGrid="0" snapToObjects="1">
      <p:cViewPr varScale="1">
        <p:scale>
          <a:sx n="155" d="100"/>
          <a:sy n="155" d="100"/>
        </p:scale>
        <p:origin x="192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557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14363" y="1425541"/>
            <a:ext cx="5529263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3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IOT201 — INTRODUCTION TO IOTS | JUST</a:t>
            </a:r>
            <a:endParaRPr lang="en-US" sz="650" dirty="0"/>
          </a:p>
        </p:txBody>
      </p:sp>
      <p:sp>
        <p:nvSpPr>
          <p:cNvPr id="4" name="Text 1"/>
          <p:cNvSpPr/>
          <p:nvPr/>
        </p:nvSpPr>
        <p:spPr>
          <a:xfrm>
            <a:off x="614363" y="1718435"/>
            <a:ext cx="5529263" cy="9743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88000"/>
              </a:lnSpc>
              <a:buNone/>
            </a:pPr>
            <a:r>
              <a:rPr lang="en-US" sz="320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Parking</a:t>
            </a:r>
            <a:r>
              <a:rPr lang="en-US" sz="32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
</a:t>
            </a:r>
            <a:r>
              <a:rPr lang="en-US" sz="320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Assistant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14363" y="2807131"/>
            <a:ext cx="5529263" cy="1857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050" kern="0" spc="1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Smart Ultrasonic Proximity Alert System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14363" y="3642950"/>
            <a:ext cx="1221581" cy="10358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STUDENT</a:t>
            </a:r>
            <a:endParaRPr lang="en-US" sz="550" dirty="0"/>
          </a:p>
        </p:txBody>
      </p:sp>
      <p:sp>
        <p:nvSpPr>
          <p:cNvPr id="7" name="Text 4"/>
          <p:cNvSpPr/>
          <p:nvPr/>
        </p:nvSpPr>
        <p:spPr>
          <a:xfrm>
            <a:off x="614363" y="3775109"/>
            <a:ext cx="122158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Zaid Ahmed Khazaleh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614363" y="3960847"/>
            <a:ext cx="1221581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ID: 188472</a:t>
            </a:r>
            <a:endParaRPr lang="en-US" sz="650" dirty="0"/>
          </a:p>
        </p:txBody>
      </p:sp>
      <p:sp>
        <p:nvSpPr>
          <p:cNvPr id="9" name="Text 6"/>
          <p:cNvSpPr/>
          <p:nvPr/>
        </p:nvSpPr>
        <p:spPr>
          <a:xfrm>
            <a:off x="2264569" y="3642950"/>
            <a:ext cx="1434108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STUDENT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2264569" y="3775109"/>
            <a:ext cx="1434108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Ahmad Radwan Ababneh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2264569" y="3960847"/>
            <a:ext cx="1434108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ID: 172393</a:t>
            </a:r>
            <a:endParaRPr lang="en-US" sz="650" dirty="0"/>
          </a:p>
        </p:txBody>
      </p:sp>
      <p:sp>
        <p:nvSpPr>
          <p:cNvPr id="12" name="Shape 9"/>
          <p:cNvSpPr/>
          <p:nvPr/>
        </p:nvSpPr>
        <p:spPr>
          <a:xfrm>
            <a:off x="6715125" y="0"/>
            <a:ext cx="2428875" cy="5143500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13" name="Shape 10"/>
          <p:cNvSpPr/>
          <p:nvPr/>
        </p:nvSpPr>
        <p:spPr>
          <a:xfrm>
            <a:off x="6715125" y="0"/>
            <a:ext cx="7144" cy="5143500"/>
          </a:xfrm>
          <a:prstGeom prst="rect">
            <a:avLst/>
          </a:prstGeom>
          <a:solidFill>
            <a:srgbClr val="F4EEDB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14" name="Text 11"/>
          <p:cNvSpPr/>
          <p:nvPr/>
        </p:nvSpPr>
        <p:spPr>
          <a:xfrm>
            <a:off x="7000875" y="1377851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SUPERVISOR</a:t>
            </a:r>
            <a:endParaRPr lang="en-US" sz="550" dirty="0"/>
          </a:p>
        </p:txBody>
      </p:sp>
      <p:sp>
        <p:nvSpPr>
          <p:cNvPr id="15" name="Text 12"/>
          <p:cNvSpPr/>
          <p:nvPr/>
        </p:nvSpPr>
        <p:spPr>
          <a:xfrm>
            <a:off x="7000875" y="1552873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Dr. Assem Bsoul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000875" y="1747540"/>
            <a:ext cx="1857375" cy="10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Department of Cybersecurity Engineering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7000875" y="2347615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ACADEMIC YEAR</a:t>
            </a:r>
            <a:endParaRPr lang="en-US" sz="550" dirty="0"/>
          </a:p>
        </p:txBody>
      </p:sp>
      <p:sp>
        <p:nvSpPr>
          <p:cNvPr id="18" name="Text 15"/>
          <p:cNvSpPr/>
          <p:nvPr/>
        </p:nvSpPr>
        <p:spPr>
          <a:xfrm>
            <a:off x="7000875" y="2522637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2025 – 2026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7000875" y="2717304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Second Semester</a:t>
            </a:r>
            <a:endParaRPr lang="en-US" sz="650" dirty="0"/>
          </a:p>
        </p:txBody>
      </p:sp>
      <p:sp>
        <p:nvSpPr>
          <p:cNvPr id="20" name="Text 17"/>
          <p:cNvSpPr/>
          <p:nvPr/>
        </p:nvSpPr>
        <p:spPr>
          <a:xfrm>
            <a:off x="7000875" y="3317379"/>
            <a:ext cx="1857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PLATFORM</a:t>
            </a:r>
            <a:endParaRPr lang="en-US" sz="550" dirty="0"/>
          </a:p>
        </p:txBody>
      </p:sp>
      <p:sp>
        <p:nvSpPr>
          <p:cNvPr id="21" name="Text 18"/>
          <p:cNvSpPr/>
          <p:nvPr/>
        </p:nvSpPr>
        <p:spPr>
          <a:xfrm>
            <a:off x="7000875" y="3492401"/>
            <a:ext cx="1857375" cy="1660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Tinkercad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7000875" y="3687068"/>
            <a:ext cx="1857375" cy="1214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dirty="0">
                <a:solidFill>
                  <a:srgbClr val="A0AEC0"/>
                </a:solidFill>
                <a:latin typeface="DM Sans Light" pitchFamily="34" charset="0"/>
                <a:ea typeface="DM Sans Light" pitchFamily="34" charset="-122"/>
                <a:cs typeface="DM Sans Light" pitchFamily="34" charset="-120"/>
              </a:rPr>
              <a:t>Arduino Uno Simulation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5" name="Text 2"/>
          <p:cNvSpPr/>
          <p:nvPr/>
        </p:nvSpPr>
        <p:spPr>
          <a:xfrm>
            <a:off x="628650" y="165199"/>
            <a:ext cx="3552230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Problem, Components &amp; Circuit Design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67105" y="225028"/>
            <a:ext cx="448270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2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01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857250"/>
            <a:ext cx="3714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THE PROBLEM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428625" y="1075134"/>
            <a:ext cx="3714750" cy="112514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9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Parking a car in tight spaces often leads to accidental collisions. Drivers need a clear, real-time indication of how close their vehicle is to an obstacle. Our wall-mounted Parking Assistant solves this by providing immediate visual and auditory feedback.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28625" y="2778919"/>
            <a:ext cx="3714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COMPONENTS USED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428625" y="2996803"/>
            <a:ext cx="1169622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60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COMPONENT</a:t>
            </a:r>
            <a:endParaRPr lang="en-US" sz="600" dirty="0"/>
          </a:p>
        </p:txBody>
      </p:sp>
      <p:sp>
        <p:nvSpPr>
          <p:cNvPr id="11" name="Text 8"/>
          <p:cNvSpPr/>
          <p:nvPr/>
        </p:nvSpPr>
        <p:spPr>
          <a:xfrm>
            <a:off x="1598247" y="2996803"/>
            <a:ext cx="376972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60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QTY</a:t>
            </a:r>
            <a:endParaRPr lang="en-US" sz="600" dirty="0"/>
          </a:p>
        </p:txBody>
      </p:sp>
      <p:sp>
        <p:nvSpPr>
          <p:cNvPr id="12" name="Text 9"/>
          <p:cNvSpPr/>
          <p:nvPr/>
        </p:nvSpPr>
        <p:spPr>
          <a:xfrm>
            <a:off x="1975219" y="2996803"/>
            <a:ext cx="2168156" cy="201811"/>
          </a:xfrm>
          <a:prstGeom prst="rect">
            <a:avLst/>
          </a:prstGeom>
          <a:noFill/>
          <a:ln/>
        </p:spPr>
        <p:txBody>
          <a:bodyPr wrap="square" lIns="0" tIns="0" rIns="136017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60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ROLE</a:t>
            </a:r>
            <a:endParaRPr lang="en-US" sz="600" dirty="0"/>
          </a:p>
        </p:txBody>
      </p:sp>
      <p:sp>
        <p:nvSpPr>
          <p:cNvPr id="13" name="Text 10"/>
          <p:cNvSpPr/>
          <p:nvPr/>
        </p:nvSpPr>
        <p:spPr>
          <a:xfrm>
            <a:off x="428625" y="3198614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Arduino Uno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1598247" y="3198614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1975219" y="3198614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Main controller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428625" y="3454003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HC-SR04 Sensor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1598247" y="3454003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975219" y="3454003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Ultrasonic distance measurement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428625" y="3709392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598247" y="3709392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1975219" y="3709392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Color-coded visual alerts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428625" y="3964781"/>
            <a:ext cx="116962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Piezo Buzzer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598247" y="3964781"/>
            <a:ext cx="37697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975219" y="3964781"/>
            <a:ext cx="2168156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Auditory proximity warning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428625" y="4220170"/>
            <a:ext cx="1169622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LCD 16x2 I2C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1598247" y="4220170"/>
            <a:ext cx="376972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</a:t>
            </a:r>
            <a:endParaRPr lang="en-US" sz="850" dirty="0"/>
          </a:p>
        </p:txBody>
      </p:sp>
      <p:sp>
        <p:nvSpPr>
          <p:cNvPr id="27" name="Text 24"/>
          <p:cNvSpPr/>
          <p:nvPr/>
        </p:nvSpPr>
        <p:spPr>
          <a:xfrm>
            <a:off x="1975219" y="4220170"/>
            <a:ext cx="2168156" cy="251817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Displays exact distance</a:t>
            </a:r>
            <a:endParaRPr lang="en-US" sz="850" dirty="0"/>
          </a:p>
        </p:txBody>
      </p:sp>
      <p:sp>
        <p:nvSpPr>
          <p:cNvPr id="28" name="Text 25"/>
          <p:cNvSpPr/>
          <p:nvPr/>
        </p:nvSpPr>
        <p:spPr>
          <a:xfrm>
            <a:off x="4572000" y="857250"/>
            <a:ext cx="41433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I/O PIN ASSIGNMENT</a:t>
            </a:r>
            <a:endParaRPr lang="en-US" sz="550" dirty="0"/>
          </a:p>
        </p:txBody>
      </p:sp>
      <p:sp>
        <p:nvSpPr>
          <p:cNvPr id="29" name="Text 26"/>
          <p:cNvSpPr/>
          <p:nvPr/>
        </p:nvSpPr>
        <p:spPr>
          <a:xfrm>
            <a:off x="4572000" y="1075134"/>
            <a:ext cx="1084511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60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COMPONENT PIN</a:t>
            </a:r>
            <a:endParaRPr lang="en-US" sz="600" dirty="0"/>
          </a:p>
        </p:txBody>
      </p:sp>
      <p:sp>
        <p:nvSpPr>
          <p:cNvPr id="30" name="Text 27"/>
          <p:cNvSpPr/>
          <p:nvPr/>
        </p:nvSpPr>
        <p:spPr>
          <a:xfrm>
            <a:off x="5656511" y="1075134"/>
            <a:ext cx="872570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60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ARDUINO PIN</a:t>
            </a:r>
            <a:endParaRPr lang="en-US" sz="600" dirty="0"/>
          </a:p>
        </p:txBody>
      </p:sp>
      <p:sp>
        <p:nvSpPr>
          <p:cNvPr id="31" name="Text 28"/>
          <p:cNvSpPr/>
          <p:nvPr/>
        </p:nvSpPr>
        <p:spPr>
          <a:xfrm>
            <a:off x="6529081" y="1075134"/>
            <a:ext cx="658732" cy="201811"/>
          </a:xfrm>
          <a:prstGeom prst="rect">
            <a:avLst/>
          </a:prstGeom>
          <a:noFill/>
          <a:ln/>
        </p:spPr>
        <p:txBody>
          <a:bodyPr wrap="none" lIns="0" tIns="0" rIns="136017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60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TYPE</a:t>
            </a:r>
            <a:endParaRPr lang="en-US" sz="600" dirty="0"/>
          </a:p>
        </p:txBody>
      </p:sp>
      <p:sp>
        <p:nvSpPr>
          <p:cNvPr id="32" name="Text 29"/>
          <p:cNvSpPr/>
          <p:nvPr/>
        </p:nvSpPr>
        <p:spPr>
          <a:xfrm>
            <a:off x="7187812" y="1075134"/>
            <a:ext cx="1527563" cy="201811"/>
          </a:xfrm>
          <a:prstGeom prst="rect">
            <a:avLst/>
          </a:prstGeom>
          <a:noFill/>
          <a:ln/>
        </p:spPr>
        <p:txBody>
          <a:bodyPr wrap="square" lIns="0" tIns="0" rIns="136017" bIns="102108" rtlCol="0" anchor="ctr">
            <a:spAutoFit/>
          </a:bodyPr>
          <a:lstStyle/>
          <a:p>
            <a:pPr marL="0" indent="0" algn="l">
              <a:buNone/>
            </a:pPr>
            <a:r>
              <a:rPr lang="en-US" sz="60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FUNCTION</a:t>
            </a:r>
            <a:endParaRPr lang="en-US" sz="600" dirty="0"/>
          </a:p>
        </p:txBody>
      </p:sp>
      <p:sp>
        <p:nvSpPr>
          <p:cNvPr id="33" name="Text 30"/>
          <p:cNvSpPr/>
          <p:nvPr/>
        </p:nvSpPr>
        <p:spPr>
          <a:xfrm>
            <a:off x="4572000" y="1276945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Ultrasonic Trig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5656511" y="1276945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7</a:t>
            </a:r>
            <a:endParaRPr lang="en-US" sz="800" dirty="0"/>
          </a:p>
        </p:txBody>
      </p:sp>
      <p:sp>
        <p:nvSpPr>
          <p:cNvPr id="35" name="Text 32"/>
          <p:cNvSpPr/>
          <p:nvPr/>
        </p:nvSpPr>
        <p:spPr>
          <a:xfrm>
            <a:off x="6529081" y="1276945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7187812" y="1276945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Sends ultrasonic pulse</a:t>
            </a:r>
            <a:endParaRPr lang="en-US" sz="850" dirty="0"/>
          </a:p>
        </p:txBody>
      </p:sp>
      <p:sp>
        <p:nvSpPr>
          <p:cNvPr id="37" name="Text 34"/>
          <p:cNvSpPr/>
          <p:nvPr/>
        </p:nvSpPr>
        <p:spPr>
          <a:xfrm>
            <a:off x="4572000" y="1532334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Ultrasonic Echo</a:t>
            </a:r>
            <a:endParaRPr lang="en-US" sz="850" dirty="0"/>
          </a:p>
        </p:txBody>
      </p:sp>
      <p:sp>
        <p:nvSpPr>
          <p:cNvPr id="38" name="Text 35"/>
          <p:cNvSpPr/>
          <p:nvPr/>
        </p:nvSpPr>
        <p:spPr>
          <a:xfrm>
            <a:off x="5656511" y="1532334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6</a:t>
            </a:r>
            <a:endParaRPr lang="en-US" sz="800" dirty="0"/>
          </a:p>
        </p:txBody>
      </p:sp>
      <p:sp>
        <p:nvSpPr>
          <p:cNvPr id="39" name="Text 36"/>
          <p:cNvSpPr/>
          <p:nvPr/>
        </p:nvSpPr>
        <p:spPr>
          <a:xfrm>
            <a:off x="6529081" y="1532334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Input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7187812" y="1532334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Receives ultrasonic echo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4572000" y="1787723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 (Red)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5656511" y="1787723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11</a:t>
            </a:r>
            <a:endParaRPr lang="en-US" sz="800" dirty="0"/>
          </a:p>
        </p:txBody>
      </p:sp>
      <p:sp>
        <p:nvSpPr>
          <p:cNvPr id="43" name="Text 40"/>
          <p:cNvSpPr/>
          <p:nvPr/>
        </p:nvSpPr>
        <p:spPr>
          <a:xfrm>
            <a:off x="6529081" y="1787723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7187812" y="1787723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Red color control</a:t>
            </a:r>
            <a:endParaRPr lang="en-US" sz="850" dirty="0"/>
          </a:p>
        </p:txBody>
      </p:sp>
      <p:sp>
        <p:nvSpPr>
          <p:cNvPr id="45" name="Text 42"/>
          <p:cNvSpPr/>
          <p:nvPr/>
        </p:nvSpPr>
        <p:spPr>
          <a:xfrm>
            <a:off x="4572000" y="2043113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 (Blue)</a:t>
            </a:r>
            <a:endParaRPr lang="en-US" sz="850" dirty="0"/>
          </a:p>
        </p:txBody>
      </p:sp>
      <p:sp>
        <p:nvSpPr>
          <p:cNvPr id="46" name="Text 43"/>
          <p:cNvSpPr/>
          <p:nvPr/>
        </p:nvSpPr>
        <p:spPr>
          <a:xfrm>
            <a:off x="5656511" y="2043113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10</a:t>
            </a:r>
            <a:endParaRPr lang="en-US" sz="800" dirty="0"/>
          </a:p>
        </p:txBody>
      </p:sp>
      <p:sp>
        <p:nvSpPr>
          <p:cNvPr id="47" name="Text 44"/>
          <p:cNvSpPr/>
          <p:nvPr/>
        </p:nvSpPr>
        <p:spPr>
          <a:xfrm>
            <a:off x="6529081" y="2043113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48" name="Text 45"/>
          <p:cNvSpPr/>
          <p:nvPr/>
        </p:nvSpPr>
        <p:spPr>
          <a:xfrm>
            <a:off x="7187812" y="2043113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Blue color control</a:t>
            </a:r>
            <a:endParaRPr lang="en-US" sz="850" dirty="0"/>
          </a:p>
        </p:txBody>
      </p:sp>
      <p:sp>
        <p:nvSpPr>
          <p:cNvPr id="49" name="Text 46"/>
          <p:cNvSpPr/>
          <p:nvPr/>
        </p:nvSpPr>
        <p:spPr>
          <a:xfrm>
            <a:off x="4572000" y="2298502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RGB LED (Green)</a:t>
            </a:r>
            <a:endParaRPr lang="en-US" sz="850" dirty="0"/>
          </a:p>
        </p:txBody>
      </p:sp>
      <p:sp>
        <p:nvSpPr>
          <p:cNvPr id="50" name="Text 47"/>
          <p:cNvSpPr/>
          <p:nvPr/>
        </p:nvSpPr>
        <p:spPr>
          <a:xfrm>
            <a:off x="5656511" y="2298502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9</a:t>
            </a:r>
            <a:endParaRPr lang="en-US" sz="800" dirty="0"/>
          </a:p>
        </p:txBody>
      </p:sp>
      <p:sp>
        <p:nvSpPr>
          <p:cNvPr id="51" name="Text 48"/>
          <p:cNvSpPr/>
          <p:nvPr/>
        </p:nvSpPr>
        <p:spPr>
          <a:xfrm>
            <a:off x="6529081" y="2298502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7187812" y="2298502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Green color control</a:t>
            </a:r>
            <a:endParaRPr lang="en-US" sz="850" dirty="0"/>
          </a:p>
        </p:txBody>
      </p:sp>
      <p:sp>
        <p:nvSpPr>
          <p:cNvPr id="53" name="Text 50"/>
          <p:cNvSpPr/>
          <p:nvPr/>
        </p:nvSpPr>
        <p:spPr>
          <a:xfrm>
            <a:off x="4572000" y="2553891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Piezo Buzzer</a:t>
            </a:r>
            <a:endParaRPr lang="en-US" sz="850" dirty="0"/>
          </a:p>
        </p:txBody>
      </p:sp>
      <p:sp>
        <p:nvSpPr>
          <p:cNvPr id="54" name="Text 51"/>
          <p:cNvSpPr/>
          <p:nvPr/>
        </p:nvSpPr>
        <p:spPr>
          <a:xfrm>
            <a:off x="5656511" y="2553891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Pin 8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6529081" y="2553891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Output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7187812" y="2553891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Auditory alarm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4572000" y="2809280"/>
            <a:ext cx="1084511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LCD SDA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5656511" y="2809280"/>
            <a:ext cx="872570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A4</a:t>
            </a:r>
            <a:endParaRPr lang="en-US" sz="800" dirty="0"/>
          </a:p>
        </p:txBody>
      </p:sp>
      <p:sp>
        <p:nvSpPr>
          <p:cNvPr id="59" name="Text 56"/>
          <p:cNvSpPr/>
          <p:nvPr/>
        </p:nvSpPr>
        <p:spPr>
          <a:xfrm>
            <a:off x="6529081" y="2809280"/>
            <a:ext cx="658732" cy="255389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I2C Data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7187812" y="2809280"/>
            <a:ext cx="1527563" cy="255389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Data line for LCD</a:t>
            </a:r>
            <a:endParaRPr lang="en-US" sz="850" dirty="0"/>
          </a:p>
        </p:txBody>
      </p:sp>
      <p:sp>
        <p:nvSpPr>
          <p:cNvPr id="61" name="Text 58"/>
          <p:cNvSpPr/>
          <p:nvPr/>
        </p:nvSpPr>
        <p:spPr>
          <a:xfrm>
            <a:off x="4572000" y="3064669"/>
            <a:ext cx="1084511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LCD SCL</a:t>
            </a:r>
            <a:endParaRPr lang="en-US" sz="850" dirty="0"/>
          </a:p>
        </p:txBody>
      </p:sp>
      <p:sp>
        <p:nvSpPr>
          <p:cNvPr id="62" name="Text 59"/>
          <p:cNvSpPr/>
          <p:nvPr/>
        </p:nvSpPr>
        <p:spPr>
          <a:xfrm>
            <a:off x="5656511" y="3064669"/>
            <a:ext cx="872570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A5</a:t>
            </a:r>
            <a:endParaRPr lang="en-US" sz="800" dirty="0"/>
          </a:p>
        </p:txBody>
      </p:sp>
      <p:sp>
        <p:nvSpPr>
          <p:cNvPr id="63" name="Text 60"/>
          <p:cNvSpPr/>
          <p:nvPr/>
        </p:nvSpPr>
        <p:spPr>
          <a:xfrm>
            <a:off x="6529081" y="3064669"/>
            <a:ext cx="658732" cy="251817"/>
          </a:xfrm>
          <a:prstGeom prst="rect">
            <a:avLst/>
          </a:prstGeom>
          <a:noFill/>
          <a:ln/>
        </p:spPr>
        <p:txBody>
          <a:bodyPr wrap="non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I2C Clock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7187812" y="3064669"/>
            <a:ext cx="1527563" cy="251817"/>
          </a:xfrm>
          <a:prstGeom prst="rect">
            <a:avLst/>
          </a:prstGeom>
          <a:noFill/>
          <a:ln/>
        </p:spPr>
        <p:txBody>
          <a:bodyPr wrap="square" lIns="0" tIns="119126" rIns="136017" bIns="0" rtlCol="0" anchor="ctr">
            <a:spAutoFit/>
          </a:bodyPr>
          <a:lstStyle/>
          <a:p>
            <a:pPr marL="0" indent="0" algn="l">
              <a:buNone/>
            </a:pPr>
            <a:r>
              <a:rPr lang="en-US" sz="8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Clock line for LCD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5" name="Text 2"/>
          <p:cNvSpPr/>
          <p:nvPr/>
        </p:nvSpPr>
        <p:spPr>
          <a:xfrm>
            <a:off x="628650" y="165199"/>
            <a:ext cx="4045148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System Logic: 4-State Machine &amp; Core Code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43888" y="225028"/>
            <a:ext cx="471488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2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02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742950"/>
            <a:ext cx="279382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STATE MACHINE</a:t>
            </a:r>
            <a:endParaRPr lang="en-US" sz="550" dirty="0"/>
          </a:p>
        </p:txBody>
      </p:sp>
      <p:sp>
        <p:nvSpPr>
          <p:cNvPr id="8" name="Shape 5"/>
          <p:cNvSpPr/>
          <p:nvPr/>
        </p:nvSpPr>
        <p:spPr>
          <a:xfrm>
            <a:off x="428625" y="989409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9" name="Shape 6"/>
          <p:cNvSpPr/>
          <p:nvPr/>
        </p:nvSpPr>
        <p:spPr>
          <a:xfrm>
            <a:off x="428625" y="989409"/>
            <a:ext cx="1346904" cy="1428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10" name="Text 7"/>
          <p:cNvSpPr/>
          <p:nvPr/>
        </p:nvSpPr>
        <p:spPr>
          <a:xfrm>
            <a:off x="542925" y="1075134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SAFE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2925" y="1284089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1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Dist &gt; 100 cm</a:t>
            </a:r>
            <a:endParaRPr lang="en-US" sz="650" dirty="0"/>
          </a:p>
        </p:txBody>
      </p:sp>
      <p:sp>
        <p:nvSpPr>
          <p:cNvPr id="12" name="Text 9"/>
          <p:cNvSpPr/>
          <p:nvPr/>
        </p:nvSpPr>
        <p:spPr>
          <a:xfrm>
            <a:off x="542925" y="1462683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"Safe"
RGB: Green
Buzzer: OFF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1875541" y="989409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14" name="Shape 11"/>
          <p:cNvSpPr/>
          <p:nvPr/>
        </p:nvSpPr>
        <p:spPr>
          <a:xfrm>
            <a:off x="1875541" y="989409"/>
            <a:ext cx="1346904" cy="14288"/>
          </a:xfrm>
          <a:prstGeom prst="rect">
            <a:avLst/>
          </a:prstGeom>
          <a:solidFill>
            <a:srgbClr val="F6AD55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15" name="Text 12"/>
          <p:cNvSpPr/>
          <p:nvPr/>
        </p:nvSpPr>
        <p:spPr>
          <a:xfrm>
            <a:off x="1989841" y="1075134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WARNING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1989841" y="1284089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1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20 &lt; Dist ≤ 100</a:t>
            </a:r>
            <a:endParaRPr lang="en-US" sz="650" dirty="0"/>
          </a:p>
        </p:txBody>
      </p:sp>
      <p:sp>
        <p:nvSpPr>
          <p:cNvPr id="17" name="Text 14"/>
          <p:cNvSpPr/>
          <p:nvPr/>
        </p:nvSpPr>
        <p:spPr>
          <a:xfrm>
            <a:off x="1989841" y="1462683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"Warning!"
RGB: Yellow
Buzzer: Beeping</a:t>
            </a:r>
            <a:endParaRPr lang="en-US" sz="750" dirty="0"/>
          </a:p>
        </p:txBody>
      </p:sp>
      <p:sp>
        <p:nvSpPr>
          <p:cNvPr id="18" name="Shape 15"/>
          <p:cNvSpPr/>
          <p:nvPr/>
        </p:nvSpPr>
        <p:spPr>
          <a:xfrm>
            <a:off x="428625" y="2188471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19" name="Shape 16"/>
          <p:cNvSpPr/>
          <p:nvPr/>
        </p:nvSpPr>
        <p:spPr>
          <a:xfrm>
            <a:off x="428625" y="2188471"/>
            <a:ext cx="1346904" cy="14288"/>
          </a:xfrm>
          <a:prstGeom prst="rect">
            <a:avLst/>
          </a:prstGeom>
          <a:solidFill>
            <a:srgbClr val="E53E3E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20" name="Text 17"/>
          <p:cNvSpPr/>
          <p:nvPr/>
        </p:nvSpPr>
        <p:spPr>
          <a:xfrm>
            <a:off x="542925" y="2274196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STOP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542925" y="2483151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1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Dist ≤ 20 cm</a:t>
            </a:r>
            <a:endParaRPr lang="en-US" sz="650" dirty="0"/>
          </a:p>
        </p:txBody>
      </p:sp>
      <p:sp>
        <p:nvSpPr>
          <p:cNvPr id="22" name="Text 19"/>
          <p:cNvSpPr/>
          <p:nvPr/>
        </p:nvSpPr>
        <p:spPr>
          <a:xfrm>
            <a:off x="542925" y="2661745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"STOP!"
RGB: Red
Buzzer: Continuous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1875541" y="2188471"/>
            <a:ext cx="1346904" cy="1113337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24" name="Shape 21"/>
          <p:cNvSpPr/>
          <p:nvPr/>
        </p:nvSpPr>
        <p:spPr>
          <a:xfrm>
            <a:off x="1875541" y="2188471"/>
            <a:ext cx="1346904" cy="14288"/>
          </a:xfrm>
          <a:prstGeom prst="rect">
            <a:avLst/>
          </a:prstGeom>
          <a:solidFill>
            <a:srgbClr val="718096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25" name="Text 22"/>
          <p:cNvSpPr/>
          <p:nvPr/>
        </p:nvSpPr>
        <p:spPr>
          <a:xfrm>
            <a:off x="1989841" y="2274196"/>
            <a:ext cx="1118304" cy="16609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LOST SENSOR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1989841" y="2483151"/>
            <a:ext cx="1118304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1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Dist = 0 or &gt; 300</a:t>
            </a:r>
            <a:endParaRPr lang="en-US" sz="650" dirty="0"/>
          </a:p>
        </p:txBody>
      </p:sp>
      <p:sp>
        <p:nvSpPr>
          <p:cNvPr id="27" name="Text 24"/>
          <p:cNvSpPr/>
          <p:nvPr/>
        </p:nvSpPr>
        <p:spPr>
          <a:xfrm>
            <a:off x="1989841" y="2661745"/>
            <a:ext cx="1118304" cy="5400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44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LCD: "--- cm"
RGB: OFF
Buzzer: OFF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508195" y="742950"/>
            <a:ext cx="520718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ARDUINO CORE LOGIC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>
            <a:off x="3508195" y="903684"/>
            <a:ext cx="5207180" cy="4096941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30" name="Shape 27"/>
          <p:cNvSpPr/>
          <p:nvPr/>
        </p:nvSpPr>
        <p:spPr>
          <a:xfrm>
            <a:off x="3508195" y="903684"/>
            <a:ext cx="5207180" cy="14288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31" name="Text 28"/>
          <p:cNvSpPr/>
          <p:nvPr/>
        </p:nvSpPr>
        <p:spPr>
          <a:xfrm>
            <a:off x="3651070" y="1046559"/>
            <a:ext cx="4921430" cy="271998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Calculate distance from ultrasonic sensor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duration = pulseIn(echoPin, HIGH, 30000);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distance = duration * 0.034 / 2;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(distance == 0 || distance &gt; 300) {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lcd.print("Dist: --- cm    "); setColor(0,0,0); noTone(buzzerPin);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else {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lcd.print("Dist: "); lcd.print(distance);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(distance &gt; 100) {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lcd.print("Safe         "); setColor(0,255,0); noTone(buzzerPin);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if (distance &gt; 20) {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lcd.print("Warning!     "); setColor(255,255,0);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tone(buzzerPin,1000); delay(distance*2); noTone(buzzerPin); delay(distance*2);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 else {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lcd.print("STOP!        "); setColor(255,0,0); tone(buzzerPin,1000);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750" dirty="0"/>
          </a:p>
          <a:p>
            <a:pPr marL="0" indent="0" algn="l">
              <a:lnSpc>
                <a:spcPct val="136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571500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4" name="Shape 1"/>
          <p:cNvSpPr/>
          <p:nvPr/>
        </p:nvSpPr>
        <p:spPr>
          <a:xfrm>
            <a:off x="0" y="564356"/>
            <a:ext cx="9144000" cy="7144"/>
          </a:xfrm>
          <a:prstGeom prst="rect">
            <a:avLst/>
          </a:prstGeom>
          <a:solidFill>
            <a:srgbClr val="E9DCB7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5" name="Text 2"/>
          <p:cNvSpPr/>
          <p:nvPr/>
        </p:nvSpPr>
        <p:spPr>
          <a:xfrm>
            <a:off x="628650" y="165199"/>
            <a:ext cx="3439716" cy="24110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Test Results, Limitations &amp; Next Steps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8242102" y="225028"/>
            <a:ext cx="473273" cy="12144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650" kern="0" spc="2" dirty="0">
                <a:solidFill>
                  <a:srgbClr val="C9A84C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03 / 03</a:t>
            </a:r>
            <a:endParaRPr lang="en-US" sz="650" dirty="0"/>
          </a:p>
        </p:txBody>
      </p:sp>
      <p:sp>
        <p:nvSpPr>
          <p:cNvPr id="7" name="Text 4"/>
          <p:cNvSpPr/>
          <p:nvPr/>
        </p:nvSpPr>
        <p:spPr>
          <a:xfrm>
            <a:off x="428625" y="828675"/>
            <a:ext cx="271462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TEST RESULTS</a:t>
            </a:r>
            <a:endParaRPr lang="en-US" sz="550" dirty="0"/>
          </a:p>
        </p:txBody>
      </p:sp>
      <p:sp>
        <p:nvSpPr>
          <p:cNvPr id="8" name="Text 5"/>
          <p:cNvSpPr/>
          <p:nvPr/>
        </p:nvSpPr>
        <p:spPr>
          <a:xfrm>
            <a:off x="428625" y="1032272"/>
            <a:ext cx="457981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marL="0" indent="0" algn="l">
              <a:buNone/>
            </a:pPr>
            <a:r>
              <a:rPr lang="en-US" sz="55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TEST</a:t>
            </a:r>
            <a:endParaRPr lang="en-US" sz="550" dirty="0"/>
          </a:p>
        </p:txBody>
      </p:sp>
      <p:sp>
        <p:nvSpPr>
          <p:cNvPr id="9" name="Text 6"/>
          <p:cNvSpPr/>
          <p:nvPr/>
        </p:nvSpPr>
        <p:spPr>
          <a:xfrm>
            <a:off x="886606" y="1032272"/>
            <a:ext cx="638026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marL="0" indent="0" algn="l">
              <a:buNone/>
            </a:pPr>
            <a:r>
              <a:rPr lang="en-US" sz="55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DISTANCE</a:t>
            </a:r>
            <a:endParaRPr lang="en-US" sz="550" dirty="0"/>
          </a:p>
        </p:txBody>
      </p:sp>
      <p:sp>
        <p:nvSpPr>
          <p:cNvPr id="10" name="Text 7"/>
          <p:cNvSpPr/>
          <p:nvPr/>
        </p:nvSpPr>
        <p:spPr>
          <a:xfrm>
            <a:off x="1524633" y="1032272"/>
            <a:ext cx="1123410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marL="0" indent="0" algn="l">
              <a:buNone/>
            </a:pPr>
            <a:r>
              <a:rPr lang="en-US" sz="55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EXPECTED OUTPUT</a:t>
            </a:r>
            <a:endParaRPr lang="en-US" sz="550" dirty="0"/>
          </a:p>
        </p:txBody>
      </p:sp>
      <p:sp>
        <p:nvSpPr>
          <p:cNvPr id="11" name="Text 8"/>
          <p:cNvSpPr/>
          <p:nvPr/>
        </p:nvSpPr>
        <p:spPr>
          <a:xfrm>
            <a:off x="2648043" y="1032272"/>
            <a:ext cx="495207" cy="178594"/>
          </a:xfrm>
          <a:prstGeom prst="rect">
            <a:avLst/>
          </a:prstGeom>
          <a:noFill/>
          <a:ln/>
        </p:spPr>
        <p:txBody>
          <a:bodyPr wrap="none" lIns="0" tIns="0" rIns="102108" bIns="85090" rtlCol="0" anchor="ctr">
            <a:spAutoFit/>
          </a:bodyPr>
          <a:lstStyle/>
          <a:p>
            <a:pPr marL="0" indent="0" algn="l">
              <a:buNone/>
            </a:pPr>
            <a:r>
              <a:rPr lang="en-US" sz="550" b="1" kern="0" spc="2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RESULT</a:t>
            </a:r>
            <a:endParaRPr lang="en-US" sz="550" dirty="0"/>
          </a:p>
        </p:txBody>
      </p:sp>
      <p:sp>
        <p:nvSpPr>
          <p:cNvPr id="12" name="Text 9"/>
          <p:cNvSpPr/>
          <p:nvPr/>
        </p:nvSpPr>
        <p:spPr>
          <a:xfrm>
            <a:off x="428625" y="1210866"/>
            <a:ext cx="45798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TC-01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886606" y="1210866"/>
            <a:ext cx="638026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150 cm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1524633" y="1293019"/>
            <a:ext cx="630436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Safe (Green)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2648043" y="1210866"/>
            <a:ext cx="495207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428625" y="1437680"/>
            <a:ext cx="45798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TC-02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886606" y="1437680"/>
            <a:ext cx="638026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60 cm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524633" y="1519833"/>
            <a:ext cx="835819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6AD55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Warning (Yellow)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648043" y="1437680"/>
            <a:ext cx="495207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0" name="Text 17"/>
          <p:cNvSpPr/>
          <p:nvPr/>
        </p:nvSpPr>
        <p:spPr>
          <a:xfrm>
            <a:off x="428625" y="1664494"/>
            <a:ext cx="457981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TC-03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886606" y="1664494"/>
            <a:ext cx="638026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10 cm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524633" y="1746647"/>
            <a:ext cx="564356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E53E3E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STOP (Red)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48043" y="1664494"/>
            <a:ext cx="495207" cy="226814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4" name="Text 21"/>
          <p:cNvSpPr/>
          <p:nvPr/>
        </p:nvSpPr>
        <p:spPr>
          <a:xfrm>
            <a:off x="428625" y="1891308"/>
            <a:ext cx="457981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FFFFFF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TC-04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886606" y="1891308"/>
            <a:ext cx="638026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&gt; 300 cm</a:t>
            </a:r>
            <a:endParaRPr lang="en-US" sz="800" dirty="0"/>
          </a:p>
        </p:txBody>
      </p:sp>
      <p:sp>
        <p:nvSpPr>
          <p:cNvPr id="26" name="Text 23"/>
          <p:cNvSpPr/>
          <p:nvPr/>
        </p:nvSpPr>
        <p:spPr>
          <a:xfrm>
            <a:off x="1524633" y="1973461"/>
            <a:ext cx="591145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00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Lost Sensor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2648043" y="1891308"/>
            <a:ext cx="495207" cy="223242"/>
          </a:xfrm>
          <a:prstGeom prst="rect">
            <a:avLst/>
          </a:prstGeom>
          <a:noFill/>
          <a:ln/>
        </p:spPr>
        <p:txBody>
          <a:bodyPr wrap="none" lIns="0" tIns="93599" rIns="102108" bIns="0" rtlCol="0" anchor="ctr">
            <a:spAutoFit/>
          </a:bodyPr>
          <a:lstStyle/>
          <a:p>
            <a:pPr marL="0" indent="0" algn="l">
              <a:buNone/>
            </a:pPr>
            <a:r>
              <a:rPr lang="en-US" sz="75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PASS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3429000" y="828675"/>
            <a:ext cx="2428875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LIMITATIONS</a:t>
            </a:r>
            <a:endParaRPr lang="en-US" sz="550" dirty="0"/>
          </a:p>
        </p:txBody>
      </p:sp>
      <p:sp>
        <p:nvSpPr>
          <p:cNvPr id="29" name="Shape 26"/>
          <p:cNvSpPr/>
          <p:nvPr/>
        </p:nvSpPr>
        <p:spPr>
          <a:xfrm>
            <a:off x="3429000" y="1175147"/>
            <a:ext cx="2428875" cy="952212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30" name="Shape 27"/>
          <p:cNvSpPr/>
          <p:nvPr/>
        </p:nvSpPr>
        <p:spPr>
          <a:xfrm>
            <a:off x="3429000" y="1175147"/>
            <a:ext cx="2428875" cy="14288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31" name="Text 28"/>
          <p:cNvSpPr/>
          <p:nvPr/>
        </p:nvSpPr>
        <p:spPr>
          <a:xfrm>
            <a:off x="3557588" y="1289447"/>
            <a:ext cx="2171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Blind Spot at Close Range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3557588" y="1503759"/>
            <a:ext cx="2171700" cy="495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Ultrasonic sensors struggle with distances under 2 cm, potentially missing very close obstacles.</a:t>
            </a:r>
            <a:endParaRPr lang="en-US" sz="750" dirty="0"/>
          </a:p>
        </p:txBody>
      </p:sp>
      <p:sp>
        <p:nvSpPr>
          <p:cNvPr id="33" name="Shape 30"/>
          <p:cNvSpPr/>
          <p:nvPr/>
        </p:nvSpPr>
        <p:spPr>
          <a:xfrm>
            <a:off x="3429000" y="2255946"/>
            <a:ext cx="2428875" cy="952212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34" name="Shape 31"/>
          <p:cNvSpPr/>
          <p:nvPr/>
        </p:nvSpPr>
        <p:spPr>
          <a:xfrm>
            <a:off x="3429000" y="2255946"/>
            <a:ext cx="2428875" cy="14288"/>
          </a:xfrm>
          <a:prstGeom prst="rect">
            <a:avLst/>
          </a:prstGeom>
          <a:solidFill>
            <a:srgbClr val="C9A84C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35" name="Text 32"/>
          <p:cNvSpPr/>
          <p:nvPr/>
        </p:nvSpPr>
        <p:spPr>
          <a:xfrm>
            <a:off x="3557588" y="2370246"/>
            <a:ext cx="2171700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C9A84C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Material Interference</a:t>
            </a:r>
            <a:endParaRPr lang="en-US" sz="850" dirty="0"/>
          </a:p>
        </p:txBody>
      </p:sp>
      <p:sp>
        <p:nvSpPr>
          <p:cNvPr id="36" name="Text 33"/>
          <p:cNvSpPr/>
          <p:nvPr/>
        </p:nvSpPr>
        <p:spPr>
          <a:xfrm>
            <a:off x="3557588" y="2584559"/>
            <a:ext cx="2171700" cy="4950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32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Soft materials (like a car cover) can absorb sound waves, leading to inaccurate distance readings.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6143625" y="828675"/>
            <a:ext cx="2571750" cy="1035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550" kern="0" spc="2" dirty="0">
                <a:solidFill>
                  <a:srgbClr val="00D4AA"/>
                </a:solidFill>
                <a:latin typeface="DM Sans Medium" pitchFamily="34" charset="0"/>
                <a:ea typeface="DM Sans Medium" pitchFamily="34" charset="-122"/>
                <a:cs typeface="DM Sans Medium" pitchFamily="34" charset="-120"/>
              </a:rPr>
              <a:t>NEXT STEPS</a:t>
            </a:r>
            <a:endParaRPr lang="en-US" sz="550" dirty="0"/>
          </a:p>
        </p:txBody>
      </p:sp>
      <p:sp>
        <p:nvSpPr>
          <p:cNvPr id="38" name="Shape 35"/>
          <p:cNvSpPr/>
          <p:nvPr/>
        </p:nvSpPr>
        <p:spPr>
          <a:xfrm>
            <a:off x="6143625" y="1175147"/>
            <a:ext cx="2571750" cy="887220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39" name="Shape 36"/>
          <p:cNvSpPr/>
          <p:nvPr/>
        </p:nvSpPr>
        <p:spPr>
          <a:xfrm>
            <a:off x="6143625" y="1175147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40" name="Text 37"/>
          <p:cNvSpPr/>
          <p:nvPr/>
        </p:nvSpPr>
        <p:spPr>
          <a:xfrm>
            <a:off x="6272213" y="1275159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01</a:t>
            </a:r>
            <a:endParaRPr lang="en-US" sz="1300" dirty="0"/>
          </a:p>
        </p:txBody>
      </p:sp>
      <p:sp>
        <p:nvSpPr>
          <p:cNvPr id="41" name="Text 38"/>
          <p:cNvSpPr/>
          <p:nvPr/>
        </p:nvSpPr>
        <p:spPr>
          <a:xfrm>
            <a:off x="6615113" y="1275159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LDR Night Mode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6615113" y="1468041"/>
            <a:ext cx="19716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Add a light sensor to automatically dim the LCD and LEDs at night to prevent blinding the driver.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143625" y="2190955"/>
            <a:ext cx="2571750" cy="887220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44" name="Shape 41"/>
          <p:cNvSpPr/>
          <p:nvPr/>
        </p:nvSpPr>
        <p:spPr>
          <a:xfrm>
            <a:off x="6143625" y="2190955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45" name="Text 42"/>
          <p:cNvSpPr/>
          <p:nvPr/>
        </p:nvSpPr>
        <p:spPr>
          <a:xfrm>
            <a:off x="6272213" y="2290967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02</a:t>
            </a:r>
            <a:endParaRPr lang="en-US" sz="1300" dirty="0"/>
          </a:p>
        </p:txBody>
      </p:sp>
      <p:sp>
        <p:nvSpPr>
          <p:cNvPr id="46" name="Text 43"/>
          <p:cNvSpPr/>
          <p:nvPr/>
        </p:nvSpPr>
        <p:spPr>
          <a:xfrm>
            <a:off x="6615113" y="2290967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Adjustable Thresholds</a:t>
            </a:r>
            <a:endParaRPr lang="en-US" sz="850" dirty="0"/>
          </a:p>
        </p:txBody>
      </p:sp>
      <p:sp>
        <p:nvSpPr>
          <p:cNvPr id="47" name="Text 44"/>
          <p:cNvSpPr/>
          <p:nvPr/>
        </p:nvSpPr>
        <p:spPr>
          <a:xfrm>
            <a:off x="6615113" y="2483848"/>
            <a:ext cx="19716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Implement push buttons to let users customize the warning and stop distances without reprogramming.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6143625" y="3206762"/>
            <a:ext cx="2571750" cy="887220"/>
          </a:xfrm>
          <a:prstGeom prst="rect">
            <a:avLst/>
          </a:prstGeom>
          <a:solidFill>
            <a:srgbClr val="0F0F18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49" name="Shape 46"/>
          <p:cNvSpPr/>
          <p:nvPr/>
        </p:nvSpPr>
        <p:spPr>
          <a:xfrm>
            <a:off x="6143625" y="3206762"/>
            <a:ext cx="2571750" cy="14288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ar-JO"/>
          </a:p>
        </p:txBody>
      </p:sp>
      <p:sp>
        <p:nvSpPr>
          <p:cNvPr id="50" name="Text 47"/>
          <p:cNvSpPr/>
          <p:nvPr/>
        </p:nvSpPr>
        <p:spPr>
          <a:xfrm>
            <a:off x="6272213" y="3306775"/>
            <a:ext cx="228600" cy="200025"/>
          </a:xfrm>
          <a:prstGeom prst="rect">
            <a:avLst/>
          </a:prstGeom>
          <a:noFill/>
          <a:ln/>
        </p:spPr>
        <p:txBody>
          <a:bodyPr wrap="none" lIns="0" tIns="17018" rIns="0" bIns="0" rtlCol="0" anchor="t">
            <a:spAutoFit/>
          </a:bodyPr>
          <a:lstStyle/>
          <a:p>
            <a:pPr marL="0" indent="0" algn="l">
              <a:lnSpc>
                <a:spcPct val="80000"/>
              </a:lnSpc>
              <a:buNone/>
            </a:pPr>
            <a:r>
              <a:rPr lang="en-US" sz="1300" b="1" dirty="0">
                <a:solidFill>
                  <a:srgbClr val="00D4AA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03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6615113" y="3306775"/>
            <a:ext cx="197167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buNone/>
            </a:pPr>
            <a:r>
              <a:rPr lang="en-US" sz="850" b="1" dirty="0">
                <a:solidFill>
                  <a:srgbClr val="FFFFFF"/>
                </a:solidFill>
                <a:latin typeface="DM Sans Bold" pitchFamily="34" charset="0"/>
                <a:ea typeface="DM Sans Bold" pitchFamily="34" charset="-122"/>
                <a:cs typeface="DM Sans Bold" pitchFamily="34" charset="-120"/>
              </a:rPr>
              <a:t>Dual Sensor Setup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15113" y="3499656"/>
            <a:ext cx="1971675" cy="48002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marL="0" indent="0" algn="l">
              <a:lnSpc>
                <a:spcPct val="128000"/>
              </a:lnSpc>
              <a:buNone/>
            </a:pPr>
            <a:r>
              <a:rPr lang="en-US" sz="750" dirty="0">
                <a:solidFill>
                  <a:srgbClr val="A0AEC0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Use two ultrasonic sensors to cover a wider angle and detect obstacles near the car's corners.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639</Words>
  <Application>Microsoft Macintosh PowerPoint</Application>
  <PresentationFormat>عرض على الشاشة (16:9)</PresentationFormat>
  <Paragraphs>152</Paragraphs>
  <Slides>4</Slides>
  <Notes>4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6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4</vt:i4>
      </vt:variant>
    </vt:vector>
  </HeadingPairs>
  <TitlesOfParts>
    <vt:vector size="11" baseType="lpstr">
      <vt:lpstr>Arial</vt:lpstr>
      <vt:lpstr>Courier New</vt:lpstr>
      <vt:lpstr>DM Sans</vt:lpstr>
      <vt:lpstr>DM Sans Bold</vt:lpstr>
      <vt:lpstr>DM Sans Light</vt:lpstr>
      <vt:lpstr>DM Sans Medium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Zaid Khazaleh</cp:lastModifiedBy>
  <cp:revision>2</cp:revision>
  <dcterms:created xsi:type="dcterms:W3CDTF">2026-05-18T15:58:05Z</dcterms:created>
  <dcterms:modified xsi:type="dcterms:W3CDTF">2026-05-18T16:45:21Z</dcterms:modified>
</cp:coreProperties>
</file>