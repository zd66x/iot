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14363" y="1425541"/>
            <a:ext cx="5529263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50" spc="3" kern="0" dirty="0">
                <a:solidFill>
                  <a:srgbClr val="00D4AA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IOT201 — INTRODUCTION TO IOTS | JUST</a:t>
            </a:r>
            <a:endParaRPr lang="en-US" sz="650" dirty="0"/>
          </a:p>
        </p:txBody>
      </p:sp>
      <p:sp>
        <p:nvSpPr>
          <p:cNvPr id="4" name="Text 1"/>
          <p:cNvSpPr/>
          <p:nvPr/>
        </p:nvSpPr>
        <p:spPr>
          <a:xfrm>
            <a:off x="614363" y="1718435"/>
            <a:ext cx="5529263" cy="9743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200" b="1" dirty="0">
                <a:solidFill>
                  <a:srgbClr val="C9A84C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Smart Temperature</a:t>
            </a:r>
            <a:r>
              <a:rPr lang="en-US" sz="3200" b="1" dirty="0">
                <a:solidFill>
                  <a:srgbClr val="FFFFFF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
</a:t>
            </a:r>
            <a:r>
              <a:rPr lang="en-US" sz="3200" b="1" dirty="0">
                <a:solidFill>
                  <a:srgbClr val="C9A84C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Alert System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614363" y="2807131"/>
            <a:ext cx="5529263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spc="1" kern="0" dirty="0">
                <a:solidFill>
                  <a:srgbClr val="A0AEC0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Real-time monitoring with automated visual and audible alerts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614363" y="3642950"/>
            <a:ext cx="1221581" cy="1035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50" spc="2" kern="0" dirty="0">
                <a:solidFill>
                  <a:srgbClr val="C9A84C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STUDENT</a:t>
            </a:r>
            <a:endParaRPr lang="en-US" sz="550" dirty="0"/>
          </a:p>
        </p:txBody>
      </p:sp>
      <p:sp>
        <p:nvSpPr>
          <p:cNvPr id="7" name="Text 4"/>
          <p:cNvSpPr/>
          <p:nvPr/>
        </p:nvSpPr>
        <p:spPr>
          <a:xfrm>
            <a:off x="614363" y="3775109"/>
            <a:ext cx="1221581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Zaid Ahmed Khazaleh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14363" y="3960847"/>
            <a:ext cx="1221581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A0AEC0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ID: 188472</a:t>
            </a:r>
            <a:endParaRPr lang="en-US" sz="650" dirty="0"/>
          </a:p>
        </p:txBody>
      </p:sp>
      <p:sp>
        <p:nvSpPr>
          <p:cNvPr id="9" name="Text 6"/>
          <p:cNvSpPr/>
          <p:nvPr/>
        </p:nvSpPr>
        <p:spPr>
          <a:xfrm>
            <a:off x="2264569" y="3642950"/>
            <a:ext cx="1434108" cy="10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50" spc="2" kern="0" dirty="0">
                <a:solidFill>
                  <a:srgbClr val="C9A84C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STUDENT</a:t>
            </a:r>
            <a:endParaRPr lang="en-US" sz="550" dirty="0"/>
          </a:p>
        </p:txBody>
      </p:sp>
      <p:sp>
        <p:nvSpPr>
          <p:cNvPr id="10" name="Text 7"/>
          <p:cNvSpPr/>
          <p:nvPr/>
        </p:nvSpPr>
        <p:spPr>
          <a:xfrm>
            <a:off x="2264569" y="3775109"/>
            <a:ext cx="1434108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Ahmad Radwan Ababneh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2264569" y="3960847"/>
            <a:ext cx="1434108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A0AEC0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ID: 172393</a:t>
            </a:r>
            <a:endParaRPr lang="en-US" sz="650" dirty="0"/>
          </a:p>
        </p:txBody>
      </p:sp>
      <p:sp>
        <p:nvSpPr>
          <p:cNvPr id="12" name="Shape 9"/>
          <p:cNvSpPr/>
          <p:nvPr/>
        </p:nvSpPr>
        <p:spPr>
          <a:xfrm>
            <a:off x="6715125" y="0"/>
            <a:ext cx="2428875" cy="5143500"/>
          </a:xfrm>
          <a:prstGeom prst="rect">
            <a:avLst/>
          </a:prstGeom>
          <a:solidFill>
            <a:srgbClr val="0F0F18"/>
          </a:solidFill>
          <a:ln/>
        </p:spPr>
      </p:sp>
      <p:sp>
        <p:nvSpPr>
          <p:cNvPr id="13" name="Shape 10"/>
          <p:cNvSpPr/>
          <p:nvPr/>
        </p:nvSpPr>
        <p:spPr>
          <a:xfrm>
            <a:off x="6715125" y="0"/>
            <a:ext cx="7144" cy="5143500"/>
          </a:xfrm>
          <a:prstGeom prst="rect">
            <a:avLst/>
          </a:prstGeom>
          <a:solidFill>
            <a:srgbClr val="F4EEDB"/>
          </a:solidFill>
          <a:ln/>
        </p:spPr>
      </p:sp>
      <p:sp>
        <p:nvSpPr>
          <p:cNvPr id="14" name="Text 11"/>
          <p:cNvSpPr/>
          <p:nvPr/>
        </p:nvSpPr>
        <p:spPr>
          <a:xfrm>
            <a:off x="7000875" y="1377851"/>
            <a:ext cx="1857375" cy="10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50" spc="2" kern="0" dirty="0">
                <a:solidFill>
                  <a:srgbClr val="00D4AA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SUPERVISOR</a:t>
            </a:r>
            <a:endParaRPr lang="en-US" sz="550" dirty="0"/>
          </a:p>
        </p:txBody>
      </p:sp>
      <p:sp>
        <p:nvSpPr>
          <p:cNvPr id="15" name="Text 12"/>
          <p:cNvSpPr/>
          <p:nvPr/>
        </p:nvSpPr>
        <p:spPr>
          <a:xfrm>
            <a:off x="7000875" y="1552873"/>
            <a:ext cx="1857375" cy="1660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Dr. Assem Bsoul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7000875" y="1747540"/>
            <a:ext cx="1857375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A0AEC0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Department of Computer Engineering</a:t>
            </a:r>
            <a:endParaRPr lang="en-US" sz="650" dirty="0"/>
          </a:p>
        </p:txBody>
      </p:sp>
      <p:sp>
        <p:nvSpPr>
          <p:cNvPr id="17" name="Text 14"/>
          <p:cNvSpPr/>
          <p:nvPr/>
        </p:nvSpPr>
        <p:spPr>
          <a:xfrm>
            <a:off x="7000875" y="2347615"/>
            <a:ext cx="1857375" cy="10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50" spc="2" kern="0" dirty="0">
                <a:solidFill>
                  <a:srgbClr val="00D4AA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ACADEMIC YEAR</a:t>
            </a:r>
            <a:endParaRPr lang="en-US" sz="550" dirty="0"/>
          </a:p>
        </p:txBody>
      </p:sp>
      <p:sp>
        <p:nvSpPr>
          <p:cNvPr id="18" name="Text 15"/>
          <p:cNvSpPr/>
          <p:nvPr/>
        </p:nvSpPr>
        <p:spPr>
          <a:xfrm>
            <a:off x="7000875" y="2522637"/>
            <a:ext cx="1857375" cy="1660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2025 – 2026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7000875" y="2717304"/>
            <a:ext cx="1857375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A0AEC0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Second Semester</a:t>
            </a:r>
            <a:endParaRPr lang="en-US" sz="650" dirty="0"/>
          </a:p>
        </p:txBody>
      </p:sp>
      <p:sp>
        <p:nvSpPr>
          <p:cNvPr id="20" name="Text 17"/>
          <p:cNvSpPr/>
          <p:nvPr/>
        </p:nvSpPr>
        <p:spPr>
          <a:xfrm>
            <a:off x="7000875" y="3317379"/>
            <a:ext cx="1857375" cy="10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50" spc="2" kern="0" dirty="0">
                <a:solidFill>
                  <a:srgbClr val="00D4AA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PLATFORM</a:t>
            </a:r>
            <a:endParaRPr lang="en-US" sz="550" dirty="0"/>
          </a:p>
        </p:txBody>
      </p:sp>
      <p:sp>
        <p:nvSpPr>
          <p:cNvPr id="21" name="Text 18"/>
          <p:cNvSpPr/>
          <p:nvPr/>
        </p:nvSpPr>
        <p:spPr>
          <a:xfrm>
            <a:off x="7000875" y="3492401"/>
            <a:ext cx="1857375" cy="1660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Tinkercad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7000875" y="3687068"/>
            <a:ext cx="1857375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A0AEC0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Arduino Uno Simulation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0F0F18"/>
          </a:solidFill>
          <a:ln/>
        </p:spPr>
      </p:sp>
      <p:sp>
        <p:nvSpPr>
          <p:cNvPr id="4" name="Shape 1"/>
          <p:cNvSpPr/>
          <p:nvPr/>
        </p:nvSpPr>
        <p:spPr>
          <a:xfrm>
            <a:off x="0" y="564356"/>
            <a:ext cx="9144000" cy="7144"/>
          </a:xfrm>
          <a:prstGeom prst="rect">
            <a:avLst/>
          </a:prstGeom>
          <a:solidFill>
            <a:srgbClr val="E9DCB7"/>
          </a:solidFill>
          <a:ln/>
        </p:spPr>
      </p:sp>
      <p:sp>
        <p:nvSpPr>
          <p:cNvPr id="5" name="Text 2"/>
          <p:cNvSpPr/>
          <p:nvPr/>
        </p:nvSpPr>
        <p:spPr>
          <a:xfrm>
            <a:off x="628650" y="165199"/>
            <a:ext cx="3077170" cy="2411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Project Overview &amp; Circuit Design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267105" y="225028"/>
            <a:ext cx="448270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50" spc="2" kern="0" dirty="0">
                <a:solidFill>
                  <a:srgbClr val="C9A84C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01 / 03</a:t>
            </a:r>
            <a:endParaRPr lang="en-US" sz="650" dirty="0"/>
          </a:p>
        </p:txBody>
      </p:sp>
      <p:sp>
        <p:nvSpPr>
          <p:cNvPr id="7" name="Text 4"/>
          <p:cNvSpPr/>
          <p:nvPr/>
        </p:nvSpPr>
        <p:spPr>
          <a:xfrm>
            <a:off x="428625" y="857250"/>
            <a:ext cx="3714750" cy="10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50" spc="2" kern="0" dirty="0">
                <a:solidFill>
                  <a:srgbClr val="00D4AA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THE PROBLEM</a:t>
            </a:r>
            <a:endParaRPr lang="en-US" sz="550" dirty="0"/>
          </a:p>
        </p:txBody>
      </p:sp>
      <p:sp>
        <p:nvSpPr>
          <p:cNvPr id="8" name="Text 5"/>
          <p:cNvSpPr/>
          <p:nvPr/>
        </p:nvSpPr>
        <p:spPr>
          <a:xfrm>
            <a:off x="428625" y="1046559"/>
            <a:ext cx="3714750" cy="8501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Manually checking temperatures in server rooms or storage areas is slow and unreliable. Our system automatically detects when temperature exceeds 30°C and triggers a red LED and buzzer alert, while a green LED confirms normal conditions.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428625" y="2361009"/>
            <a:ext cx="3714750" cy="10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50" spc="2" kern="0" dirty="0">
                <a:solidFill>
                  <a:srgbClr val="00D4AA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COMPONENTS USED</a:t>
            </a:r>
            <a:endParaRPr lang="en-US" sz="550" dirty="0"/>
          </a:p>
        </p:txBody>
      </p:sp>
      <p:sp>
        <p:nvSpPr>
          <p:cNvPr id="10" name="Text 7"/>
          <p:cNvSpPr/>
          <p:nvPr/>
        </p:nvSpPr>
        <p:spPr>
          <a:xfrm>
            <a:off x="428625" y="2550319"/>
            <a:ext cx="1445186" cy="178594"/>
          </a:xfrm>
          <a:prstGeom prst="rect">
            <a:avLst/>
          </a:prstGeom>
          <a:noFill/>
          <a:ln/>
        </p:spPr>
        <p:txBody>
          <a:bodyPr wrap="square" lIns="0" tIns="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550" b="1" spc="2" kern="0" dirty="0">
                <a:solidFill>
                  <a:srgbClr val="C9A84C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COMPONENT</a:t>
            </a:r>
            <a:endParaRPr lang="en-US" sz="550" dirty="0"/>
          </a:p>
        </p:txBody>
      </p:sp>
      <p:sp>
        <p:nvSpPr>
          <p:cNvPr id="11" name="Text 8"/>
          <p:cNvSpPr/>
          <p:nvPr/>
        </p:nvSpPr>
        <p:spPr>
          <a:xfrm>
            <a:off x="1873811" y="2550319"/>
            <a:ext cx="516052" cy="178594"/>
          </a:xfrm>
          <a:prstGeom prst="rect">
            <a:avLst/>
          </a:prstGeom>
          <a:noFill/>
          <a:ln/>
        </p:spPr>
        <p:txBody>
          <a:bodyPr wrap="none" lIns="0" tIns="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550" b="1" spc="2" kern="0" dirty="0">
                <a:solidFill>
                  <a:srgbClr val="C9A84C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QTY</a:t>
            </a:r>
            <a:endParaRPr lang="en-US" sz="550" dirty="0"/>
          </a:p>
        </p:txBody>
      </p:sp>
      <p:sp>
        <p:nvSpPr>
          <p:cNvPr id="12" name="Text 9"/>
          <p:cNvSpPr/>
          <p:nvPr/>
        </p:nvSpPr>
        <p:spPr>
          <a:xfrm>
            <a:off x="2389863" y="2550319"/>
            <a:ext cx="1753512" cy="178594"/>
          </a:xfrm>
          <a:prstGeom prst="rect">
            <a:avLst/>
          </a:prstGeom>
          <a:noFill/>
          <a:ln/>
        </p:spPr>
        <p:txBody>
          <a:bodyPr wrap="square" lIns="0" tIns="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550" b="1" spc="2" kern="0" dirty="0">
                <a:solidFill>
                  <a:srgbClr val="C9A84C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ROLE</a:t>
            </a:r>
            <a:endParaRPr lang="en-US" sz="550" dirty="0"/>
          </a:p>
        </p:txBody>
      </p:sp>
      <p:sp>
        <p:nvSpPr>
          <p:cNvPr id="13" name="Text 10"/>
          <p:cNvSpPr/>
          <p:nvPr/>
        </p:nvSpPr>
        <p:spPr>
          <a:xfrm>
            <a:off x="428625" y="2728913"/>
            <a:ext cx="1445186" cy="219670"/>
          </a:xfrm>
          <a:prstGeom prst="rect">
            <a:avLst/>
          </a:prstGeom>
          <a:noFill/>
          <a:ln/>
        </p:spPr>
        <p:txBody>
          <a:bodyPr wrap="square" lIns="0" tIns="85090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Arduino Uno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1873811" y="2728913"/>
            <a:ext cx="516052" cy="219670"/>
          </a:xfrm>
          <a:prstGeom prst="rect">
            <a:avLst/>
          </a:prstGeom>
          <a:noFill/>
          <a:ln/>
        </p:spPr>
        <p:txBody>
          <a:bodyPr wrap="none" lIns="0" tIns="85090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2389863" y="2728913"/>
            <a:ext cx="1753512" cy="219670"/>
          </a:xfrm>
          <a:prstGeom prst="rect">
            <a:avLst/>
          </a:prstGeom>
          <a:noFill/>
          <a:ln/>
        </p:spPr>
        <p:txBody>
          <a:bodyPr wrap="square" lIns="0" tIns="85090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Main controller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428625" y="2948583"/>
            <a:ext cx="1445186" cy="219670"/>
          </a:xfrm>
          <a:prstGeom prst="rect">
            <a:avLst/>
          </a:prstGeom>
          <a:noFill/>
          <a:ln/>
        </p:spPr>
        <p:txBody>
          <a:bodyPr wrap="square" lIns="0" tIns="85090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TMP36 Sensor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873811" y="2948583"/>
            <a:ext cx="516052" cy="219670"/>
          </a:xfrm>
          <a:prstGeom prst="rect">
            <a:avLst/>
          </a:prstGeom>
          <a:noFill/>
          <a:ln/>
        </p:spPr>
        <p:txBody>
          <a:bodyPr wrap="none" lIns="0" tIns="85090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2389863" y="2948583"/>
            <a:ext cx="1753512" cy="219670"/>
          </a:xfrm>
          <a:prstGeom prst="rect">
            <a:avLst/>
          </a:prstGeom>
          <a:noFill/>
          <a:ln/>
        </p:spPr>
        <p:txBody>
          <a:bodyPr wrap="square" lIns="0" tIns="85090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Reads temperature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428625" y="3168253"/>
            <a:ext cx="1445186" cy="219670"/>
          </a:xfrm>
          <a:prstGeom prst="rect">
            <a:avLst/>
          </a:prstGeom>
          <a:noFill/>
          <a:ln/>
        </p:spPr>
        <p:txBody>
          <a:bodyPr wrap="square" lIns="0" tIns="85090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Green LED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873811" y="3168253"/>
            <a:ext cx="516052" cy="219670"/>
          </a:xfrm>
          <a:prstGeom prst="rect">
            <a:avLst/>
          </a:prstGeom>
          <a:noFill/>
          <a:ln/>
        </p:spPr>
        <p:txBody>
          <a:bodyPr wrap="none" lIns="0" tIns="85090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389863" y="3168253"/>
            <a:ext cx="1753512" cy="219670"/>
          </a:xfrm>
          <a:prstGeom prst="rect">
            <a:avLst/>
          </a:prstGeom>
          <a:noFill/>
          <a:ln/>
        </p:spPr>
        <p:txBody>
          <a:bodyPr wrap="square" lIns="0" tIns="85090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Normal indicator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428625" y="3387923"/>
            <a:ext cx="1445186" cy="219670"/>
          </a:xfrm>
          <a:prstGeom prst="rect">
            <a:avLst/>
          </a:prstGeom>
          <a:noFill/>
          <a:ln/>
        </p:spPr>
        <p:txBody>
          <a:bodyPr wrap="square" lIns="0" tIns="85090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Red LED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1873811" y="3387923"/>
            <a:ext cx="516052" cy="219670"/>
          </a:xfrm>
          <a:prstGeom prst="rect">
            <a:avLst/>
          </a:prstGeom>
          <a:noFill/>
          <a:ln/>
        </p:spPr>
        <p:txBody>
          <a:bodyPr wrap="none" lIns="0" tIns="85090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2389863" y="3387923"/>
            <a:ext cx="1753512" cy="219670"/>
          </a:xfrm>
          <a:prstGeom prst="rect">
            <a:avLst/>
          </a:prstGeom>
          <a:noFill/>
          <a:ln/>
        </p:spPr>
        <p:txBody>
          <a:bodyPr wrap="square" lIns="0" tIns="85090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Alert indicator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428625" y="3607594"/>
            <a:ext cx="1445186" cy="219670"/>
          </a:xfrm>
          <a:prstGeom prst="rect">
            <a:avLst/>
          </a:prstGeom>
          <a:noFill/>
          <a:ln/>
        </p:spPr>
        <p:txBody>
          <a:bodyPr wrap="square" lIns="0" tIns="85090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Piezo Buzzer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1873811" y="3607594"/>
            <a:ext cx="516052" cy="219670"/>
          </a:xfrm>
          <a:prstGeom prst="rect">
            <a:avLst/>
          </a:prstGeom>
          <a:noFill/>
          <a:ln/>
        </p:spPr>
        <p:txBody>
          <a:bodyPr wrap="none" lIns="0" tIns="85090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2389863" y="3607594"/>
            <a:ext cx="1753512" cy="219670"/>
          </a:xfrm>
          <a:prstGeom prst="rect">
            <a:avLst/>
          </a:prstGeom>
          <a:noFill/>
          <a:ln/>
        </p:spPr>
        <p:txBody>
          <a:bodyPr wrap="square" lIns="0" tIns="85090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Audible alarm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428625" y="3827264"/>
            <a:ext cx="1445186" cy="216098"/>
          </a:xfrm>
          <a:prstGeom prst="rect">
            <a:avLst/>
          </a:prstGeom>
          <a:noFill/>
          <a:ln/>
        </p:spPr>
        <p:txBody>
          <a:bodyPr wrap="square" lIns="0" tIns="85090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220Ω Resistors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1873811" y="3827264"/>
            <a:ext cx="516052" cy="216098"/>
          </a:xfrm>
          <a:prstGeom prst="rect">
            <a:avLst/>
          </a:prstGeom>
          <a:noFill/>
          <a:ln/>
        </p:spPr>
        <p:txBody>
          <a:bodyPr wrap="none" lIns="0" tIns="85090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2389863" y="3827264"/>
            <a:ext cx="1753512" cy="216098"/>
          </a:xfrm>
          <a:prstGeom prst="rect">
            <a:avLst/>
          </a:prstGeom>
          <a:noFill/>
          <a:ln/>
        </p:spPr>
        <p:txBody>
          <a:bodyPr wrap="square" lIns="0" tIns="85090" rIns="136017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Protect LEDs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4657725" y="857250"/>
            <a:ext cx="3900488" cy="3814763"/>
          </a:xfrm>
          <a:prstGeom prst="rect">
            <a:avLst/>
          </a:prstGeom>
          <a:solidFill>
            <a:srgbClr val="0F0F18"/>
          </a:solidFill>
          <a:ln w="9144">
            <a:solidFill>
              <a:srgbClr val="C9A84C">
                <a:alpha val="35000"/>
              </a:srgbClr>
            </a:solidFill>
            <a:prstDash val="solid"/>
          </a:ln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0594" y="942975"/>
            <a:ext cx="371475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0F0F18"/>
          </a:solidFill>
          <a:ln/>
        </p:spPr>
      </p:sp>
      <p:sp>
        <p:nvSpPr>
          <p:cNvPr id="4" name="Shape 1"/>
          <p:cNvSpPr/>
          <p:nvPr/>
        </p:nvSpPr>
        <p:spPr>
          <a:xfrm>
            <a:off x="0" y="564356"/>
            <a:ext cx="9144000" cy="7144"/>
          </a:xfrm>
          <a:prstGeom prst="rect">
            <a:avLst/>
          </a:prstGeom>
          <a:solidFill>
            <a:srgbClr val="E9DCB7"/>
          </a:solidFill>
          <a:ln/>
        </p:spPr>
      </p:sp>
      <p:sp>
        <p:nvSpPr>
          <p:cNvPr id="5" name="Text 2"/>
          <p:cNvSpPr/>
          <p:nvPr/>
        </p:nvSpPr>
        <p:spPr>
          <a:xfrm>
            <a:off x="628650" y="165199"/>
            <a:ext cx="1927027" cy="2411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System Logic &amp; Code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243888" y="225028"/>
            <a:ext cx="471488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50" spc="2" kern="0" dirty="0">
                <a:solidFill>
                  <a:srgbClr val="C9A84C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02 / 03</a:t>
            </a:r>
            <a:endParaRPr lang="en-US" sz="650" dirty="0"/>
          </a:p>
        </p:txBody>
      </p:sp>
      <p:sp>
        <p:nvSpPr>
          <p:cNvPr id="7" name="Text 4"/>
          <p:cNvSpPr/>
          <p:nvPr/>
        </p:nvSpPr>
        <p:spPr>
          <a:xfrm>
            <a:off x="428625" y="828675"/>
            <a:ext cx="1857375" cy="10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50" spc="2" kern="0" dirty="0">
                <a:solidFill>
                  <a:srgbClr val="00D4AA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STATE MACHINE</a:t>
            </a:r>
            <a:endParaRPr lang="en-US" sz="550" dirty="0"/>
          </a:p>
        </p:txBody>
      </p:sp>
      <p:sp>
        <p:nvSpPr>
          <p:cNvPr id="8" name="Shape 5"/>
          <p:cNvSpPr/>
          <p:nvPr/>
        </p:nvSpPr>
        <p:spPr>
          <a:xfrm>
            <a:off x="428625" y="1175147"/>
            <a:ext cx="1857375" cy="1234390"/>
          </a:xfrm>
          <a:prstGeom prst="rect">
            <a:avLst/>
          </a:prstGeom>
          <a:solidFill>
            <a:srgbClr val="0F0F18"/>
          </a:solidFill>
          <a:ln/>
        </p:spPr>
      </p:sp>
      <p:sp>
        <p:nvSpPr>
          <p:cNvPr id="9" name="Shape 6"/>
          <p:cNvSpPr/>
          <p:nvPr/>
        </p:nvSpPr>
        <p:spPr>
          <a:xfrm>
            <a:off x="428625" y="1175147"/>
            <a:ext cx="1857375" cy="14288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0" name="Text 7"/>
          <p:cNvSpPr/>
          <p:nvPr/>
        </p:nvSpPr>
        <p:spPr>
          <a:xfrm>
            <a:off x="557213" y="1289447"/>
            <a:ext cx="16002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NORMAL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213" y="1518047"/>
            <a:ext cx="1600200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50" spc="1" kern="0" dirty="0">
                <a:solidFill>
                  <a:srgbClr val="00D4AA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Temp &lt; 30°C</a:t>
            </a:r>
            <a:endParaRPr lang="en-US" sz="650" dirty="0"/>
          </a:p>
        </p:txBody>
      </p:sp>
      <p:sp>
        <p:nvSpPr>
          <p:cNvPr id="12" name="Text 9"/>
          <p:cNvSpPr/>
          <p:nvPr/>
        </p:nvSpPr>
        <p:spPr>
          <a:xfrm>
            <a:off x="557213" y="1710928"/>
            <a:ext cx="1600200" cy="684321"/>
          </a:xfrm>
          <a:prstGeom prst="rect">
            <a:avLst/>
          </a:prstGeom>
          <a:noFill/>
          <a:ln/>
        </p:spPr>
        <p:txBody>
          <a:bodyPr wrap="square" lIns="0" tIns="0" rIns="0" bIns="136017" rtlCol="0" anchor="t">
            <a:spAutoFit/>
          </a:bodyPr>
          <a:lstStyle/>
          <a:p>
            <a:pPr algn="l" indent="0" marL="0">
              <a:lnSpc>
                <a:spcPct val="152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Green LED: ON</a:t>
            </a:r>
            <a:r>
              <a:rPr lang="en-US" sz="7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
</a:t>
            </a:r>
            <a:r>
              <a:rPr lang="en-US" sz="7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Red LED: OFF</a:t>
            </a:r>
            <a:r>
              <a:rPr lang="en-US" sz="7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
</a:t>
            </a:r>
            <a:r>
              <a:rPr lang="en-US" sz="7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Buzzer: OFF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428625" y="2538124"/>
            <a:ext cx="1857375" cy="1234390"/>
          </a:xfrm>
          <a:prstGeom prst="rect">
            <a:avLst/>
          </a:prstGeom>
          <a:solidFill>
            <a:srgbClr val="0F0F18"/>
          </a:solidFill>
          <a:ln/>
        </p:spPr>
      </p:sp>
      <p:sp>
        <p:nvSpPr>
          <p:cNvPr id="14" name="Shape 11"/>
          <p:cNvSpPr/>
          <p:nvPr/>
        </p:nvSpPr>
        <p:spPr>
          <a:xfrm>
            <a:off x="428625" y="2538124"/>
            <a:ext cx="1857375" cy="14288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5" name="Text 12"/>
          <p:cNvSpPr/>
          <p:nvPr/>
        </p:nvSpPr>
        <p:spPr>
          <a:xfrm>
            <a:off x="557213" y="2652424"/>
            <a:ext cx="16002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ALERT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57213" y="2881024"/>
            <a:ext cx="1600200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50" spc="1" kern="0" dirty="0">
                <a:solidFill>
                  <a:srgbClr val="C9A84C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Temp ≥ 30°C</a:t>
            </a:r>
            <a:endParaRPr lang="en-US" sz="650" dirty="0"/>
          </a:p>
        </p:txBody>
      </p:sp>
      <p:sp>
        <p:nvSpPr>
          <p:cNvPr id="17" name="Text 14"/>
          <p:cNvSpPr/>
          <p:nvPr/>
        </p:nvSpPr>
        <p:spPr>
          <a:xfrm>
            <a:off x="557213" y="3073905"/>
            <a:ext cx="1600200" cy="684321"/>
          </a:xfrm>
          <a:prstGeom prst="rect">
            <a:avLst/>
          </a:prstGeom>
          <a:noFill/>
          <a:ln/>
        </p:spPr>
        <p:txBody>
          <a:bodyPr wrap="square" lIns="0" tIns="0" rIns="0" bIns="136017" rtlCol="0" anchor="t">
            <a:spAutoFit/>
          </a:bodyPr>
          <a:lstStyle/>
          <a:p>
            <a:pPr algn="l" indent="0" marL="0">
              <a:lnSpc>
                <a:spcPct val="152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Green LED: OFF</a:t>
            </a:r>
            <a:r>
              <a:rPr lang="en-US" sz="7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
</a:t>
            </a:r>
            <a:r>
              <a:rPr lang="en-US" sz="7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Red LED: ON</a:t>
            </a:r>
            <a:r>
              <a:rPr lang="en-US" sz="7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
</a:t>
            </a:r>
            <a:r>
              <a:rPr lang="en-US" sz="7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Buzzer: 1 kHz</a:t>
            </a:r>
            <a:endParaRPr lang="en-US" sz="750" dirty="0"/>
          </a:p>
        </p:txBody>
      </p:sp>
      <p:sp>
        <p:nvSpPr>
          <p:cNvPr id="18" name="Text 15"/>
          <p:cNvSpPr/>
          <p:nvPr/>
        </p:nvSpPr>
        <p:spPr>
          <a:xfrm>
            <a:off x="2543175" y="828675"/>
            <a:ext cx="3571875" cy="10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50" spc="2" kern="0" dirty="0">
                <a:solidFill>
                  <a:srgbClr val="00D4AA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ARDUINO CORE LOGIC</a:t>
            </a:r>
            <a:endParaRPr lang="en-US" sz="550" dirty="0"/>
          </a:p>
        </p:txBody>
      </p:sp>
      <p:sp>
        <p:nvSpPr>
          <p:cNvPr id="19" name="Shape 16"/>
          <p:cNvSpPr/>
          <p:nvPr/>
        </p:nvSpPr>
        <p:spPr>
          <a:xfrm>
            <a:off x="2543175" y="1032272"/>
            <a:ext cx="3571875" cy="4000277"/>
          </a:xfrm>
          <a:prstGeom prst="rect">
            <a:avLst/>
          </a:prstGeom>
          <a:solidFill>
            <a:srgbClr val="0F0F18"/>
          </a:solidFill>
          <a:ln/>
        </p:spPr>
      </p:sp>
      <p:sp>
        <p:nvSpPr>
          <p:cNvPr id="20" name="Shape 17"/>
          <p:cNvSpPr/>
          <p:nvPr/>
        </p:nvSpPr>
        <p:spPr>
          <a:xfrm>
            <a:off x="2543175" y="1032272"/>
            <a:ext cx="3571875" cy="14288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21" name="Text 18"/>
          <p:cNvSpPr/>
          <p:nvPr/>
        </p:nvSpPr>
        <p:spPr>
          <a:xfrm>
            <a:off x="2714625" y="1175147"/>
            <a:ext cx="3228975" cy="37002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4800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Read sensor and convert to Celsius</a:t>
            </a: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700" b="1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raw  = </a:t>
            </a:r>
            <a:r>
              <a:rPr lang="en-US" sz="750" dirty="0">
                <a:solidFill>
                  <a:srgbClr val="C9A8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analogRead</a:t>
            </a: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(A0);
</a:t>
            </a:r>
            <a:r>
              <a:rPr lang="en-US" sz="700" b="1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</a:t>
            </a: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volt = raw * (</a:t>
            </a:r>
            <a:r>
              <a:rPr lang="en-US" sz="750" dirty="0">
                <a:solidFill>
                  <a:srgbClr val="F6AD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5.0</a:t>
            </a: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 </a:t>
            </a:r>
            <a:r>
              <a:rPr lang="en-US" sz="750" dirty="0">
                <a:solidFill>
                  <a:srgbClr val="F6AD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1023.0</a:t>
            </a: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
</a:t>
            </a:r>
            <a:r>
              <a:rPr lang="en-US" sz="700" b="1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</a:t>
            </a: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temp = (volt - </a:t>
            </a:r>
            <a:r>
              <a:rPr lang="en-US" sz="750" dirty="0">
                <a:solidFill>
                  <a:srgbClr val="F6AD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</a:t>
            </a: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* </a:t>
            </a:r>
            <a:r>
              <a:rPr lang="en-US" sz="750" dirty="0">
                <a:solidFill>
                  <a:srgbClr val="F6AD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100.0</a:t>
            </a: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
</a:t>
            </a: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75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Print to Serial Monitor</a:t>
            </a: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Serial.</a:t>
            </a:r>
            <a:r>
              <a:rPr lang="en-US" sz="750" dirty="0">
                <a:solidFill>
                  <a:srgbClr val="C9A8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750" dirty="0">
                <a:solidFill>
                  <a:srgbClr val="C9A8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"Temp: "</a:t>
            </a: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
</a:t>
            </a: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Serial.</a:t>
            </a:r>
            <a:r>
              <a:rPr lang="en-US" sz="750" dirty="0">
                <a:solidFill>
                  <a:srgbClr val="C9A8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println</a:t>
            </a: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(temp);
</a:t>
            </a: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75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Control outputs based on threshold</a:t>
            </a: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700" b="1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(temp &lt; </a:t>
            </a:r>
            <a:r>
              <a:rPr lang="en-US" sz="750" dirty="0">
                <a:solidFill>
                  <a:srgbClr val="F6AD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30.0</a:t>
            </a: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{
</a:t>
            </a: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750" dirty="0">
                <a:solidFill>
                  <a:srgbClr val="C9A8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digitalWrite</a:t>
            </a: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(greenLED, HIGH);
</a:t>
            </a: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750" dirty="0">
                <a:solidFill>
                  <a:srgbClr val="C9A8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digitalWrite</a:t>
            </a: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(redLED,   LOW);
</a:t>
            </a: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750" dirty="0">
                <a:solidFill>
                  <a:srgbClr val="C9A8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noTone</a:t>
            </a: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(buzzerPin);
</a:t>
            </a: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</a:t>
            </a:r>
            <a:r>
              <a:rPr lang="en-US" sz="700" b="1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
</a:t>
            </a: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750" dirty="0">
                <a:solidFill>
                  <a:srgbClr val="C9A8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digitalWrite</a:t>
            </a: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(greenLED, LOW);
</a:t>
            </a: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750" dirty="0">
                <a:solidFill>
                  <a:srgbClr val="C9A8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digitalWrite</a:t>
            </a: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(redLED,   HIGH);
</a:t>
            </a: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750" dirty="0">
                <a:solidFill>
                  <a:srgbClr val="C9A8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tone</a:t>
            </a: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(buzzerPin, </a:t>
            </a:r>
            <a:r>
              <a:rPr lang="en-US" sz="750" dirty="0">
                <a:solidFill>
                  <a:srgbClr val="F6AD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</a:t>
            </a: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
</a:t>
            </a: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
</a:t>
            </a:r>
            <a:r>
              <a:rPr lang="en-US" sz="750" dirty="0">
                <a:solidFill>
                  <a:srgbClr val="C9A8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delay</a:t>
            </a: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750" dirty="0">
                <a:solidFill>
                  <a:srgbClr val="F6AD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</a:t>
            </a: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750" dirty="0"/>
          </a:p>
        </p:txBody>
      </p:sp>
      <p:sp>
        <p:nvSpPr>
          <p:cNvPr id="22" name="Text 19"/>
          <p:cNvSpPr/>
          <p:nvPr/>
        </p:nvSpPr>
        <p:spPr>
          <a:xfrm>
            <a:off x="6372225" y="828675"/>
            <a:ext cx="2343150" cy="10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50" spc="2" kern="0" dirty="0">
                <a:solidFill>
                  <a:srgbClr val="00D4AA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I / O TABLE</a:t>
            </a:r>
            <a:endParaRPr lang="en-US" sz="550" dirty="0"/>
          </a:p>
        </p:txBody>
      </p:sp>
      <p:sp>
        <p:nvSpPr>
          <p:cNvPr id="23" name="Text 20"/>
          <p:cNvSpPr/>
          <p:nvPr/>
        </p:nvSpPr>
        <p:spPr>
          <a:xfrm>
            <a:off x="6372225" y="1032272"/>
            <a:ext cx="516024" cy="178594"/>
          </a:xfrm>
          <a:prstGeom prst="rect">
            <a:avLst/>
          </a:prstGeom>
          <a:noFill/>
          <a:ln/>
        </p:spPr>
        <p:txBody>
          <a:bodyPr wrap="none" lIns="0" tIns="0" rIns="102108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550" b="1" spc="2" kern="0" dirty="0">
                <a:solidFill>
                  <a:srgbClr val="C9A84C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PIN</a:t>
            </a:r>
            <a:endParaRPr lang="en-US" sz="550" dirty="0"/>
          </a:p>
        </p:txBody>
      </p:sp>
      <p:sp>
        <p:nvSpPr>
          <p:cNvPr id="24" name="Text 21"/>
          <p:cNvSpPr/>
          <p:nvPr/>
        </p:nvSpPr>
        <p:spPr>
          <a:xfrm>
            <a:off x="6888249" y="1032272"/>
            <a:ext cx="632082" cy="178594"/>
          </a:xfrm>
          <a:prstGeom prst="rect">
            <a:avLst/>
          </a:prstGeom>
          <a:noFill/>
          <a:ln/>
        </p:spPr>
        <p:txBody>
          <a:bodyPr wrap="none" lIns="0" tIns="0" rIns="102108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550" b="1" spc="2" kern="0" dirty="0">
                <a:solidFill>
                  <a:srgbClr val="C9A84C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TYPE</a:t>
            </a:r>
            <a:endParaRPr lang="en-US" sz="550" dirty="0"/>
          </a:p>
        </p:txBody>
      </p:sp>
      <p:sp>
        <p:nvSpPr>
          <p:cNvPr id="25" name="Text 22"/>
          <p:cNvSpPr/>
          <p:nvPr/>
        </p:nvSpPr>
        <p:spPr>
          <a:xfrm>
            <a:off x="7520332" y="1032272"/>
            <a:ext cx="1195043" cy="178594"/>
          </a:xfrm>
          <a:prstGeom prst="rect">
            <a:avLst/>
          </a:prstGeom>
          <a:noFill/>
          <a:ln/>
        </p:spPr>
        <p:txBody>
          <a:bodyPr wrap="none" lIns="0" tIns="0" rIns="102108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550" b="1" spc="2" kern="0" dirty="0">
                <a:solidFill>
                  <a:srgbClr val="C9A84C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CONNECTED TO</a:t>
            </a:r>
            <a:endParaRPr lang="en-US" sz="550" dirty="0"/>
          </a:p>
        </p:txBody>
      </p:sp>
      <p:sp>
        <p:nvSpPr>
          <p:cNvPr id="26" name="Text 23"/>
          <p:cNvSpPr/>
          <p:nvPr/>
        </p:nvSpPr>
        <p:spPr>
          <a:xfrm>
            <a:off x="6372225" y="1210866"/>
            <a:ext cx="516024" cy="226814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A0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6888249" y="1210866"/>
            <a:ext cx="632082" cy="226814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Input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7520332" y="1210866"/>
            <a:ext cx="1195043" cy="226814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TMP36 OUT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6372225" y="1437680"/>
            <a:ext cx="516024" cy="226814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Pin 8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6888249" y="1437680"/>
            <a:ext cx="632082" cy="226814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Output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7520332" y="1437680"/>
            <a:ext cx="1195043" cy="226814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00D4AA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Green LED</a:t>
            </a:r>
            <a:endParaRPr lang="en-US" sz="750" dirty="0"/>
          </a:p>
        </p:txBody>
      </p:sp>
      <p:sp>
        <p:nvSpPr>
          <p:cNvPr id="32" name="Text 29"/>
          <p:cNvSpPr/>
          <p:nvPr/>
        </p:nvSpPr>
        <p:spPr>
          <a:xfrm>
            <a:off x="6372225" y="1664494"/>
            <a:ext cx="516024" cy="226814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Pin 9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6888249" y="1664494"/>
            <a:ext cx="632082" cy="226814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Output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7520332" y="1664494"/>
            <a:ext cx="1195043" cy="226814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C9A84C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Red LED</a:t>
            </a:r>
            <a:endParaRPr lang="en-US" sz="750" dirty="0"/>
          </a:p>
        </p:txBody>
      </p:sp>
      <p:sp>
        <p:nvSpPr>
          <p:cNvPr id="35" name="Text 32"/>
          <p:cNvSpPr/>
          <p:nvPr/>
        </p:nvSpPr>
        <p:spPr>
          <a:xfrm>
            <a:off x="6372225" y="1891308"/>
            <a:ext cx="516024" cy="226814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Pin 10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6888249" y="1891308"/>
            <a:ext cx="632082" cy="226814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Output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7520332" y="1891308"/>
            <a:ext cx="1195043" cy="226814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C9A84C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Buzzer</a:t>
            </a:r>
            <a:endParaRPr lang="en-US" sz="750" dirty="0"/>
          </a:p>
        </p:txBody>
      </p:sp>
      <p:sp>
        <p:nvSpPr>
          <p:cNvPr id="38" name="Text 35"/>
          <p:cNvSpPr/>
          <p:nvPr/>
        </p:nvSpPr>
        <p:spPr>
          <a:xfrm>
            <a:off x="6372225" y="2118122"/>
            <a:ext cx="516024" cy="226814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5V</a:t>
            </a:r>
            <a:endParaRPr lang="en-US" sz="800" dirty="0"/>
          </a:p>
        </p:txBody>
      </p:sp>
      <p:sp>
        <p:nvSpPr>
          <p:cNvPr id="39" name="Text 36"/>
          <p:cNvSpPr/>
          <p:nvPr/>
        </p:nvSpPr>
        <p:spPr>
          <a:xfrm>
            <a:off x="6888249" y="2118122"/>
            <a:ext cx="632082" cy="226814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7520332" y="2118122"/>
            <a:ext cx="1195043" cy="226814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TMP36 VCC</a:t>
            </a:r>
            <a:endParaRPr lang="en-US" sz="800" dirty="0"/>
          </a:p>
        </p:txBody>
      </p:sp>
      <p:sp>
        <p:nvSpPr>
          <p:cNvPr id="41" name="Text 38"/>
          <p:cNvSpPr/>
          <p:nvPr/>
        </p:nvSpPr>
        <p:spPr>
          <a:xfrm>
            <a:off x="6372225" y="2344936"/>
            <a:ext cx="516024" cy="223242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GND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6888249" y="2344936"/>
            <a:ext cx="632082" cy="223242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Ground</a:t>
            </a:r>
            <a:endParaRPr lang="en-US" sz="800" dirty="0"/>
          </a:p>
        </p:txBody>
      </p:sp>
      <p:sp>
        <p:nvSpPr>
          <p:cNvPr id="43" name="Text 40"/>
          <p:cNvSpPr/>
          <p:nvPr/>
        </p:nvSpPr>
        <p:spPr>
          <a:xfrm>
            <a:off x="7520332" y="2344936"/>
            <a:ext cx="1195043" cy="223242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All GNDs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0F0F18"/>
          </a:solidFill>
          <a:ln/>
        </p:spPr>
      </p:sp>
      <p:sp>
        <p:nvSpPr>
          <p:cNvPr id="4" name="Shape 1"/>
          <p:cNvSpPr/>
          <p:nvPr/>
        </p:nvSpPr>
        <p:spPr>
          <a:xfrm>
            <a:off x="0" y="564356"/>
            <a:ext cx="9144000" cy="7144"/>
          </a:xfrm>
          <a:prstGeom prst="rect">
            <a:avLst/>
          </a:prstGeom>
          <a:solidFill>
            <a:srgbClr val="E9DCB7"/>
          </a:solidFill>
          <a:ln/>
        </p:spPr>
      </p:sp>
      <p:sp>
        <p:nvSpPr>
          <p:cNvPr id="5" name="Text 2"/>
          <p:cNvSpPr/>
          <p:nvPr/>
        </p:nvSpPr>
        <p:spPr>
          <a:xfrm>
            <a:off x="628650" y="165199"/>
            <a:ext cx="3439716" cy="2411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Test Results, Limitations &amp; Next Steps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242102" y="225028"/>
            <a:ext cx="473273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50" spc="2" kern="0" dirty="0">
                <a:solidFill>
                  <a:srgbClr val="C9A84C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03 / 03</a:t>
            </a:r>
            <a:endParaRPr lang="en-US" sz="650" dirty="0"/>
          </a:p>
        </p:txBody>
      </p:sp>
      <p:sp>
        <p:nvSpPr>
          <p:cNvPr id="7" name="Text 4"/>
          <p:cNvSpPr/>
          <p:nvPr/>
        </p:nvSpPr>
        <p:spPr>
          <a:xfrm>
            <a:off x="428625" y="828675"/>
            <a:ext cx="2714625" cy="10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50" spc="2" kern="0" dirty="0">
                <a:solidFill>
                  <a:srgbClr val="00D4AA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TEST RESULTS</a:t>
            </a:r>
            <a:endParaRPr lang="en-US" sz="550" dirty="0"/>
          </a:p>
        </p:txBody>
      </p:sp>
      <p:sp>
        <p:nvSpPr>
          <p:cNvPr id="8" name="Text 5"/>
          <p:cNvSpPr/>
          <p:nvPr/>
        </p:nvSpPr>
        <p:spPr>
          <a:xfrm>
            <a:off x="428625" y="1032272"/>
            <a:ext cx="563631" cy="178594"/>
          </a:xfrm>
          <a:prstGeom prst="rect">
            <a:avLst/>
          </a:prstGeom>
          <a:noFill/>
          <a:ln/>
        </p:spPr>
        <p:txBody>
          <a:bodyPr wrap="none" lIns="0" tIns="0" rIns="102108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550" b="1" spc="2" kern="0" dirty="0">
                <a:solidFill>
                  <a:srgbClr val="C9A84C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TEST</a:t>
            </a:r>
            <a:endParaRPr lang="en-US" sz="550" dirty="0"/>
          </a:p>
        </p:txBody>
      </p:sp>
      <p:sp>
        <p:nvSpPr>
          <p:cNvPr id="9" name="Text 6"/>
          <p:cNvSpPr/>
          <p:nvPr/>
        </p:nvSpPr>
        <p:spPr>
          <a:xfrm>
            <a:off x="992256" y="1032272"/>
            <a:ext cx="566031" cy="178594"/>
          </a:xfrm>
          <a:prstGeom prst="rect">
            <a:avLst/>
          </a:prstGeom>
          <a:noFill/>
          <a:ln/>
        </p:spPr>
        <p:txBody>
          <a:bodyPr wrap="none" lIns="0" tIns="0" rIns="102108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550" b="1" spc="2" kern="0" dirty="0">
                <a:solidFill>
                  <a:srgbClr val="C9A84C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TEMP</a:t>
            </a:r>
            <a:endParaRPr lang="en-US" sz="550" dirty="0"/>
          </a:p>
        </p:txBody>
      </p:sp>
      <p:sp>
        <p:nvSpPr>
          <p:cNvPr id="10" name="Text 7"/>
          <p:cNvSpPr/>
          <p:nvPr/>
        </p:nvSpPr>
        <p:spPr>
          <a:xfrm>
            <a:off x="1558286" y="1032272"/>
            <a:ext cx="975513" cy="178594"/>
          </a:xfrm>
          <a:prstGeom prst="rect">
            <a:avLst/>
          </a:prstGeom>
          <a:noFill/>
          <a:ln/>
        </p:spPr>
        <p:txBody>
          <a:bodyPr wrap="none" lIns="0" tIns="0" rIns="102108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550" b="1" spc="2" kern="0" dirty="0">
                <a:solidFill>
                  <a:srgbClr val="C9A84C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EXPECTED</a:t>
            </a:r>
            <a:endParaRPr lang="en-US" sz="550" dirty="0"/>
          </a:p>
        </p:txBody>
      </p:sp>
      <p:sp>
        <p:nvSpPr>
          <p:cNvPr id="11" name="Text 8"/>
          <p:cNvSpPr/>
          <p:nvPr/>
        </p:nvSpPr>
        <p:spPr>
          <a:xfrm>
            <a:off x="2533799" y="1032272"/>
            <a:ext cx="609451" cy="178594"/>
          </a:xfrm>
          <a:prstGeom prst="rect">
            <a:avLst/>
          </a:prstGeom>
          <a:noFill/>
          <a:ln/>
        </p:spPr>
        <p:txBody>
          <a:bodyPr wrap="none" lIns="0" tIns="0" rIns="102108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550" b="1" spc="2" kern="0" dirty="0">
                <a:solidFill>
                  <a:srgbClr val="C9A84C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RESULT</a:t>
            </a:r>
            <a:endParaRPr lang="en-US" sz="550" dirty="0"/>
          </a:p>
        </p:txBody>
      </p:sp>
      <p:sp>
        <p:nvSpPr>
          <p:cNvPr id="12" name="Text 9"/>
          <p:cNvSpPr/>
          <p:nvPr/>
        </p:nvSpPr>
        <p:spPr>
          <a:xfrm>
            <a:off x="428625" y="1210866"/>
            <a:ext cx="563631" cy="226814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TC-01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992256" y="1210866"/>
            <a:ext cx="566031" cy="226814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20°C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1558286" y="1293019"/>
            <a:ext cx="494705" cy="1410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00D4AA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Green ON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2533799" y="1210866"/>
            <a:ext cx="609451" cy="226814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D4AA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PASS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428625" y="1437680"/>
            <a:ext cx="563631" cy="226814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TC-02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992256" y="1437680"/>
            <a:ext cx="566031" cy="226814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29.5°C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558286" y="1519833"/>
            <a:ext cx="494705" cy="1410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00D4AA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Green ON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533799" y="1437680"/>
            <a:ext cx="609451" cy="226814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D4AA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PASS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428625" y="1664494"/>
            <a:ext cx="563631" cy="226814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TC-03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992256" y="1664494"/>
            <a:ext cx="566031" cy="226814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30.5°C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558286" y="1746647"/>
            <a:ext cx="637580" cy="1410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C9A84C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Red + Buzzer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533799" y="1664494"/>
            <a:ext cx="609451" cy="226814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D4AA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PASS</a:t>
            </a:r>
            <a:endParaRPr lang="en-US" sz="750" dirty="0"/>
          </a:p>
        </p:txBody>
      </p:sp>
      <p:sp>
        <p:nvSpPr>
          <p:cNvPr id="24" name="Text 21"/>
          <p:cNvSpPr/>
          <p:nvPr/>
        </p:nvSpPr>
        <p:spPr>
          <a:xfrm>
            <a:off x="428625" y="1891308"/>
            <a:ext cx="563631" cy="223242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TC-04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992256" y="1891308"/>
            <a:ext cx="566031" cy="223242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50°C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1558286" y="1973461"/>
            <a:ext cx="637580" cy="1410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C9A84C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Red + Buzzer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2533799" y="1891308"/>
            <a:ext cx="609451" cy="223242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D4AA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PASS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3429000" y="828675"/>
            <a:ext cx="2428875" cy="10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50" spc="2" kern="0" dirty="0">
                <a:solidFill>
                  <a:srgbClr val="00D4AA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LIMITATIONS</a:t>
            </a:r>
            <a:endParaRPr lang="en-US" sz="550" dirty="0"/>
          </a:p>
        </p:txBody>
      </p:sp>
      <p:sp>
        <p:nvSpPr>
          <p:cNvPr id="29" name="Shape 26"/>
          <p:cNvSpPr/>
          <p:nvPr/>
        </p:nvSpPr>
        <p:spPr>
          <a:xfrm>
            <a:off x="3429000" y="1175147"/>
            <a:ext cx="2428875" cy="787208"/>
          </a:xfrm>
          <a:prstGeom prst="rect">
            <a:avLst/>
          </a:prstGeom>
          <a:solidFill>
            <a:srgbClr val="0F0F18"/>
          </a:solidFill>
          <a:ln/>
        </p:spPr>
      </p:sp>
      <p:sp>
        <p:nvSpPr>
          <p:cNvPr id="30" name="Shape 27"/>
          <p:cNvSpPr/>
          <p:nvPr/>
        </p:nvSpPr>
        <p:spPr>
          <a:xfrm>
            <a:off x="3429000" y="1175147"/>
            <a:ext cx="2428875" cy="14288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31" name="Text 28"/>
          <p:cNvSpPr/>
          <p:nvPr/>
        </p:nvSpPr>
        <p:spPr>
          <a:xfrm>
            <a:off x="3557588" y="1289447"/>
            <a:ext cx="217170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9A84C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Hardcoded Threshold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3557588" y="1503759"/>
            <a:ext cx="2171700" cy="3300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30°C limit is fixed in the code. Changing it requires reprogramming the Arduino.</a:t>
            </a:r>
            <a:endParaRPr lang="en-US" sz="750" dirty="0"/>
          </a:p>
        </p:txBody>
      </p:sp>
      <p:sp>
        <p:nvSpPr>
          <p:cNvPr id="33" name="Shape 30"/>
          <p:cNvSpPr/>
          <p:nvPr/>
        </p:nvSpPr>
        <p:spPr>
          <a:xfrm>
            <a:off x="3429000" y="2090942"/>
            <a:ext cx="2428875" cy="787208"/>
          </a:xfrm>
          <a:prstGeom prst="rect">
            <a:avLst/>
          </a:prstGeom>
          <a:solidFill>
            <a:srgbClr val="0F0F18"/>
          </a:solidFill>
          <a:ln/>
        </p:spPr>
      </p:sp>
      <p:sp>
        <p:nvSpPr>
          <p:cNvPr id="34" name="Shape 31"/>
          <p:cNvSpPr/>
          <p:nvPr/>
        </p:nvSpPr>
        <p:spPr>
          <a:xfrm>
            <a:off x="3429000" y="2090942"/>
            <a:ext cx="2428875" cy="14288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35" name="Text 32"/>
          <p:cNvSpPr/>
          <p:nvPr/>
        </p:nvSpPr>
        <p:spPr>
          <a:xfrm>
            <a:off x="3557588" y="2205242"/>
            <a:ext cx="217170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9A84C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No Hysteresis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3557588" y="2419555"/>
            <a:ext cx="2171700" cy="3300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If temperature stays right at 30°C, the alarm keeps switching on and off rapidly.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6143625" y="828675"/>
            <a:ext cx="2571750" cy="10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550" spc="2" kern="0" dirty="0">
                <a:solidFill>
                  <a:srgbClr val="00D4AA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NEXT STEPS</a:t>
            </a:r>
            <a:endParaRPr lang="en-US" sz="550" dirty="0"/>
          </a:p>
        </p:txBody>
      </p:sp>
      <p:sp>
        <p:nvSpPr>
          <p:cNvPr id="38" name="Shape 35"/>
          <p:cNvSpPr/>
          <p:nvPr/>
        </p:nvSpPr>
        <p:spPr>
          <a:xfrm>
            <a:off x="6143625" y="1175147"/>
            <a:ext cx="2571750" cy="727211"/>
          </a:xfrm>
          <a:prstGeom prst="rect">
            <a:avLst/>
          </a:prstGeom>
          <a:solidFill>
            <a:srgbClr val="0F0F18"/>
          </a:solidFill>
          <a:ln/>
        </p:spPr>
      </p:sp>
      <p:sp>
        <p:nvSpPr>
          <p:cNvPr id="39" name="Shape 36"/>
          <p:cNvSpPr/>
          <p:nvPr/>
        </p:nvSpPr>
        <p:spPr>
          <a:xfrm>
            <a:off x="6143625" y="1175147"/>
            <a:ext cx="2571750" cy="14288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0" name="Text 37"/>
          <p:cNvSpPr/>
          <p:nvPr/>
        </p:nvSpPr>
        <p:spPr>
          <a:xfrm>
            <a:off x="6272213" y="1275159"/>
            <a:ext cx="228600" cy="200025"/>
          </a:xfrm>
          <a:prstGeom prst="rect">
            <a:avLst/>
          </a:prstGeom>
          <a:noFill/>
          <a:ln/>
        </p:spPr>
        <p:txBody>
          <a:bodyPr wrap="none" lIns="0" tIns="17018" rIns="0" bIns="0" rtlCol="0" anchor="t">
            <a:spAutoFit/>
          </a:bodyPr>
          <a:lstStyle/>
          <a:p>
            <a:pPr algn="l" indent="0" marL="0">
              <a:lnSpc>
                <a:spcPct val="80000"/>
              </a:lnSpc>
              <a:buNone/>
            </a:pPr>
            <a:r>
              <a:rPr lang="en-US" sz="1300" b="1" dirty="0">
                <a:solidFill>
                  <a:srgbClr val="00D4AA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01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6615113" y="1275159"/>
            <a:ext cx="1971675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Add LCD Display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6615113" y="1468041"/>
            <a:ext cx="1971675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Show live temperature on a small screen instead of just the Serial Monitor.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6143625" y="2030946"/>
            <a:ext cx="2571750" cy="727211"/>
          </a:xfrm>
          <a:prstGeom prst="rect">
            <a:avLst/>
          </a:prstGeom>
          <a:solidFill>
            <a:srgbClr val="0F0F18"/>
          </a:solidFill>
          <a:ln/>
        </p:spPr>
      </p:sp>
      <p:sp>
        <p:nvSpPr>
          <p:cNvPr id="44" name="Shape 41"/>
          <p:cNvSpPr/>
          <p:nvPr/>
        </p:nvSpPr>
        <p:spPr>
          <a:xfrm>
            <a:off x="6143625" y="2030946"/>
            <a:ext cx="2571750" cy="14288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5" name="Text 42"/>
          <p:cNvSpPr/>
          <p:nvPr/>
        </p:nvSpPr>
        <p:spPr>
          <a:xfrm>
            <a:off x="6272213" y="2130958"/>
            <a:ext cx="228600" cy="200025"/>
          </a:xfrm>
          <a:prstGeom prst="rect">
            <a:avLst/>
          </a:prstGeom>
          <a:noFill/>
          <a:ln/>
        </p:spPr>
        <p:txBody>
          <a:bodyPr wrap="none" lIns="0" tIns="17018" rIns="0" bIns="0" rtlCol="0" anchor="t">
            <a:spAutoFit/>
          </a:bodyPr>
          <a:lstStyle/>
          <a:p>
            <a:pPr algn="l" indent="0" marL="0">
              <a:lnSpc>
                <a:spcPct val="80000"/>
              </a:lnSpc>
              <a:buNone/>
            </a:pPr>
            <a:r>
              <a:rPr lang="en-US" sz="1300" b="1" dirty="0">
                <a:solidFill>
                  <a:srgbClr val="00D4AA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02</a:t>
            </a:r>
            <a:endParaRPr lang="en-US" sz="1300" dirty="0"/>
          </a:p>
        </p:txBody>
      </p:sp>
      <p:sp>
        <p:nvSpPr>
          <p:cNvPr id="46" name="Text 43"/>
          <p:cNvSpPr/>
          <p:nvPr/>
        </p:nvSpPr>
        <p:spPr>
          <a:xfrm>
            <a:off x="6615113" y="2130958"/>
            <a:ext cx="1971675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IoT Connectivity</a:t>
            </a:r>
            <a:endParaRPr lang="en-US" sz="850" dirty="0"/>
          </a:p>
        </p:txBody>
      </p:sp>
      <p:sp>
        <p:nvSpPr>
          <p:cNvPr id="47" name="Text 44"/>
          <p:cNvSpPr/>
          <p:nvPr/>
        </p:nvSpPr>
        <p:spPr>
          <a:xfrm>
            <a:off x="6615113" y="2323840"/>
            <a:ext cx="1971675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Use ESP8266 to send Wi-Fi alerts when temperature exceeds the threshold.</a:t>
            </a:r>
            <a:endParaRPr lang="en-US" sz="750" dirty="0"/>
          </a:p>
        </p:txBody>
      </p:sp>
      <p:sp>
        <p:nvSpPr>
          <p:cNvPr id="48" name="Shape 45"/>
          <p:cNvSpPr/>
          <p:nvPr/>
        </p:nvSpPr>
        <p:spPr>
          <a:xfrm>
            <a:off x="6143625" y="2886745"/>
            <a:ext cx="2571750" cy="727211"/>
          </a:xfrm>
          <a:prstGeom prst="rect">
            <a:avLst/>
          </a:prstGeom>
          <a:solidFill>
            <a:srgbClr val="0F0F18"/>
          </a:solidFill>
          <a:ln/>
        </p:spPr>
      </p:sp>
      <p:sp>
        <p:nvSpPr>
          <p:cNvPr id="49" name="Shape 46"/>
          <p:cNvSpPr/>
          <p:nvPr/>
        </p:nvSpPr>
        <p:spPr>
          <a:xfrm>
            <a:off x="6143625" y="2886745"/>
            <a:ext cx="2571750" cy="14288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50" name="Text 47"/>
          <p:cNvSpPr/>
          <p:nvPr/>
        </p:nvSpPr>
        <p:spPr>
          <a:xfrm>
            <a:off x="6272213" y="2986757"/>
            <a:ext cx="228600" cy="200025"/>
          </a:xfrm>
          <a:prstGeom prst="rect">
            <a:avLst/>
          </a:prstGeom>
          <a:noFill/>
          <a:ln/>
        </p:spPr>
        <p:txBody>
          <a:bodyPr wrap="none" lIns="0" tIns="17018" rIns="0" bIns="0" rtlCol="0" anchor="t">
            <a:spAutoFit/>
          </a:bodyPr>
          <a:lstStyle/>
          <a:p>
            <a:pPr algn="l" indent="0" marL="0">
              <a:lnSpc>
                <a:spcPct val="80000"/>
              </a:lnSpc>
              <a:buNone/>
            </a:pPr>
            <a:r>
              <a:rPr lang="en-US" sz="1300" b="1" dirty="0">
                <a:solidFill>
                  <a:srgbClr val="00D4AA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03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6615113" y="2986757"/>
            <a:ext cx="1971675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Adjustable Threshold</a:t>
            </a:r>
            <a:endParaRPr lang="en-US" sz="850" dirty="0"/>
          </a:p>
        </p:txBody>
      </p:sp>
      <p:sp>
        <p:nvSpPr>
          <p:cNvPr id="52" name="Text 49"/>
          <p:cNvSpPr/>
          <p:nvPr/>
        </p:nvSpPr>
        <p:spPr>
          <a:xfrm>
            <a:off x="6615113" y="3179638"/>
            <a:ext cx="1971675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Let the user change the temperature limit via a button or mobile app.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2026-05-16T23:22:24Z</dcterms:created>
  <dcterms:modified xsi:type="dcterms:W3CDTF">2026-05-16T23:22:24Z</dcterms:modified>
</cp:coreProperties>
</file>