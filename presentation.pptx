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57213" y="955672"/>
            <a:ext cx="5872163" cy="121444"/>
          </a:xfrm>
          <a:prstGeom prst="rect">
            <a:avLst/>
          </a:prstGeom>
          <a:noFill/>
          <a:ln/>
        </p:spPr>
        <p:txBody>
          <a:bodyPr wrap="square" lIns="0" tIns="0" rIns="0" bIns="0" rtlCol="0" anchor="t">
            <a:spAutoFit/>
          </a:bodyPr>
          <a:lstStyle/>
          <a:p>
            <a:pPr algn="l" indent="0" marL="0">
              <a:buNone/>
            </a:pPr>
            <a:r>
              <a:rPr lang="en-US" sz="650" b="1" spc="3" kern="0" dirty="0">
                <a:solidFill>
                  <a:srgbClr val="00D4AA"/>
                </a:solidFill>
                <a:latin typeface="DM Sans Bold" pitchFamily="34" charset="0"/>
                <a:ea typeface="DM Sans Bold" pitchFamily="34" charset="-122"/>
                <a:cs typeface="DM Sans Bold" pitchFamily="34" charset="-120"/>
              </a:rPr>
              <a:t>IOT201 — FINAL PROJECT</a:t>
            </a:r>
            <a:endParaRPr lang="en-US" sz="650" dirty="0"/>
          </a:p>
        </p:txBody>
      </p:sp>
      <p:sp>
        <p:nvSpPr>
          <p:cNvPr id="4" name="Text 1"/>
          <p:cNvSpPr/>
          <p:nvPr/>
        </p:nvSpPr>
        <p:spPr>
          <a:xfrm>
            <a:off x="557213" y="1248566"/>
            <a:ext cx="5872163" cy="1080102"/>
          </a:xfrm>
          <a:prstGeom prst="rect">
            <a:avLst/>
          </a:prstGeom>
          <a:noFill/>
          <a:ln/>
        </p:spPr>
        <p:txBody>
          <a:bodyPr wrap="square" lIns="0" tIns="0" rIns="0" bIns="0" rtlCol="0" anchor="t">
            <a:spAutoFit/>
          </a:bodyPr>
          <a:lstStyle/>
          <a:p>
            <a:pPr algn="l" indent="0" marL="0">
              <a:lnSpc>
                <a:spcPct val="84000"/>
              </a:lnSpc>
              <a:buNone/>
            </a:pPr>
            <a:r>
              <a:rPr lang="en-US" sz="3750" b="1" dirty="0">
                <a:solidFill>
                  <a:srgbClr val="C9A84C"/>
                </a:solidFill>
                <a:latin typeface="DM Sans Black" pitchFamily="34" charset="0"/>
                <a:ea typeface="DM Sans Black" pitchFamily="34" charset="-122"/>
                <a:cs typeface="DM Sans Black" pitchFamily="34" charset="-120"/>
              </a:rPr>
              <a:t>Parking</a:t>
            </a:r>
            <a:r>
              <a:rPr lang="en-US" sz="3750" b="1" dirty="0">
                <a:solidFill>
                  <a:srgbClr val="FFFFFF"/>
                </a:solidFill>
                <a:latin typeface="DM Sans Black" pitchFamily="34" charset="0"/>
                <a:ea typeface="DM Sans Black" pitchFamily="34" charset="-122"/>
                <a:cs typeface="DM Sans Black" pitchFamily="34" charset="-120"/>
              </a:rPr>
              <a:t>
</a:t>
            </a:r>
            <a:r>
              <a:rPr lang="en-US" sz="3750" b="1" dirty="0">
                <a:solidFill>
                  <a:srgbClr val="C9A84C"/>
                </a:solidFill>
                <a:latin typeface="DM Sans Black" pitchFamily="34" charset="0"/>
                <a:ea typeface="DM Sans Black" pitchFamily="34" charset="-122"/>
                <a:cs typeface="DM Sans Black" pitchFamily="34" charset="-120"/>
              </a:rPr>
              <a:t>Assistant</a:t>
            </a:r>
            <a:endParaRPr lang="en-US" sz="3750" dirty="0"/>
          </a:p>
        </p:txBody>
      </p:sp>
      <p:sp>
        <p:nvSpPr>
          <p:cNvPr id="5" name="Text 2"/>
          <p:cNvSpPr/>
          <p:nvPr/>
        </p:nvSpPr>
        <p:spPr>
          <a:xfrm>
            <a:off x="557213" y="2764436"/>
            <a:ext cx="5872163" cy="203597"/>
          </a:xfrm>
          <a:prstGeom prst="rect">
            <a:avLst/>
          </a:prstGeom>
          <a:noFill/>
          <a:ln/>
        </p:spPr>
        <p:txBody>
          <a:bodyPr wrap="squar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IoT201 — Introduction to IoTs</a:t>
            </a:r>
            <a:endParaRPr lang="en-US" sz="1150" dirty="0"/>
          </a:p>
        </p:txBody>
      </p:sp>
      <p:sp>
        <p:nvSpPr>
          <p:cNvPr id="6" name="Text 3"/>
          <p:cNvSpPr/>
          <p:nvPr/>
        </p:nvSpPr>
        <p:spPr>
          <a:xfrm>
            <a:off x="557213" y="3010895"/>
            <a:ext cx="5872163" cy="185738"/>
          </a:xfrm>
          <a:prstGeom prst="rect">
            <a:avLst/>
          </a:prstGeom>
          <a:noFill/>
          <a:ln/>
        </p:spPr>
        <p:txBody>
          <a:bodyPr wrap="square" lIns="0" tIns="0" rIns="0" bIns="0" rtlCol="0" anchor="t">
            <a:spAutoFit/>
          </a:bodyPr>
          <a:lstStyle/>
          <a:p>
            <a:pPr algn="l" indent="0" marL="0">
              <a:buNone/>
            </a:pPr>
            <a:r>
              <a:rPr lang="en-US" sz="1050" dirty="0">
                <a:solidFill>
                  <a:srgbClr val="C9A84C"/>
                </a:solidFill>
                <a:latin typeface="DM Sans" pitchFamily="34" charset="0"/>
                <a:ea typeface="DM Sans" pitchFamily="34" charset="-122"/>
                <a:cs typeface="DM Sans" pitchFamily="34" charset="-120"/>
              </a:rPr>
              <a:t>Department of Cybersecurity Engineering</a:t>
            </a:r>
            <a:endParaRPr lang="en-US" sz="1050" dirty="0"/>
          </a:p>
        </p:txBody>
      </p:sp>
      <p:sp>
        <p:nvSpPr>
          <p:cNvPr id="7" name="Text 4"/>
          <p:cNvSpPr/>
          <p:nvPr/>
        </p:nvSpPr>
        <p:spPr>
          <a:xfrm>
            <a:off x="557213" y="3482383"/>
            <a:ext cx="1496616" cy="112514"/>
          </a:xfrm>
          <a:prstGeom prst="rect">
            <a:avLst/>
          </a:prstGeom>
          <a:noFill/>
          <a:ln/>
        </p:spPr>
        <p:txBody>
          <a:bodyPr wrap="square" lIns="0" tIns="0" rIns="0" bIns="0" rtlCol="0" anchor="t">
            <a:spAutoFit/>
          </a:bodyPr>
          <a:lstStyle/>
          <a:p>
            <a:pPr algn="l" indent="0" marL="0">
              <a:buNone/>
            </a:pPr>
            <a:r>
              <a:rPr lang="en-US" sz="600" b="1" spc="2" kern="0" dirty="0">
                <a:solidFill>
                  <a:srgbClr val="00D4AA"/>
                </a:solidFill>
                <a:latin typeface="DM Sans Bold" pitchFamily="34" charset="0"/>
                <a:ea typeface="DM Sans Bold" pitchFamily="34" charset="-122"/>
                <a:cs typeface="DM Sans Bold" pitchFamily="34" charset="-120"/>
              </a:rPr>
              <a:t>STUDENT 01</a:t>
            </a:r>
            <a:endParaRPr lang="en-US" sz="600" dirty="0"/>
          </a:p>
        </p:txBody>
      </p:sp>
      <p:sp>
        <p:nvSpPr>
          <p:cNvPr id="8" name="Text 5"/>
          <p:cNvSpPr/>
          <p:nvPr/>
        </p:nvSpPr>
        <p:spPr>
          <a:xfrm>
            <a:off x="557213" y="3623472"/>
            <a:ext cx="1496616" cy="185738"/>
          </a:xfrm>
          <a:prstGeom prst="rect">
            <a:avLst/>
          </a:prstGeom>
          <a:noFill/>
          <a:ln/>
        </p:spPr>
        <p:txBody>
          <a:bodyPr wrap="square" lIns="0" tIns="0" rIns="0"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Zaid Ahmed Khazaleh</a:t>
            </a:r>
            <a:endParaRPr lang="en-US" sz="1000" dirty="0"/>
          </a:p>
        </p:txBody>
      </p:sp>
      <p:sp>
        <p:nvSpPr>
          <p:cNvPr id="9" name="Text 6"/>
          <p:cNvSpPr/>
          <p:nvPr/>
        </p:nvSpPr>
        <p:spPr>
          <a:xfrm>
            <a:off x="557213" y="3837784"/>
            <a:ext cx="1496616"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ID: 188472</a:t>
            </a:r>
            <a:endParaRPr lang="en-US" sz="950" dirty="0"/>
          </a:p>
        </p:txBody>
      </p:sp>
      <p:sp>
        <p:nvSpPr>
          <p:cNvPr id="10" name="Text 7"/>
          <p:cNvSpPr/>
          <p:nvPr/>
        </p:nvSpPr>
        <p:spPr>
          <a:xfrm>
            <a:off x="2411016" y="3482383"/>
            <a:ext cx="1748433" cy="112514"/>
          </a:xfrm>
          <a:prstGeom prst="rect">
            <a:avLst/>
          </a:prstGeom>
          <a:noFill/>
          <a:ln/>
        </p:spPr>
        <p:txBody>
          <a:bodyPr wrap="square" lIns="0" tIns="0" rIns="0" bIns="0" rtlCol="0" anchor="t">
            <a:spAutoFit/>
          </a:bodyPr>
          <a:lstStyle/>
          <a:p>
            <a:pPr algn="l" indent="0" marL="0">
              <a:buNone/>
            </a:pPr>
            <a:r>
              <a:rPr lang="en-US" sz="600" b="1" spc="2" kern="0" dirty="0">
                <a:solidFill>
                  <a:srgbClr val="00D4AA"/>
                </a:solidFill>
                <a:latin typeface="DM Sans Bold" pitchFamily="34" charset="0"/>
                <a:ea typeface="DM Sans Bold" pitchFamily="34" charset="-122"/>
                <a:cs typeface="DM Sans Bold" pitchFamily="34" charset="-120"/>
              </a:rPr>
              <a:t>STUDENT 02</a:t>
            </a:r>
            <a:endParaRPr lang="en-US" sz="600" dirty="0"/>
          </a:p>
        </p:txBody>
      </p:sp>
      <p:sp>
        <p:nvSpPr>
          <p:cNvPr id="11" name="Text 8"/>
          <p:cNvSpPr/>
          <p:nvPr/>
        </p:nvSpPr>
        <p:spPr>
          <a:xfrm>
            <a:off x="2411016" y="3623472"/>
            <a:ext cx="1748433" cy="185738"/>
          </a:xfrm>
          <a:prstGeom prst="rect">
            <a:avLst/>
          </a:prstGeom>
          <a:noFill/>
          <a:ln/>
        </p:spPr>
        <p:txBody>
          <a:bodyPr wrap="square" lIns="0" tIns="0" rIns="0"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Ahmad Radwan Ababneh</a:t>
            </a:r>
            <a:endParaRPr lang="en-US" sz="1000" dirty="0"/>
          </a:p>
        </p:txBody>
      </p:sp>
      <p:sp>
        <p:nvSpPr>
          <p:cNvPr id="12" name="Text 9"/>
          <p:cNvSpPr/>
          <p:nvPr/>
        </p:nvSpPr>
        <p:spPr>
          <a:xfrm>
            <a:off x="2411016" y="3837784"/>
            <a:ext cx="174843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ID: 172393</a:t>
            </a:r>
            <a:endParaRPr lang="en-US" sz="950" dirty="0"/>
          </a:p>
        </p:txBody>
      </p:sp>
      <p:sp>
        <p:nvSpPr>
          <p:cNvPr id="13" name="Text 10"/>
          <p:cNvSpPr/>
          <p:nvPr/>
        </p:nvSpPr>
        <p:spPr>
          <a:xfrm>
            <a:off x="557213" y="4218189"/>
            <a:ext cx="1071563" cy="112514"/>
          </a:xfrm>
          <a:prstGeom prst="rect">
            <a:avLst/>
          </a:prstGeom>
          <a:noFill/>
          <a:ln/>
        </p:spPr>
        <p:txBody>
          <a:bodyPr wrap="none" lIns="0" tIns="0" rIns="0" bIns="0" rtlCol="0" anchor="t">
            <a:spAutoFit/>
          </a:bodyPr>
          <a:lstStyle/>
          <a:p>
            <a:pPr algn="l" indent="0" marL="0">
              <a:buNone/>
            </a:pPr>
            <a:r>
              <a:rPr lang="en-US" sz="600" b="1" spc="2" kern="0" dirty="0">
                <a:solidFill>
                  <a:srgbClr val="C9A84C"/>
                </a:solidFill>
                <a:latin typeface="DM Sans Bold" pitchFamily="34" charset="0"/>
                <a:ea typeface="DM Sans Bold" pitchFamily="34" charset="-122"/>
                <a:cs typeface="DM Sans Bold" pitchFamily="34" charset="-120"/>
              </a:rPr>
              <a:t>SUPERVISOR</a:t>
            </a:r>
            <a:endParaRPr lang="en-US" sz="600" dirty="0"/>
          </a:p>
        </p:txBody>
      </p:sp>
      <p:sp>
        <p:nvSpPr>
          <p:cNvPr id="14" name="Text 11"/>
          <p:cNvSpPr/>
          <p:nvPr/>
        </p:nvSpPr>
        <p:spPr>
          <a:xfrm>
            <a:off x="557213" y="4359278"/>
            <a:ext cx="1071563" cy="185738"/>
          </a:xfrm>
          <a:prstGeom prst="rect">
            <a:avLst/>
          </a:prstGeom>
          <a:noFill/>
          <a:ln/>
        </p:spPr>
        <p:txBody>
          <a:bodyPr wrap="none" lIns="0" tIns="0" rIns="0" bIns="0" rtlCol="0" anchor="t">
            <a:spAutoFit/>
          </a:bodyPr>
          <a:lstStyle/>
          <a:p>
            <a:pPr algn="l" indent="0" marL="0">
              <a:buNone/>
            </a:pPr>
            <a:r>
              <a:rPr lang="en-US" sz="1050" dirty="0">
                <a:solidFill>
                  <a:srgbClr val="C8D0DC"/>
                </a:solidFill>
                <a:latin typeface="DM Sans Medium" pitchFamily="34" charset="0"/>
                <a:ea typeface="DM Sans Medium" pitchFamily="34" charset="-122"/>
                <a:cs typeface="DM Sans Medium" pitchFamily="34" charset="-120"/>
              </a:rPr>
              <a:t>Dr. Assem Bsoul</a:t>
            </a:r>
            <a:endParaRPr lang="en-US" sz="1050" dirty="0"/>
          </a:p>
        </p:txBody>
      </p:sp>
      <p:sp>
        <p:nvSpPr>
          <p:cNvPr id="15" name="Text 12"/>
          <p:cNvSpPr/>
          <p:nvPr/>
        </p:nvSpPr>
        <p:spPr>
          <a:xfrm>
            <a:off x="2057400" y="4218189"/>
            <a:ext cx="969764" cy="112514"/>
          </a:xfrm>
          <a:prstGeom prst="rect">
            <a:avLst/>
          </a:prstGeom>
          <a:noFill/>
          <a:ln/>
        </p:spPr>
        <p:txBody>
          <a:bodyPr wrap="none" lIns="0" tIns="0" rIns="0" bIns="0" rtlCol="0" anchor="t">
            <a:spAutoFit/>
          </a:bodyPr>
          <a:lstStyle/>
          <a:p>
            <a:pPr algn="l" indent="0" marL="0">
              <a:buNone/>
            </a:pPr>
            <a:r>
              <a:rPr lang="en-US" sz="600" b="1" spc="2" kern="0" dirty="0">
                <a:solidFill>
                  <a:srgbClr val="C9A84C"/>
                </a:solidFill>
                <a:latin typeface="DM Sans Bold" pitchFamily="34" charset="0"/>
                <a:ea typeface="DM Sans Bold" pitchFamily="34" charset="-122"/>
                <a:cs typeface="DM Sans Bold" pitchFamily="34" charset="-120"/>
              </a:rPr>
              <a:t>ACADEMIC YEAR</a:t>
            </a:r>
            <a:endParaRPr lang="en-US" sz="600" dirty="0"/>
          </a:p>
        </p:txBody>
      </p:sp>
      <p:sp>
        <p:nvSpPr>
          <p:cNvPr id="16" name="Text 13"/>
          <p:cNvSpPr/>
          <p:nvPr/>
        </p:nvSpPr>
        <p:spPr>
          <a:xfrm>
            <a:off x="2057400" y="4359278"/>
            <a:ext cx="969764" cy="185738"/>
          </a:xfrm>
          <a:prstGeom prst="rect">
            <a:avLst/>
          </a:prstGeom>
          <a:noFill/>
          <a:ln/>
        </p:spPr>
        <p:txBody>
          <a:bodyPr wrap="none" lIns="0" tIns="0" rIns="0" bIns="0" rtlCol="0" anchor="t">
            <a:spAutoFit/>
          </a:bodyPr>
          <a:lstStyle/>
          <a:p>
            <a:pPr algn="l" indent="0" marL="0">
              <a:buNone/>
            </a:pPr>
            <a:r>
              <a:rPr lang="en-US" sz="1050" dirty="0">
                <a:solidFill>
                  <a:srgbClr val="C8D0DC"/>
                </a:solidFill>
                <a:latin typeface="DM Sans Medium" pitchFamily="34" charset="0"/>
                <a:ea typeface="DM Sans Medium" pitchFamily="34" charset="-122"/>
                <a:cs typeface="DM Sans Medium" pitchFamily="34" charset="-120"/>
              </a:rPr>
              <a:t>2025 — 2026</a:t>
            </a:r>
            <a:endParaRPr lang="en-US" sz="1050" dirty="0"/>
          </a:p>
        </p:txBody>
      </p:sp>
      <p:sp>
        <p:nvSpPr>
          <p:cNvPr id="17" name="Shape 14"/>
          <p:cNvSpPr/>
          <p:nvPr/>
        </p:nvSpPr>
        <p:spPr>
          <a:xfrm>
            <a:off x="6858000" y="0"/>
            <a:ext cx="2286000" cy="5143500"/>
          </a:xfrm>
          <a:prstGeom prst="rect">
            <a:avLst/>
          </a:prstGeom>
          <a:solidFill>
            <a:srgbClr val="0F0F18"/>
          </a:solidFill>
          <a:ln/>
        </p:spPr>
      </p:sp>
      <p:sp>
        <p:nvSpPr>
          <p:cNvPr id="18" name="Text 15"/>
          <p:cNvSpPr/>
          <p:nvPr/>
        </p:nvSpPr>
        <p:spPr>
          <a:xfrm>
            <a:off x="7549158" y="2846784"/>
            <a:ext cx="903684" cy="685800"/>
          </a:xfrm>
          <a:prstGeom prst="rect">
            <a:avLst/>
          </a:prstGeom>
          <a:noFill/>
          <a:ln/>
        </p:spPr>
        <p:txBody>
          <a:bodyPr wrap="none" lIns="0" tIns="0" rIns="0" bIns="0" rtlCol="0" anchor="t">
            <a:spAutoFit/>
          </a:bodyPr>
          <a:lstStyle/>
          <a:p>
            <a:pPr algn="l" indent="0" marL="0">
              <a:lnSpc>
                <a:spcPct val="80000"/>
              </a:lnSpc>
              <a:buNone/>
            </a:pPr>
            <a:r>
              <a:rPr lang="en-US" sz="4950" b="1" dirty="0">
                <a:solidFill>
                  <a:srgbClr val="00D4AA">
                    <a:alpha val="15000"/>
                  </a:srgbClr>
                </a:solidFill>
                <a:latin typeface="DM Sans Black" pitchFamily="34" charset="0"/>
                <a:ea typeface="DM Sans Black" pitchFamily="34" charset="-122"/>
                <a:cs typeface="DM Sans Black" pitchFamily="34" charset="-120"/>
              </a:rPr>
              <a:t>03</a:t>
            </a:r>
            <a:endParaRPr lang="en-US" sz="4950" dirty="0"/>
          </a:p>
        </p:txBody>
      </p:sp>
      <p:sp>
        <p:nvSpPr>
          <p:cNvPr id="19" name="Text 16"/>
          <p:cNvSpPr/>
          <p:nvPr/>
        </p:nvSpPr>
        <p:spPr>
          <a:xfrm>
            <a:off x="7625060" y="3675459"/>
            <a:ext cx="751880" cy="364331"/>
          </a:xfrm>
          <a:prstGeom prst="rect">
            <a:avLst/>
          </a:prstGeom>
          <a:noFill/>
          <a:ln/>
        </p:spPr>
        <p:txBody>
          <a:bodyPr wrap="none" lIns="0" tIns="0" rIns="0" bIns="0" rtlCol="0" anchor="t">
            <a:spAutoFit/>
          </a:bodyPr>
          <a:lstStyle/>
          <a:p>
            <a:pPr algn="ctr" indent="0" marL="0">
              <a:buNone/>
            </a:pPr>
            <a:r>
              <a:rPr lang="en-US" sz="650" b="1" spc="3" kern="0" dirty="0">
                <a:solidFill>
                  <a:srgbClr val="00D4AA"/>
                </a:solidFill>
                <a:latin typeface="DM Sans Bold" pitchFamily="34" charset="0"/>
                <a:ea typeface="DM Sans Bold" pitchFamily="34" charset="-122"/>
                <a:cs typeface="DM Sans Bold" pitchFamily="34" charset="-120"/>
              </a:rPr>
              <a:t>PROJECT</a:t>
            </a:r>
            <a:r>
              <a:rPr lang="en-US" sz="650" b="1" spc="3" kern="0" dirty="0">
                <a:solidFill>
                  <a:srgbClr val="00D4AA"/>
                </a:solidFill>
                <a:latin typeface="DM Sans Bold" pitchFamily="34" charset="0"/>
                <a:ea typeface="DM Sans Bold" pitchFamily="34" charset="-122"/>
                <a:cs typeface="DM Sans Bold" pitchFamily="34" charset="-120"/>
              </a:rPr>
              <a:t>
</a:t>
            </a:r>
            <a:r>
              <a:rPr lang="en-US" sz="650" b="1" spc="3" kern="0" dirty="0">
                <a:solidFill>
                  <a:srgbClr val="00D4AA"/>
                </a:solidFill>
                <a:latin typeface="DM Sans Bold" pitchFamily="34" charset="0"/>
                <a:ea typeface="DM Sans Bold" pitchFamily="34" charset="-122"/>
                <a:cs typeface="DM Sans Bold" pitchFamily="34" charset="-120"/>
              </a:rPr>
              <a:t>PARKING</a:t>
            </a:r>
            <a:r>
              <a:rPr lang="en-US" sz="650" b="1" spc="3" kern="0" dirty="0">
                <a:solidFill>
                  <a:srgbClr val="00D4AA"/>
                </a:solidFill>
                <a:latin typeface="DM Sans Bold" pitchFamily="34" charset="0"/>
                <a:ea typeface="DM Sans Bold" pitchFamily="34" charset="-122"/>
                <a:cs typeface="DM Sans Bold" pitchFamily="34" charset="-120"/>
              </a:rPr>
              <a:t>
</a:t>
            </a:r>
            <a:r>
              <a:rPr lang="en-US" sz="650" b="1" spc="3" kern="0" dirty="0">
                <a:solidFill>
                  <a:srgbClr val="00D4AA"/>
                </a:solidFill>
                <a:latin typeface="DM Sans Bold" pitchFamily="34" charset="0"/>
                <a:ea typeface="DM Sans Bold" pitchFamily="34" charset="-122"/>
                <a:cs typeface="DM Sans Bold" pitchFamily="34" charset="-120"/>
              </a:rPr>
              <a:t>ASSISTANT</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1903809"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Project Overview</a:t>
            </a:r>
            <a:endParaRPr lang="en-US" sz="1600" dirty="0"/>
          </a:p>
        </p:txBody>
      </p:sp>
      <p:sp>
        <p:nvSpPr>
          <p:cNvPr id="6" name="Text 3"/>
          <p:cNvSpPr/>
          <p:nvPr/>
        </p:nvSpPr>
        <p:spPr>
          <a:xfrm>
            <a:off x="8236744" y="227707"/>
            <a:ext cx="478631"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01 / 06</a:t>
            </a:r>
            <a:endParaRPr lang="en-US" sz="700" dirty="0"/>
          </a:p>
        </p:txBody>
      </p:sp>
      <p:sp>
        <p:nvSpPr>
          <p:cNvPr id="7" name="Text 4"/>
          <p:cNvSpPr/>
          <p:nvPr/>
        </p:nvSpPr>
        <p:spPr>
          <a:xfrm>
            <a:off x="428625" y="900113"/>
            <a:ext cx="3714750"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THE PROBLEM</a:t>
            </a:r>
            <a:endParaRPr lang="en-US" sz="650" dirty="0"/>
          </a:p>
        </p:txBody>
      </p:sp>
      <p:sp>
        <p:nvSpPr>
          <p:cNvPr id="8" name="Text 5"/>
          <p:cNvSpPr/>
          <p:nvPr/>
        </p:nvSpPr>
        <p:spPr>
          <a:xfrm>
            <a:off x="428625" y="1135856"/>
            <a:ext cx="3714750" cy="540023"/>
          </a:xfrm>
          <a:prstGeom prst="rect">
            <a:avLst/>
          </a:prstGeom>
          <a:noFill/>
          <a:ln/>
        </p:spPr>
        <p:txBody>
          <a:bodyPr wrap="square" lIns="0" tIns="0" rIns="0" bIns="0" rtlCol="0" anchor="t">
            <a:spAutoFit/>
          </a:bodyPr>
          <a:lstStyle/>
          <a:p>
            <a:pPr algn="l" indent="0" marL="0">
              <a:lnSpc>
                <a:spcPct val="108000"/>
              </a:lnSpc>
              <a:buNone/>
            </a:pPr>
            <a:r>
              <a:rPr lang="en-US" sz="1400" b="1" dirty="0">
                <a:solidFill>
                  <a:srgbClr val="C9A84C"/>
                </a:solidFill>
                <a:latin typeface="DM Sans Bold" pitchFamily="34" charset="0"/>
                <a:ea typeface="DM Sans Bold" pitchFamily="34" charset="-122"/>
                <a:cs typeface="DM Sans Bold" pitchFamily="34" charset="-120"/>
              </a:rPr>
              <a:t>Drivers can't see obstacles</a:t>
            </a:r>
            <a:r>
              <a:rPr lang="en-US" sz="1400" b="1" dirty="0">
                <a:solidFill>
                  <a:srgbClr val="FFFFFF"/>
                </a:solidFill>
                <a:latin typeface="DM Sans Bold" pitchFamily="34" charset="0"/>
                <a:ea typeface="DM Sans Bold" pitchFamily="34" charset="-122"/>
                <a:cs typeface="DM Sans Bold" pitchFamily="34" charset="-120"/>
              </a:rPr>
              <a:t>
</a:t>
            </a:r>
            <a:r>
              <a:rPr lang="en-US" sz="1400" b="1" dirty="0">
                <a:solidFill>
                  <a:srgbClr val="C9A84C"/>
                </a:solidFill>
                <a:latin typeface="DM Sans Bold" pitchFamily="34" charset="0"/>
                <a:ea typeface="DM Sans Bold" pitchFamily="34" charset="-122"/>
                <a:cs typeface="DM Sans Bold" pitchFamily="34" charset="-120"/>
              </a:rPr>
              <a:t>behind them while </a:t>
            </a:r>
            <a:r>
              <a:rPr lang="en-US" sz="1400" b="1" dirty="0">
                <a:solidFill>
                  <a:srgbClr val="C9A84C"/>
                </a:solidFill>
                <a:latin typeface="DM Sans Bold" pitchFamily="34" charset="0"/>
                <a:ea typeface="DM Sans Bold" pitchFamily="34" charset="-122"/>
                <a:cs typeface="DM Sans Bold" pitchFamily="34" charset="-120"/>
              </a:rPr>
              <a:t>parking</a:t>
            </a:r>
            <a:r>
              <a:rPr lang="en-US" sz="1400" b="1" dirty="0">
                <a:solidFill>
                  <a:srgbClr val="C9A84C"/>
                </a:solidFill>
                <a:latin typeface="DM Sans Bold" pitchFamily="34" charset="0"/>
                <a:ea typeface="DM Sans Bold" pitchFamily="34" charset="-122"/>
                <a:cs typeface="DM Sans Bold" pitchFamily="34" charset="-120"/>
              </a:rPr>
              <a:t>.</a:t>
            </a:r>
            <a:endParaRPr lang="en-US" sz="1400" dirty="0"/>
          </a:p>
        </p:txBody>
      </p:sp>
      <p:sp>
        <p:nvSpPr>
          <p:cNvPr id="9" name="Text 6"/>
          <p:cNvSpPr/>
          <p:nvPr/>
        </p:nvSpPr>
        <p:spPr>
          <a:xfrm>
            <a:off x="428625" y="1847329"/>
            <a:ext cx="3714750" cy="1214438"/>
          </a:xfrm>
          <a:prstGeom prst="rect">
            <a:avLst/>
          </a:prstGeom>
          <a:noFill/>
          <a:ln/>
        </p:spPr>
        <p:txBody>
          <a:bodyPr wrap="square" lIns="0" tIns="0" rIns="0" bIns="0" rtlCol="0" anchor="t">
            <a:spAutoFit/>
          </a:bodyPr>
          <a:lstStyle/>
          <a:p>
            <a:pPr algn="l" indent="0" marL="0">
              <a:lnSpc>
                <a:spcPct val="136000"/>
              </a:lnSpc>
              <a:buNone/>
            </a:pPr>
            <a:r>
              <a:rPr lang="en-US" sz="1050" dirty="0">
                <a:solidFill>
                  <a:srgbClr val="C8D0DC"/>
                </a:solidFill>
                <a:latin typeface="DM Sans" pitchFamily="34" charset="0"/>
                <a:ea typeface="DM Sans" pitchFamily="34" charset="-122"/>
                <a:cs typeface="DM Sans" pitchFamily="34" charset="-120"/>
              </a:rPr>
              <a:t>The Parking Assistant is a proximity alert system built on Arduino Uno. It measures the distance between the car and an obstacle in real time, then gives the driver clear visual and audio feedback to help them park safely without hitting anything.</a:t>
            </a:r>
            <a:endParaRPr lang="en-US" sz="1050" dirty="0"/>
          </a:p>
        </p:txBody>
      </p:sp>
      <p:sp>
        <p:nvSpPr>
          <p:cNvPr id="10" name="Shape 7"/>
          <p:cNvSpPr/>
          <p:nvPr/>
        </p:nvSpPr>
        <p:spPr>
          <a:xfrm>
            <a:off x="4500563" y="900113"/>
            <a:ext cx="4214813" cy="1209080"/>
          </a:xfrm>
          <a:prstGeom prst="rect">
            <a:avLst/>
          </a:prstGeom>
          <a:solidFill>
            <a:srgbClr val="0F0F18"/>
          </a:solidFill>
          <a:ln/>
        </p:spPr>
      </p:sp>
      <p:sp>
        <p:nvSpPr>
          <p:cNvPr id="11" name="Shape 8"/>
          <p:cNvSpPr/>
          <p:nvPr/>
        </p:nvSpPr>
        <p:spPr>
          <a:xfrm>
            <a:off x="4500563" y="900113"/>
            <a:ext cx="4214813" cy="21431"/>
          </a:xfrm>
          <a:prstGeom prst="rect">
            <a:avLst/>
          </a:prstGeom>
          <a:solidFill>
            <a:srgbClr val="00D4AA"/>
          </a:solidFill>
          <a:ln/>
        </p:spPr>
      </p:sp>
      <p:sp>
        <p:nvSpPr>
          <p:cNvPr id="12" name="Text 9"/>
          <p:cNvSpPr/>
          <p:nvPr/>
        </p:nvSpPr>
        <p:spPr>
          <a:xfrm>
            <a:off x="4700588" y="1042988"/>
            <a:ext cx="3814763"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STEP 01</a:t>
            </a:r>
            <a:endParaRPr lang="en-US" sz="650" dirty="0"/>
          </a:p>
        </p:txBody>
      </p:sp>
      <p:sp>
        <p:nvSpPr>
          <p:cNvPr id="13" name="Text 10"/>
          <p:cNvSpPr/>
          <p:nvPr/>
        </p:nvSpPr>
        <p:spPr>
          <a:xfrm>
            <a:off x="4700588" y="1221581"/>
            <a:ext cx="3814763"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Measure Distance</a:t>
            </a:r>
            <a:endParaRPr lang="en-US" sz="1200" dirty="0"/>
          </a:p>
        </p:txBody>
      </p:sp>
      <p:sp>
        <p:nvSpPr>
          <p:cNvPr id="14" name="Text 11"/>
          <p:cNvSpPr/>
          <p:nvPr/>
        </p:nvSpPr>
        <p:spPr>
          <a:xfrm>
            <a:off x="4700588" y="1501973"/>
            <a:ext cx="3814763" cy="585788"/>
          </a:xfrm>
          <a:prstGeom prst="rect">
            <a:avLst/>
          </a:prstGeom>
          <a:noFill/>
          <a:ln/>
        </p:spPr>
        <p:txBody>
          <a:bodyPr wrap="square" lIns="0" tIns="0" rIns="0" bIns="170053" rtlCol="0" anchor="t">
            <a:spAutoFit/>
          </a:bodyPr>
          <a:lstStyle/>
          <a:p>
            <a:pPr algn="l" indent="0" marL="0">
              <a:lnSpc>
                <a:spcPct val="124000"/>
              </a:lnSpc>
              <a:buNone/>
            </a:pPr>
            <a:r>
              <a:rPr lang="en-US" sz="1050" dirty="0">
                <a:solidFill>
                  <a:srgbClr val="A0AEC0"/>
                </a:solidFill>
                <a:latin typeface="DM Sans" pitchFamily="34" charset="0"/>
                <a:ea typeface="DM Sans" pitchFamily="34" charset="-122"/>
                <a:cs typeface="DM Sans" pitchFamily="34" charset="-120"/>
              </a:rPr>
              <a:t>Ultrasonic sensor (HC-SR04) sends sound pulses and calculates the distance from the echo return time.</a:t>
            </a:r>
            <a:endParaRPr lang="en-US" sz="1050" dirty="0"/>
          </a:p>
        </p:txBody>
      </p:sp>
      <p:sp>
        <p:nvSpPr>
          <p:cNvPr id="15" name="Shape 12"/>
          <p:cNvSpPr/>
          <p:nvPr/>
        </p:nvSpPr>
        <p:spPr>
          <a:xfrm>
            <a:off x="4500563" y="2244923"/>
            <a:ext cx="4214813" cy="1209080"/>
          </a:xfrm>
          <a:prstGeom prst="rect">
            <a:avLst/>
          </a:prstGeom>
          <a:solidFill>
            <a:srgbClr val="0F0F18"/>
          </a:solidFill>
          <a:ln/>
        </p:spPr>
      </p:sp>
      <p:sp>
        <p:nvSpPr>
          <p:cNvPr id="16" name="Shape 13"/>
          <p:cNvSpPr/>
          <p:nvPr/>
        </p:nvSpPr>
        <p:spPr>
          <a:xfrm>
            <a:off x="4500563" y="2244923"/>
            <a:ext cx="4214813" cy="21431"/>
          </a:xfrm>
          <a:prstGeom prst="rect">
            <a:avLst/>
          </a:prstGeom>
          <a:solidFill>
            <a:srgbClr val="C9A84C"/>
          </a:solidFill>
          <a:ln/>
        </p:spPr>
      </p:sp>
      <p:sp>
        <p:nvSpPr>
          <p:cNvPr id="17" name="Text 14"/>
          <p:cNvSpPr/>
          <p:nvPr/>
        </p:nvSpPr>
        <p:spPr>
          <a:xfrm>
            <a:off x="4700588" y="2387798"/>
            <a:ext cx="3814763" cy="121444"/>
          </a:xfrm>
          <a:prstGeom prst="rect">
            <a:avLst/>
          </a:prstGeom>
          <a:noFill/>
          <a:ln/>
        </p:spPr>
        <p:txBody>
          <a:bodyPr wrap="square" lIns="0" tIns="0" rIns="0" bIns="0" rtlCol="0" anchor="t">
            <a:spAutoFit/>
          </a:bodyPr>
          <a:lstStyle/>
          <a:p>
            <a:pPr algn="l" indent="0" marL="0">
              <a:buNone/>
            </a:pPr>
            <a:r>
              <a:rPr lang="en-US" sz="650" b="1" spc="2" kern="0" dirty="0">
                <a:solidFill>
                  <a:srgbClr val="C9A84C"/>
                </a:solidFill>
                <a:latin typeface="DM Sans Bold" pitchFamily="34" charset="0"/>
                <a:ea typeface="DM Sans Bold" pitchFamily="34" charset="-122"/>
                <a:cs typeface="DM Sans Bold" pitchFamily="34" charset="-120"/>
              </a:rPr>
              <a:t>STEP 02</a:t>
            </a:r>
            <a:endParaRPr lang="en-US" sz="650" dirty="0"/>
          </a:p>
        </p:txBody>
      </p:sp>
      <p:sp>
        <p:nvSpPr>
          <p:cNvPr id="18" name="Text 15"/>
          <p:cNvSpPr/>
          <p:nvPr/>
        </p:nvSpPr>
        <p:spPr>
          <a:xfrm>
            <a:off x="4700588" y="2566392"/>
            <a:ext cx="3814763"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Process &amp; Decide</a:t>
            </a:r>
            <a:endParaRPr lang="en-US" sz="1200" dirty="0"/>
          </a:p>
        </p:txBody>
      </p:sp>
      <p:sp>
        <p:nvSpPr>
          <p:cNvPr id="19" name="Text 16"/>
          <p:cNvSpPr/>
          <p:nvPr/>
        </p:nvSpPr>
        <p:spPr>
          <a:xfrm>
            <a:off x="4700588" y="2846784"/>
            <a:ext cx="3814763" cy="585788"/>
          </a:xfrm>
          <a:prstGeom prst="rect">
            <a:avLst/>
          </a:prstGeom>
          <a:noFill/>
          <a:ln/>
        </p:spPr>
        <p:txBody>
          <a:bodyPr wrap="square" lIns="0" tIns="0" rIns="0" bIns="170053" rtlCol="0" anchor="t">
            <a:spAutoFit/>
          </a:bodyPr>
          <a:lstStyle/>
          <a:p>
            <a:pPr algn="l" indent="0" marL="0">
              <a:lnSpc>
                <a:spcPct val="124000"/>
              </a:lnSpc>
              <a:buNone/>
            </a:pPr>
            <a:r>
              <a:rPr lang="en-US" sz="1050" dirty="0">
                <a:solidFill>
                  <a:srgbClr val="A0AEC0"/>
                </a:solidFill>
                <a:latin typeface="DM Sans" pitchFamily="34" charset="0"/>
                <a:ea typeface="DM Sans" pitchFamily="34" charset="-122"/>
                <a:cs typeface="DM Sans" pitchFamily="34" charset="-120"/>
              </a:rPr>
              <a:t>Arduino reads the distance and decides which state the system is in (Safe, Warning, or STOP).</a:t>
            </a:r>
            <a:endParaRPr lang="en-US" sz="1050" dirty="0"/>
          </a:p>
        </p:txBody>
      </p:sp>
      <p:sp>
        <p:nvSpPr>
          <p:cNvPr id="20" name="Shape 17"/>
          <p:cNvSpPr/>
          <p:nvPr/>
        </p:nvSpPr>
        <p:spPr>
          <a:xfrm>
            <a:off x="4500563" y="3589734"/>
            <a:ext cx="4214813" cy="1209080"/>
          </a:xfrm>
          <a:prstGeom prst="rect">
            <a:avLst/>
          </a:prstGeom>
          <a:solidFill>
            <a:srgbClr val="0F0F18"/>
          </a:solidFill>
          <a:ln/>
        </p:spPr>
      </p:sp>
      <p:sp>
        <p:nvSpPr>
          <p:cNvPr id="21" name="Shape 18"/>
          <p:cNvSpPr/>
          <p:nvPr/>
        </p:nvSpPr>
        <p:spPr>
          <a:xfrm>
            <a:off x="4500563" y="3589734"/>
            <a:ext cx="4214813" cy="21431"/>
          </a:xfrm>
          <a:prstGeom prst="rect">
            <a:avLst/>
          </a:prstGeom>
          <a:solidFill>
            <a:srgbClr val="E53E3E"/>
          </a:solidFill>
          <a:ln/>
        </p:spPr>
      </p:sp>
      <p:sp>
        <p:nvSpPr>
          <p:cNvPr id="22" name="Text 19"/>
          <p:cNvSpPr/>
          <p:nvPr/>
        </p:nvSpPr>
        <p:spPr>
          <a:xfrm>
            <a:off x="4700588" y="3732609"/>
            <a:ext cx="3814763" cy="121444"/>
          </a:xfrm>
          <a:prstGeom prst="rect">
            <a:avLst/>
          </a:prstGeom>
          <a:noFill/>
          <a:ln/>
        </p:spPr>
        <p:txBody>
          <a:bodyPr wrap="square" lIns="0" tIns="0" rIns="0" bIns="0" rtlCol="0" anchor="t">
            <a:spAutoFit/>
          </a:bodyPr>
          <a:lstStyle/>
          <a:p>
            <a:pPr algn="l" indent="0" marL="0">
              <a:buNone/>
            </a:pPr>
            <a:r>
              <a:rPr lang="en-US" sz="650" b="1" spc="2" kern="0" dirty="0">
                <a:solidFill>
                  <a:srgbClr val="E53E3E"/>
                </a:solidFill>
                <a:latin typeface="DM Sans Bold" pitchFamily="34" charset="0"/>
                <a:ea typeface="DM Sans Bold" pitchFamily="34" charset="-122"/>
                <a:cs typeface="DM Sans Bold" pitchFamily="34" charset="-120"/>
              </a:rPr>
              <a:t>STEP 03</a:t>
            </a:r>
            <a:endParaRPr lang="en-US" sz="650" dirty="0"/>
          </a:p>
        </p:txBody>
      </p:sp>
      <p:sp>
        <p:nvSpPr>
          <p:cNvPr id="23" name="Text 20"/>
          <p:cNvSpPr/>
          <p:nvPr/>
        </p:nvSpPr>
        <p:spPr>
          <a:xfrm>
            <a:off x="4700588" y="3911203"/>
            <a:ext cx="3814763"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Alert the Driver</a:t>
            </a:r>
            <a:endParaRPr lang="en-US" sz="1200" dirty="0"/>
          </a:p>
        </p:txBody>
      </p:sp>
      <p:sp>
        <p:nvSpPr>
          <p:cNvPr id="24" name="Text 21"/>
          <p:cNvSpPr/>
          <p:nvPr/>
        </p:nvSpPr>
        <p:spPr>
          <a:xfrm>
            <a:off x="4700588" y="4191595"/>
            <a:ext cx="3814763" cy="585788"/>
          </a:xfrm>
          <a:prstGeom prst="rect">
            <a:avLst/>
          </a:prstGeom>
          <a:noFill/>
          <a:ln/>
        </p:spPr>
        <p:txBody>
          <a:bodyPr wrap="square" lIns="0" tIns="0" rIns="0" bIns="170053" rtlCol="0" anchor="t">
            <a:spAutoFit/>
          </a:bodyPr>
          <a:lstStyle/>
          <a:p>
            <a:pPr algn="l" indent="0" marL="0">
              <a:lnSpc>
                <a:spcPct val="124000"/>
              </a:lnSpc>
              <a:buNone/>
            </a:pPr>
            <a:r>
              <a:rPr lang="en-US" sz="1050" dirty="0">
                <a:solidFill>
                  <a:srgbClr val="A0AEC0"/>
                </a:solidFill>
                <a:latin typeface="DM Sans" pitchFamily="34" charset="0"/>
                <a:ea typeface="DM Sans" pitchFamily="34" charset="-122"/>
                <a:cs typeface="DM Sans" pitchFamily="34" charset="-120"/>
              </a:rPr>
              <a:t>RGB LED changes color, Buzzer beeps, and LCD shows the distance and current status.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3162895"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Components &amp; Connections</a:t>
            </a:r>
            <a:endParaRPr lang="en-US" sz="1600" dirty="0"/>
          </a:p>
        </p:txBody>
      </p:sp>
      <p:sp>
        <p:nvSpPr>
          <p:cNvPr id="6" name="Text 3"/>
          <p:cNvSpPr/>
          <p:nvPr/>
        </p:nvSpPr>
        <p:spPr>
          <a:xfrm>
            <a:off x="8215313" y="227707"/>
            <a:ext cx="500063"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02 / 06</a:t>
            </a:r>
            <a:endParaRPr lang="en-US" sz="700" dirty="0"/>
          </a:p>
        </p:txBody>
      </p:sp>
      <p:sp>
        <p:nvSpPr>
          <p:cNvPr id="7" name="Text 4"/>
          <p:cNvSpPr/>
          <p:nvPr/>
        </p:nvSpPr>
        <p:spPr>
          <a:xfrm>
            <a:off x="428625" y="842963"/>
            <a:ext cx="4429125"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HARDWARE USED</a:t>
            </a:r>
            <a:endParaRPr lang="en-US" sz="650" dirty="0"/>
          </a:p>
        </p:txBody>
      </p:sp>
      <p:sp>
        <p:nvSpPr>
          <p:cNvPr id="8" name="Text 5"/>
          <p:cNvSpPr/>
          <p:nvPr/>
        </p:nvSpPr>
        <p:spPr>
          <a:xfrm>
            <a:off x="428625" y="1078706"/>
            <a:ext cx="1463325"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COMPONENT</a:t>
            </a:r>
            <a:endParaRPr lang="en-US" sz="700" dirty="0"/>
          </a:p>
        </p:txBody>
      </p:sp>
      <p:sp>
        <p:nvSpPr>
          <p:cNvPr id="9" name="Text 6"/>
          <p:cNvSpPr/>
          <p:nvPr/>
        </p:nvSpPr>
        <p:spPr>
          <a:xfrm>
            <a:off x="1891950" y="1078706"/>
            <a:ext cx="1390883"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PIN / CONNECTION</a:t>
            </a:r>
            <a:endParaRPr lang="en-US" sz="700" dirty="0"/>
          </a:p>
        </p:txBody>
      </p:sp>
      <p:sp>
        <p:nvSpPr>
          <p:cNvPr id="10" name="Text 7"/>
          <p:cNvSpPr/>
          <p:nvPr/>
        </p:nvSpPr>
        <p:spPr>
          <a:xfrm>
            <a:off x="3282832" y="1078706"/>
            <a:ext cx="1574918"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ROLE</a:t>
            </a:r>
            <a:endParaRPr lang="en-US" sz="700" dirty="0"/>
          </a:p>
        </p:txBody>
      </p:sp>
      <p:sp>
        <p:nvSpPr>
          <p:cNvPr id="11" name="Text 8"/>
          <p:cNvSpPr/>
          <p:nvPr/>
        </p:nvSpPr>
        <p:spPr>
          <a:xfrm>
            <a:off x="428625" y="1301948"/>
            <a:ext cx="1463325" cy="289322"/>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Arduino Uno</a:t>
            </a:r>
            <a:endParaRPr lang="en-US" sz="1000" dirty="0"/>
          </a:p>
        </p:txBody>
      </p:sp>
      <p:sp>
        <p:nvSpPr>
          <p:cNvPr id="12" name="Text 9"/>
          <p:cNvSpPr/>
          <p:nvPr/>
        </p:nvSpPr>
        <p:spPr>
          <a:xfrm>
            <a:off x="1891950" y="1301948"/>
            <a:ext cx="1390883" cy="289322"/>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a:t>
            </a:r>
            <a:endParaRPr lang="en-US" sz="950" dirty="0"/>
          </a:p>
        </p:txBody>
      </p:sp>
      <p:sp>
        <p:nvSpPr>
          <p:cNvPr id="13" name="Text 10"/>
          <p:cNvSpPr/>
          <p:nvPr/>
        </p:nvSpPr>
        <p:spPr>
          <a:xfrm>
            <a:off x="3282832" y="1301948"/>
            <a:ext cx="1574918" cy="289322"/>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Main controller</a:t>
            </a:r>
            <a:endParaRPr lang="en-US" sz="1050" dirty="0"/>
          </a:p>
        </p:txBody>
      </p:sp>
      <p:sp>
        <p:nvSpPr>
          <p:cNvPr id="14" name="Text 11"/>
          <p:cNvSpPr/>
          <p:nvPr/>
        </p:nvSpPr>
        <p:spPr>
          <a:xfrm>
            <a:off x="428625" y="1591270"/>
            <a:ext cx="1463325" cy="471488"/>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Ultrasonic HC-SR04</a:t>
            </a:r>
            <a:endParaRPr lang="en-US" sz="1000" dirty="0"/>
          </a:p>
        </p:txBody>
      </p:sp>
      <p:sp>
        <p:nvSpPr>
          <p:cNvPr id="15" name="Text 12"/>
          <p:cNvSpPr/>
          <p:nvPr/>
        </p:nvSpPr>
        <p:spPr>
          <a:xfrm>
            <a:off x="1891950" y="1591270"/>
            <a:ext cx="1390883" cy="471488"/>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Trig→D7, Echo→D6</a:t>
            </a:r>
            <a:endParaRPr lang="en-US" sz="950" dirty="0"/>
          </a:p>
        </p:txBody>
      </p:sp>
      <p:sp>
        <p:nvSpPr>
          <p:cNvPr id="16" name="Text 13"/>
          <p:cNvSpPr/>
          <p:nvPr/>
        </p:nvSpPr>
        <p:spPr>
          <a:xfrm>
            <a:off x="3282832" y="1591270"/>
            <a:ext cx="1574918" cy="471488"/>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Measures distance</a:t>
            </a:r>
            <a:endParaRPr lang="en-US" sz="1050" dirty="0"/>
          </a:p>
        </p:txBody>
      </p:sp>
      <p:sp>
        <p:nvSpPr>
          <p:cNvPr id="17" name="Text 14"/>
          <p:cNvSpPr/>
          <p:nvPr/>
        </p:nvSpPr>
        <p:spPr>
          <a:xfrm>
            <a:off x="428625" y="2062758"/>
            <a:ext cx="1463325" cy="432197"/>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RGB LED</a:t>
            </a:r>
            <a:endParaRPr lang="en-US" sz="1000" dirty="0"/>
          </a:p>
        </p:txBody>
      </p:sp>
      <p:sp>
        <p:nvSpPr>
          <p:cNvPr id="18" name="Text 15"/>
          <p:cNvSpPr/>
          <p:nvPr/>
        </p:nvSpPr>
        <p:spPr>
          <a:xfrm>
            <a:off x="1891950" y="2062758"/>
            <a:ext cx="1390883" cy="432197"/>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R→D11, G→D9, B→D10</a:t>
            </a:r>
            <a:endParaRPr lang="en-US" sz="950" dirty="0"/>
          </a:p>
        </p:txBody>
      </p:sp>
      <p:sp>
        <p:nvSpPr>
          <p:cNvPr id="19" name="Text 16"/>
          <p:cNvSpPr/>
          <p:nvPr/>
        </p:nvSpPr>
        <p:spPr>
          <a:xfrm>
            <a:off x="3282832" y="2062758"/>
            <a:ext cx="1574918" cy="432197"/>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Visual alert</a:t>
            </a:r>
            <a:endParaRPr lang="en-US" sz="1050" dirty="0"/>
          </a:p>
        </p:txBody>
      </p:sp>
      <p:sp>
        <p:nvSpPr>
          <p:cNvPr id="20" name="Text 17"/>
          <p:cNvSpPr/>
          <p:nvPr/>
        </p:nvSpPr>
        <p:spPr>
          <a:xfrm>
            <a:off x="428625" y="2494955"/>
            <a:ext cx="1463325" cy="285750"/>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3× Resistor 220Ω</a:t>
            </a:r>
            <a:endParaRPr lang="en-US" sz="1000" dirty="0"/>
          </a:p>
        </p:txBody>
      </p:sp>
      <p:sp>
        <p:nvSpPr>
          <p:cNvPr id="21" name="Text 18"/>
          <p:cNvSpPr/>
          <p:nvPr/>
        </p:nvSpPr>
        <p:spPr>
          <a:xfrm>
            <a:off x="1891950" y="2494955"/>
            <a:ext cx="1390883" cy="285750"/>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Series with RGB pins</a:t>
            </a:r>
            <a:endParaRPr lang="en-US" sz="950" dirty="0"/>
          </a:p>
        </p:txBody>
      </p:sp>
      <p:sp>
        <p:nvSpPr>
          <p:cNvPr id="22" name="Text 19"/>
          <p:cNvSpPr/>
          <p:nvPr/>
        </p:nvSpPr>
        <p:spPr>
          <a:xfrm>
            <a:off x="3282832" y="2494955"/>
            <a:ext cx="1574918" cy="285750"/>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Current limiting</a:t>
            </a:r>
            <a:endParaRPr lang="en-US" sz="1050" dirty="0"/>
          </a:p>
        </p:txBody>
      </p:sp>
      <p:sp>
        <p:nvSpPr>
          <p:cNvPr id="23" name="Text 20"/>
          <p:cNvSpPr/>
          <p:nvPr/>
        </p:nvSpPr>
        <p:spPr>
          <a:xfrm>
            <a:off x="428625" y="2780705"/>
            <a:ext cx="1463325" cy="285750"/>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Piezo Buzzer</a:t>
            </a:r>
            <a:endParaRPr lang="en-US" sz="1000" dirty="0"/>
          </a:p>
        </p:txBody>
      </p:sp>
      <p:sp>
        <p:nvSpPr>
          <p:cNvPr id="24" name="Text 21"/>
          <p:cNvSpPr/>
          <p:nvPr/>
        </p:nvSpPr>
        <p:spPr>
          <a:xfrm>
            <a:off x="1891950" y="2780705"/>
            <a:ext cx="1390883" cy="285750"/>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+→D8, −→GND</a:t>
            </a:r>
            <a:endParaRPr lang="en-US" sz="950" dirty="0"/>
          </a:p>
        </p:txBody>
      </p:sp>
      <p:sp>
        <p:nvSpPr>
          <p:cNvPr id="25" name="Text 22"/>
          <p:cNvSpPr/>
          <p:nvPr/>
        </p:nvSpPr>
        <p:spPr>
          <a:xfrm>
            <a:off x="3282832" y="2780705"/>
            <a:ext cx="1574918" cy="285750"/>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Audio alert</a:t>
            </a:r>
            <a:endParaRPr lang="en-US" sz="1050" dirty="0"/>
          </a:p>
        </p:txBody>
      </p:sp>
      <p:sp>
        <p:nvSpPr>
          <p:cNvPr id="26" name="Text 23"/>
          <p:cNvSpPr/>
          <p:nvPr/>
        </p:nvSpPr>
        <p:spPr>
          <a:xfrm>
            <a:off x="428625" y="3066455"/>
            <a:ext cx="1463325" cy="467916"/>
          </a:xfrm>
          <a:prstGeom prst="rect">
            <a:avLst/>
          </a:prstGeom>
          <a:noFill/>
          <a:ln/>
        </p:spPr>
        <p:txBody>
          <a:bodyPr wrap="square" lIns="0" tIns="110617" rIns="136017" bIns="0" rtlCol="0" anchor="t">
            <a:spAutoFit/>
          </a:bodyPr>
          <a:lstStyle/>
          <a:p>
            <a:pPr algn="l" indent="0" marL="0">
              <a:buNone/>
            </a:pPr>
            <a:r>
              <a:rPr lang="en-US" sz="1000" b="1" dirty="0">
                <a:solidFill>
                  <a:srgbClr val="FFFFFF"/>
                </a:solidFill>
                <a:latin typeface="DM Sans Bold" pitchFamily="34" charset="0"/>
                <a:ea typeface="DM Sans Bold" pitchFamily="34" charset="-122"/>
                <a:cs typeface="DM Sans Bold" pitchFamily="34" charset="-120"/>
              </a:rPr>
              <a:t>LCD 16×2 I2C</a:t>
            </a:r>
            <a:endParaRPr lang="en-US" sz="1000" dirty="0"/>
          </a:p>
        </p:txBody>
      </p:sp>
      <p:sp>
        <p:nvSpPr>
          <p:cNvPr id="27" name="Text 24"/>
          <p:cNvSpPr/>
          <p:nvPr/>
        </p:nvSpPr>
        <p:spPr>
          <a:xfrm>
            <a:off x="1891950" y="3066455"/>
            <a:ext cx="1390883" cy="467916"/>
          </a:xfrm>
          <a:prstGeom prst="rect">
            <a:avLst/>
          </a:prstGeom>
          <a:noFill/>
          <a:ln/>
        </p:spPr>
        <p:txBody>
          <a:bodyPr wrap="square" lIns="0" tIns="110617" rIns="136017" bIns="0" rtlCol="0" anchor="t">
            <a:spAutoFit/>
          </a:bodyPr>
          <a:lstStyle/>
          <a:p>
            <a:pPr algn="l" indent="0" marL="0">
              <a:buNone/>
            </a:pPr>
            <a:r>
              <a:rPr lang="en-US" sz="950" dirty="0">
                <a:solidFill>
                  <a:srgbClr val="00D4AA"/>
                </a:solidFill>
                <a:latin typeface="DM Sans Medium" pitchFamily="34" charset="0"/>
                <a:ea typeface="DM Sans Medium" pitchFamily="34" charset="-122"/>
                <a:cs typeface="DM Sans Medium" pitchFamily="34" charset="-120"/>
              </a:rPr>
              <a:t>SDA→A4, SCL→A5</a:t>
            </a:r>
            <a:endParaRPr lang="en-US" sz="950" dirty="0"/>
          </a:p>
        </p:txBody>
      </p:sp>
      <p:sp>
        <p:nvSpPr>
          <p:cNvPr id="28" name="Text 25"/>
          <p:cNvSpPr/>
          <p:nvPr/>
        </p:nvSpPr>
        <p:spPr>
          <a:xfrm>
            <a:off x="3282832" y="3066455"/>
            <a:ext cx="1574918" cy="467916"/>
          </a:xfrm>
          <a:prstGeom prst="rect">
            <a:avLst/>
          </a:prstGeom>
          <a:noFill/>
          <a:ln/>
        </p:spPr>
        <p:txBody>
          <a:bodyPr wrap="square" lIns="0" tIns="110617"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Shows distance &amp; state</a:t>
            </a:r>
            <a:endParaRPr lang="en-US" sz="1050" dirty="0"/>
          </a:p>
        </p:txBody>
      </p:sp>
      <p:sp>
        <p:nvSpPr>
          <p:cNvPr id="29" name="Text 26"/>
          <p:cNvSpPr/>
          <p:nvPr/>
        </p:nvSpPr>
        <p:spPr>
          <a:xfrm>
            <a:off x="6416873" y="1017984"/>
            <a:ext cx="1096566" cy="121444"/>
          </a:xfrm>
          <a:prstGeom prst="rect">
            <a:avLst/>
          </a:prstGeom>
          <a:noFill/>
          <a:ln/>
        </p:spPr>
        <p:txBody>
          <a:bodyPr wrap="non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WIRING DIAGRAM</a:t>
            </a:r>
            <a:endParaRPr lang="en-US" sz="650" dirty="0"/>
          </a:p>
        </p:txBody>
      </p:sp>
      <p:pic>
        <p:nvPicPr>
          <p:cNvPr id="30" name="Image 1" descr="preencoded.png">    </p:cNvPr>
          <p:cNvPicPr>
            <a:picLocks noChangeAspect="1"/>
          </p:cNvPicPr>
          <p:nvPr/>
        </p:nvPicPr>
        <p:blipFill>
          <a:blip r:embed="rId2"/>
          <a:stretch>
            <a:fillRect/>
          </a:stretch>
        </p:blipFill>
        <p:spPr>
          <a:xfrm>
            <a:off x="5250656" y="1396603"/>
            <a:ext cx="3429000" cy="3429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2509242"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I/O Table &amp; Thresholds</a:t>
            </a:r>
            <a:endParaRPr lang="en-US" sz="1600" dirty="0"/>
          </a:p>
        </p:txBody>
      </p:sp>
      <p:sp>
        <p:nvSpPr>
          <p:cNvPr id="6" name="Text 3"/>
          <p:cNvSpPr/>
          <p:nvPr/>
        </p:nvSpPr>
        <p:spPr>
          <a:xfrm>
            <a:off x="8211741" y="227707"/>
            <a:ext cx="503634"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03 / 06</a:t>
            </a:r>
            <a:endParaRPr lang="en-US" sz="700" dirty="0"/>
          </a:p>
        </p:txBody>
      </p:sp>
      <p:sp>
        <p:nvSpPr>
          <p:cNvPr id="7" name="Text 4"/>
          <p:cNvSpPr/>
          <p:nvPr/>
        </p:nvSpPr>
        <p:spPr>
          <a:xfrm>
            <a:off x="428625" y="842963"/>
            <a:ext cx="3857625"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INPUT / OUTPUT MAPPING</a:t>
            </a:r>
            <a:endParaRPr lang="en-US" sz="650" dirty="0"/>
          </a:p>
        </p:txBody>
      </p:sp>
      <p:sp>
        <p:nvSpPr>
          <p:cNvPr id="8" name="Text 5"/>
          <p:cNvSpPr/>
          <p:nvPr/>
        </p:nvSpPr>
        <p:spPr>
          <a:xfrm>
            <a:off x="428625" y="1078706"/>
            <a:ext cx="1003808" cy="223242"/>
          </a:xfrm>
          <a:prstGeom prst="rect">
            <a:avLst/>
          </a:prstGeom>
          <a:noFill/>
          <a:ln/>
        </p:spPr>
        <p:txBody>
          <a:bodyPr wrap="non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TYPE</a:t>
            </a:r>
            <a:endParaRPr lang="en-US" sz="700" dirty="0"/>
          </a:p>
        </p:txBody>
      </p:sp>
      <p:sp>
        <p:nvSpPr>
          <p:cNvPr id="9" name="Text 6"/>
          <p:cNvSpPr/>
          <p:nvPr/>
        </p:nvSpPr>
        <p:spPr>
          <a:xfrm>
            <a:off x="1432433" y="1078706"/>
            <a:ext cx="1800030" cy="223242"/>
          </a:xfrm>
          <a:prstGeom prst="rect">
            <a:avLst/>
          </a:prstGeom>
          <a:noFill/>
          <a:ln/>
        </p:spPr>
        <p:txBody>
          <a:bodyPr wrap="squar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COMPONENT</a:t>
            </a:r>
            <a:endParaRPr lang="en-US" sz="700" dirty="0"/>
          </a:p>
        </p:txBody>
      </p:sp>
      <p:sp>
        <p:nvSpPr>
          <p:cNvPr id="10" name="Text 7"/>
          <p:cNvSpPr/>
          <p:nvPr/>
        </p:nvSpPr>
        <p:spPr>
          <a:xfrm>
            <a:off x="3232463" y="1078706"/>
            <a:ext cx="1053787" cy="223242"/>
          </a:xfrm>
          <a:prstGeom prst="rect">
            <a:avLst/>
          </a:prstGeom>
          <a:noFill/>
          <a:ln/>
        </p:spPr>
        <p:txBody>
          <a:bodyPr wrap="none" lIns="0" tIns="0" rIns="136017" bIns="102108" rtlCol="0" anchor="ctr">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PIN</a:t>
            </a:r>
            <a:endParaRPr lang="en-US" sz="700" dirty="0"/>
          </a:p>
        </p:txBody>
      </p:sp>
      <p:sp>
        <p:nvSpPr>
          <p:cNvPr id="11" name="Text 8"/>
          <p:cNvSpPr/>
          <p:nvPr/>
        </p:nvSpPr>
        <p:spPr>
          <a:xfrm>
            <a:off x="428625" y="1301948"/>
            <a:ext cx="1003808" cy="296466"/>
          </a:xfrm>
          <a:prstGeom prst="rect">
            <a:avLst/>
          </a:prstGeom>
          <a:noFill/>
          <a:ln/>
        </p:spPr>
        <p:txBody>
          <a:bodyPr wrap="none" lIns="0" tIns="119126" rIns="136017" bIns="0" rtlCol="0" anchor="t">
            <a:spAutoFit/>
          </a:bodyPr>
          <a:lstStyle/>
          <a:p>
            <a:pPr algn="l" indent="0" marL="0">
              <a:buNone/>
            </a:pPr>
            <a:r>
              <a:rPr lang="en-US" sz="1000" b="1" dirty="0">
                <a:solidFill>
                  <a:srgbClr val="00D4AA"/>
                </a:solidFill>
                <a:latin typeface="DM Sans Bold" pitchFamily="34" charset="0"/>
                <a:ea typeface="DM Sans Bold" pitchFamily="34" charset="-122"/>
                <a:cs typeface="DM Sans Bold" pitchFamily="34" charset="-120"/>
              </a:rPr>
              <a:t>INPUT</a:t>
            </a:r>
            <a:endParaRPr lang="en-US" sz="1000" dirty="0"/>
          </a:p>
        </p:txBody>
      </p:sp>
      <p:sp>
        <p:nvSpPr>
          <p:cNvPr id="12" name="Text 9"/>
          <p:cNvSpPr/>
          <p:nvPr/>
        </p:nvSpPr>
        <p:spPr>
          <a:xfrm>
            <a:off x="1432433" y="1301948"/>
            <a:ext cx="1800030" cy="296466"/>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Ultrasonic Echo</a:t>
            </a:r>
            <a:endParaRPr lang="en-US" sz="1050" dirty="0"/>
          </a:p>
        </p:txBody>
      </p:sp>
      <p:sp>
        <p:nvSpPr>
          <p:cNvPr id="13" name="Text 10"/>
          <p:cNvSpPr/>
          <p:nvPr/>
        </p:nvSpPr>
        <p:spPr>
          <a:xfrm>
            <a:off x="3232463" y="1301948"/>
            <a:ext cx="1053787" cy="296466"/>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D6</a:t>
            </a:r>
            <a:endParaRPr lang="en-US" sz="1050" dirty="0"/>
          </a:p>
        </p:txBody>
      </p:sp>
      <p:sp>
        <p:nvSpPr>
          <p:cNvPr id="14" name="Text 11"/>
          <p:cNvSpPr/>
          <p:nvPr/>
        </p:nvSpPr>
        <p:spPr>
          <a:xfrm>
            <a:off x="428625" y="1598414"/>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15" name="Text 12"/>
          <p:cNvSpPr/>
          <p:nvPr/>
        </p:nvSpPr>
        <p:spPr>
          <a:xfrm>
            <a:off x="1432433" y="1598414"/>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Ultrasonic Trig</a:t>
            </a:r>
            <a:endParaRPr lang="en-US" sz="1050" dirty="0"/>
          </a:p>
        </p:txBody>
      </p:sp>
      <p:sp>
        <p:nvSpPr>
          <p:cNvPr id="16" name="Text 13"/>
          <p:cNvSpPr/>
          <p:nvPr/>
        </p:nvSpPr>
        <p:spPr>
          <a:xfrm>
            <a:off x="3232463" y="1598414"/>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D7</a:t>
            </a:r>
            <a:endParaRPr lang="en-US" sz="1050" dirty="0"/>
          </a:p>
        </p:txBody>
      </p:sp>
      <p:sp>
        <p:nvSpPr>
          <p:cNvPr id="17" name="Text 14"/>
          <p:cNvSpPr/>
          <p:nvPr/>
        </p:nvSpPr>
        <p:spPr>
          <a:xfrm>
            <a:off x="428625" y="1891308"/>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18" name="Text 15"/>
          <p:cNvSpPr/>
          <p:nvPr/>
        </p:nvSpPr>
        <p:spPr>
          <a:xfrm>
            <a:off x="1432433" y="1891308"/>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RGB LED (Red)</a:t>
            </a:r>
            <a:endParaRPr lang="en-US" sz="1050" dirty="0"/>
          </a:p>
        </p:txBody>
      </p:sp>
      <p:sp>
        <p:nvSpPr>
          <p:cNvPr id="19" name="Text 16"/>
          <p:cNvSpPr/>
          <p:nvPr/>
        </p:nvSpPr>
        <p:spPr>
          <a:xfrm>
            <a:off x="3232463" y="1891308"/>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D11</a:t>
            </a:r>
            <a:endParaRPr lang="en-US" sz="1050" dirty="0"/>
          </a:p>
        </p:txBody>
      </p:sp>
      <p:sp>
        <p:nvSpPr>
          <p:cNvPr id="20" name="Text 17"/>
          <p:cNvSpPr/>
          <p:nvPr/>
        </p:nvSpPr>
        <p:spPr>
          <a:xfrm>
            <a:off x="428625" y="2184202"/>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21" name="Text 18"/>
          <p:cNvSpPr/>
          <p:nvPr/>
        </p:nvSpPr>
        <p:spPr>
          <a:xfrm>
            <a:off x="1432433" y="2184202"/>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RGB LED (Green)</a:t>
            </a:r>
            <a:endParaRPr lang="en-US" sz="1050" dirty="0"/>
          </a:p>
        </p:txBody>
      </p:sp>
      <p:sp>
        <p:nvSpPr>
          <p:cNvPr id="22" name="Text 19"/>
          <p:cNvSpPr/>
          <p:nvPr/>
        </p:nvSpPr>
        <p:spPr>
          <a:xfrm>
            <a:off x="3232463" y="2184202"/>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D9</a:t>
            </a:r>
            <a:endParaRPr lang="en-US" sz="1050" dirty="0"/>
          </a:p>
        </p:txBody>
      </p:sp>
      <p:sp>
        <p:nvSpPr>
          <p:cNvPr id="23" name="Text 20"/>
          <p:cNvSpPr/>
          <p:nvPr/>
        </p:nvSpPr>
        <p:spPr>
          <a:xfrm>
            <a:off x="428625" y="2477095"/>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24" name="Text 21"/>
          <p:cNvSpPr/>
          <p:nvPr/>
        </p:nvSpPr>
        <p:spPr>
          <a:xfrm>
            <a:off x="1432433" y="2477095"/>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RGB LED (Blue)</a:t>
            </a:r>
            <a:endParaRPr lang="en-US" sz="1050" dirty="0"/>
          </a:p>
        </p:txBody>
      </p:sp>
      <p:sp>
        <p:nvSpPr>
          <p:cNvPr id="25" name="Text 22"/>
          <p:cNvSpPr/>
          <p:nvPr/>
        </p:nvSpPr>
        <p:spPr>
          <a:xfrm>
            <a:off x="3232463" y="2477095"/>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D10</a:t>
            </a:r>
            <a:endParaRPr lang="en-US" sz="1050" dirty="0"/>
          </a:p>
        </p:txBody>
      </p:sp>
      <p:sp>
        <p:nvSpPr>
          <p:cNvPr id="26" name="Text 23"/>
          <p:cNvSpPr/>
          <p:nvPr/>
        </p:nvSpPr>
        <p:spPr>
          <a:xfrm>
            <a:off x="428625" y="2769989"/>
            <a:ext cx="1003808" cy="292894"/>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27" name="Text 24"/>
          <p:cNvSpPr/>
          <p:nvPr/>
        </p:nvSpPr>
        <p:spPr>
          <a:xfrm>
            <a:off x="1432433" y="2769989"/>
            <a:ext cx="1800030" cy="292894"/>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Piezo Buzzer</a:t>
            </a:r>
            <a:endParaRPr lang="en-US" sz="1050" dirty="0"/>
          </a:p>
        </p:txBody>
      </p:sp>
      <p:sp>
        <p:nvSpPr>
          <p:cNvPr id="28" name="Text 25"/>
          <p:cNvSpPr/>
          <p:nvPr/>
        </p:nvSpPr>
        <p:spPr>
          <a:xfrm>
            <a:off x="3232463" y="2769989"/>
            <a:ext cx="1053787" cy="292894"/>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D8</a:t>
            </a:r>
            <a:endParaRPr lang="en-US" sz="1050" dirty="0"/>
          </a:p>
        </p:txBody>
      </p:sp>
      <p:sp>
        <p:nvSpPr>
          <p:cNvPr id="29" name="Text 26"/>
          <p:cNvSpPr/>
          <p:nvPr/>
        </p:nvSpPr>
        <p:spPr>
          <a:xfrm>
            <a:off x="428625" y="3062883"/>
            <a:ext cx="1003808" cy="289322"/>
          </a:xfrm>
          <a:prstGeom prst="rect">
            <a:avLst/>
          </a:prstGeom>
          <a:noFill/>
          <a:ln/>
        </p:spPr>
        <p:txBody>
          <a:bodyPr wrap="none" lIns="0" tIns="119126" rIns="136017" bIns="0" rtlCol="0" anchor="t">
            <a:spAutoFit/>
          </a:bodyPr>
          <a:lstStyle/>
          <a:p>
            <a:pPr algn="l" indent="0" marL="0">
              <a:buNone/>
            </a:pPr>
            <a:r>
              <a:rPr lang="en-US" sz="1000" b="1" dirty="0">
                <a:solidFill>
                  <a:srgbClr val="F6AD55"/>
                </a:solidFill>
                <a:latin typeface="DM Sans Bold" pitchFamily="34" charset="0"/>
                <a:ea typeface="DM Sans Bold" pitchFamily="34" charset="-122"/>
                <a:cs typeface="DM Sans Bold" pitchFamily="34" charset="-120"/>
              </a:rPr>
              <a:t>OUTPUT</a:t>
            </a:r>
            <a:endParaRPr lang="en-US" sz="1000" dirty="0"/>
          </a:p>
        </p:txBody>
      </p:sp>
      <p:sp>
        <p:nvSpPr>
          <p:cNvPr id="30" name="Text 27"/>
          <p:cNvSpPr/>
          <p:nvPr/>
        </p:nvSpPr>
        <p:spPr>
          <a:xfrm>
            <a:off x="1432433" y="3062883"/>
            <a:ext cx="1800030" cy="289322"/>
          </a:xfrm>
          <a:prstGeom prst="rect">
            <a:avLst/>
          </a:prstGeom>
          <a:noFill/>
          <a:ln/>
        </p:spPr>
        <p:txBody>
          <a:bodyPr wrap="square" lIns="0" tIns="119126" rIns="136017" bIns="0" rtlCol="0" anchor="t">
            <a:spAutoFit/>
          </a:bodyPr>
          <a:lstStyle/>
          <a:p>
            <a:pPr algn="l" indent="0" marL="0">
              <a:buNone/>
            </a:pPr>
            <a:r>
              <a:rPr lang="en-US" sz="1050" dirty="0">
                <a:solidFill>
                  <a:srgbClr val="C8D0DC"/>
                </a:solidFill>
                <a:latin typeface="DM Sans" pitchFamily="34" charset="0"/>
                <a:ea typeface="DM Sans" pitchFamily="34" charset="-122"/>
                <a:cs typeface="DM Sans" pitchFamily="34" charset="-120"/>
              </a:rPr>
              <a:t>LCD 16x2 I2C</a:t>
            </a:r>
            <a:endParaRPr lang="en-US" sz="1050" dirty="0"/>
          </a:p>
        </p:txBody>
      </p:sp>
      <p:sp>
        <p:nvSpPr>
          <p:cNvPr id="31" name="Text 28"/>
          <p:cNvSpPr/>
          <p:nvPr/>
        </p:nvSpPr>
        <p:spPr>
          <a:xfrm>
            <a:off x="3232463" y="3062883"/>
            <a:ext cx="1053787" cy="289322"/>
          </a:xfrm>
          <a:prstGeom prst="rect">
            <a:avLst/>
          </a:prstGeom>
          <a:noFill/>
          <a:ln/>
        </p:spPr>
        <p:txBody>
          <a:bodyPr wrap="none" lIns="0" tIns="119126" rIns="136017" bIns="0" rtlCol="0" anchor="t">
            <a:spAutoFit/>
          </a:bodyPr>
          <a:lstStyle/>
          <a:p>
            <a:pPr algn="l" indent="0" marL="0">
              <a:buNone/>
            </a:pPr>
            <a:r>
              <a:rPr lang="en-US" sz="1050" dirty="0">
                <a:solidFill>
                  <a:srgbClr val="FFFFFF"/>
                </a:solidFill>
                <a:latin typeface="DM Sans Medium" pitchFamily="34" charset="0"/>
                <a:ea typeface="DM Sans Medium" pitchFamily="34" charset="-122"/>
                <a:cs typeface="DM Sans Medium" pitchFamily="34" charset="-120"/>
              </a:rPr>
              <a:t>SDA, SCL</a:t>
            </a:r>
            <a:endParaRPr lang="en-US" sz="1050" dirty="0"/>
          </a:p>
        </p:txBody>
      </p:sp>
      <p:sp>
        <p:nvSpPr>
          <p:cNvPr id="32" name="Text 29"/>
          <p:cNvSpPr/>
          <p:nvPr/>
        </p:nvSpPr>
        <p:spPr>
          <a:xfrm>
            <a:off x="4643438" y="842963"/>
            <a:ext cx="4071938"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DISTANCE THRESHOLDS</a:t>
            </a:r>
            <a:endParaRPr lang="en-US" sz="650" dirty="0"/>
          </a:p>
        </p:txBody>
      </p:sp>
      <p:sp>
        <p:nvSpPr>
          <p:cNvPr id="33" name="Shape 30"/>
          <p:cNvSpPr/>
          <p:nvPr/>
        </p:nvSpPr>
        <p:spPr>
          <a:xfrm>
            <a:off x="4643438" y="1193006"/>
            <a:ext cx="1964531" cy="1316236"/>
          </a:xfrm>
          <a:prstGeom prst="rect">
            <a:avLst/>
          </a:prstGeom>
          <a:solidFill>
            <a:srgbClr val="0F0F18"/>
          </a:solidFill>
          <a:ln/>
        </p:spPr>
      </p:sp>
      <p:sp>
        <p:nvSpPr>
          <p:cNvPr id="34" name="Shape 31"/>
          <p:cNvSpPr/>
          <p:nvPr/>
        </p:nvSpPr>
        <p:spPr>
          <a:xfrm>
            <a:off x="4643438" y="1193006"/>
            <a:ext cx="1964531" cy="21431"/>
          </a:xfrm>
          <a:prstGeom prst="rect">
            <a:avLst/>
          </a:prstGeom>
          <a:solidFill>
            <a:srgbClr val="00D4AA"/>
          </a:solidFill>
          <a:ln/>
        </p:spPr>
      </p:sp>
      <p:sp>
        <p:nvSpPr>
          <p:cNvPr id="35" name="Text 32"/>
          <p:cNvSpPr/>
          <p:nvPr/>
        </p:nvSpPr>
        <p:spPr>
          <a:xfrm>
            <a:off x="4814888" y="133588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SAFE</a:t>
            </a:r>
            <a:endParaRPr lang="en-US" sz="1200" dirty="0"/>
          </a:p>
        </p:txBody>
      </p:sp>
      <p:sp>
        <p:nvSpPr>
          <p:cNvPr id="36" name="Text 33"/>
          <p:cNvSpPr/>
          <p:nvPr/>
        </p:nvSpPr>
        <p:spPr>
          <a:xfrm>
            <a:off x="4814888" y="161627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&gt; 100 cm</a:t>
            </a:r>
            <a:endParaRPr lang="en-US" sz="1000" dirty="0"/>
          </a:p>
        </p:txBody>
      </p:sp>
      <p:sp>
        <p:nvSpPr>
          <p:cNvPr id="37" name="Text 34"/>
          <p:cNvSpPr/>
          <p:nvPr/>
        </p:nvSpPr>
        <p:spPr>
          <a:xfrm>
            <a:off x="4814888" y="188773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Green</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OFF</a:t>
            </a:r>
            <a:endParaRPr lang="en-US" sz="1050" dirty="0"/>
          </a:p>
        </p:txBody>
      </p:sp>
      <p:sp>
        <p:nvSpPr>
          <p:cNvPr id="38" name="Shape 35"/>
          <p:cNvSpPr/>
          <p:nvPr/>
        </p:nvSpPr>
        <p:spPr>
          <a:xfrm>
            <a:off x="6750844" y="1193006"/>
            <a:ext cx="1964531" cy="1316236"/>
          </a:xfrm>
          <a:prstGeom prst="rect">
            <a:avLst/>
          </a:prstGeom>
          <a:solidFill>
            <a:srgbClr val="0F0F18"/>
          </a:solidFill>
          <a:ln/>
        </p:spPr>
      </p:sp>
      <p:sp>
        <p:nvSpPr>
          <p:cNvPr id="39" name="Shape 36"/>
          <p:cNvSpPr/>
          <p:nvPr/>
        </p:nvSpPr>
        <p:spPr>
          <a:xfrm>
            <a:off x="6750844" y="1193006"/>
            <a:ext cx="1964531" cy="21431"/>
          </a:xfrm>
          <a:prstGeom prst="rect">
            <a:avLst/>
          </a:prstGeom>
          <a:solidFill>
            <a:srgbClr val="F6AD55"/>
          </a:solidFill>
          <a:ln/>
        </p:spPr>
      </p:sp>
      <p:sp>
        <p:nvSpPr>
          <p:cNvPr id="40" name="Text 37"/>
          <p:cNvSpPr/>
          <p:nvPr/>
        </p:nvSpPr>
        <p:spPr>
          <a:xfrm>
            <a:off x="6922294" y="133588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WARNING</a:t>
            </a:r>
            <a:endParaRPr lang="en-US" sz="1200" dirty="0"/>
          </a:p>
        </p:txBody>
      </p:sp>
      <p:sp>
        <p:nvSpPr>
          <p:cNvPr id="41" name="Text 38"/>
          <p:cNvSpPr/>
          <p:nvPr/>
        </p:nvSpPr>
        <p:spPr>
          <a:xfrm>
            <a:off x="6922294" y="161627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20 — 100 cm</a:t>
            </a:r>
            <a:endParaRPr lang="en-US" sz="1000" dirty="0"/>
          </a:p>
        </p:txBody>
      </p:sp>
      <p:sp>
        <p:nvSpPr>
          <p:cNvPr id="42" name="Text 39"/>
          <p:cNvSpPr/>
          <p:nvPr/>
        </p:nvSpPr>
        <p:spPr>
          <a:xfrm>
            <a:off x="6922294" y="188773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Yellow</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Intermittent</a:t>
            </a:r>
            <a:endParaRPr lang="en-US" sz="1050" dirty="0"/>
          </a:p>
        </p:txBody>
      </p:sp>
      <p:sp>
        <p:nvSpPr>
          <p:cNvPr id="43" name="Shape 40"/>
          <p:cNvSpPr/>
          <p:nvPr/>
        </p:nvSpPr>
        <p:spPr>
          <a:xfrm>
            <a:off x="4643438" y="2630686"/>
            <a:ext cx="1964531" cy="1316236"/>
          </a:xfrm>
          <a:prstGeom prst="rect">
            <a:avLst/>
          </a:prstGeom>
          <a:solidFill>
            <a:srgbClr val="0F0F18"/>
          </a:solidFill>
          <a:ln/>
        </p:spPr>
      </p:sp>
      <p:sp>
        <p:nvSpPr>
          <p:cNvPr id="44" name="Shape 41"/>
          <p:cNvSpPr/>
          <p:nvPr/>
        </p:nvSpPr>
        <p:spPr>
          <a:xfrm>
            <a:off x="4643438" y="2630686"/>
            <a:ext cx="1964531" cy="21431"/>
          </a:xfrm>
          <a:prstGeom prst="rect">
            <a:avLst/>
          </a:prstGeom>
          <a:solidFill>
            <a:srgbClr val="E53E3E"/>
          </a:solidFill>
          <a:ln/>
        </p:spPr>
      </p:sp>
      <p:sp>
        <p:nvSpPr>
          <p:cNvPr id="45" name="Text 42"/>
          <p:cNvSpPr/>
          <p:nvPr/>
        </p:nvSpPr>
        <p:spPr>
          <a:xfrm>
            <a:off x="4814888" y="277356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STOP</a:t>
            </a:r>
            <a:endParaRPr lang="en-US" sz="1200" dirty="0"/>
          </a:p>
        </p:txBody>
      </p:sp>
      <p:sp>
        <p:nvSpPr>
          <p:cNvPr id="46" name="Text 43"/>
          <p:cNvSpPr/>
          <p:nvPr/>
        </p:nvSpPr>
        <p:spPr>
          <a:xfrm>
            <a:off x="4814888" y="305395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 20 cm</a:t>
            </a:r>
            <a:endParaRPr lang="en-US" sz="1000" dirty="0"/>
          </a:p>
        </p:txBody>
      </p:sp>
      <p:sp>
        <p:nvSpPr>
          <p:cNvPr id="47" name="Text 44"/>
          <p:cNvSpPr/>
          <p:nvPr/>
        </p:nvSpPr>
        <p:spPr>
          <a:xfrm>
            <a:off x="4814888" y="332541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Red</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Continuous</a:t>
            </a:r>
            <a:endParaRPr lang="en-US" sz="1050" dirty="0"/>
          </a:p>
        </p:txBody>
      </p:sp>
      <p:sp>
        <p:nvSpPr>
          <p:cNvPr id="48" name="Shape 45"/>
          <p:cNvSpPr/>
          <p:nvPr/>
        </p:nvSpPr>
        <p:spPr>
          <a:xfrm>
            <a:off x="6750844" y="2630686"/>
            <a:ext cx="1964531" cy="1316236"/>
          </a:xfrm>
          <a:prstGeom prst="rect">
            <a:avLst/>
          </a:prstGeom>
          <a:solidFill>
            <a:srgbClr val="0F0F18"/>
          </a:solidFill>
          <a:ln/>
        </p:spPr>
      </p:sp>
      <p:sp>
        <p:nvSpPr>
          <p:cNvPr id="49" name="Shape 46"/>
          <p:cNvSpPr/>
          <p:nvPr/>
        </p:nvSpPr>
        <p:spPr>
          <a:xfrm>
            <a:off x="6750844" y="2630686"/>
            <a:ext cx="1964531" cy="21431"/>
          </a:xfrm>
          <a:prstGeom prst="rect">
            <a:avLst/>
          </a:prstGeom>
          <a:solidFill>
            <a:srgbClr val="718096"/>
          </a:solidFill>
          <a:ln/>
        </p:spPr>
      </p:sp>
      <p:sp>
        <p:nvSpPr>
          <p:cNvPr id="50" name="Text 47"/>
          <p:cNvSpPr/>
          <p:nvPr/>
        </p:nvSpPr>
        <p:spPr>
          <a:xfrm>
            <a:off x="6922294" y="2773561"/>
            <a:ext cx="1621631"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LOST SENSOR</a:t>
            </a:r>
            <a:endParaRPr lang="en-US" sz="1200" dirty="0"/>
          </a:p>
        </p:txBody>
      </p:sp>
      <p:sp>
        <p:nvSpPr>
          <p:cNvPr id="51" name="Text 48"/>
          <p:cNvSpPr/>
          <p:nvPr/>
        </p:nvSpPr>
        <p:spPr>
          <a:xfrm>
            <a:off x="6922294" y="3053953"/>
            <a:ext cx="1621631" cy="185738"/>
          </a:xfrm>
          <a:prstGeom prst="rect">
            <a:avLst/>
          </a:prstGeom>
          <a:noFill/>
          <a:ln/>
        </p:spPr>
        <p:txBody>
          <a:bodyPr wrap="square" lIns="0" tIns="0" rIns="0" bIns="0" rtlCol="0" anchor="t">
            <a:spAutoFit/>
          </a:bodyPr>
          <a:lstStyle/>
          <a:p>
            <a:pPr algn="l" indent="0" marL="0">
              <a:buNone/>
            </a:pPr>
            <a:r>
              <a:rPr lang="en-US" sz="1000" b="1" dirty="0">
                <a:solidFill>
                  <a:srgbClr val="C9A84C"/>
                </a:solidFill>
                <a:latin typeface="DM Sans Bold" pitchFamily="34" charset="0"/>
                <a:ea typeface="DM Sans Bold" pitchFamily="34" charset="-122"/>
                <a:cs typeface="DM Sans Bold" pitchFamily="34" charset="-120"/>
              </a:rPr>
              <a:t>0 or &gt; 300 cm</a:t>
            </a:r>
            <a:endParaRPr lang="en-US" sz="1000" dirty="0"/>
          </a:p>
        </p:txBody>
      </p:sp>
      <p:sp>
        <p:nvSpPr>
          <p:cNvPr id="52" name="Text 49"/>
          <p:cNvSpPr/>
          <p:nvPr/>
        </p:nvSpPr>
        <p:spPr>
          <a:xfrm>
            <a:off x="6922294" y="3325416"/>
            <a:ext cx="1621631"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FFFFFF"/>
                </a:solidFill>
                <a:latin typeface="DM Sans Medium" pitchFamily="34" charset="0"/>
                <a:ea typeface="DM Sans Medium" pitchFamily="34" charset="-122"/>
                <a:cs typeface="DM Sans Medium" pitchFamily="34" charset="-120"/>
              </a:rPr>
              <a:t>LED: </a:t>
            </a:r>
            <a:r>
              <a:rPr lang="en-US" sz="1050" dirty="0">
                <a:solidFill>
                  <a:srgbClr val="FFFFFF"/>
                </a:solidFill>
                <a:latin typeface="DM Sans Medium" pitchFamily="34" charset="0"/>
                <a:ea typeface="DM Sans Medium" pitchFamily="34" charset="-122"/>
                <a:cs typeface="DM Sans Medium" pitchFamily="34" charset="-120"/>
              </a:rPr>
              <a:t>OFF</a:t>
            </a:r>
            <a:r>
              <a:rPr lang="en-US" sz="1050" dirty="0">
                <a:solidFill>
                  <a:srgbClr val="A0AEC0"/>
                </a:solidFill>
                <a:latin typeface="DM Sans" pitchFamily="34" charset="0"/>
                <a:ea typeface="DM Sans" pitchFamily="34" charset="-122"/>
                <a:cs typeface="DM Sans" pitchFamily="34" charset="-120"/>
              </a:rPr>
              <a:t>
</a:t>
            </a:r>
            <a:r>
              <a:rPr lang="en-US" sz="1050" dirty="0">
                <a:solidFill>
                  <a:srgbClr val="FFFFFF"/>
                </a:solidFill>
                <a:latin typeface="DM Sans Medium" pitchFamily="34" charset="0"/>
                <a:ea typeface="DM Sans Medium" pitchFamily="34" charset="-122"/>
                <a:cs typeface="DM Sans Medium" pitchFamily="34" charset="-120"/>
              </a:rPr>
              <a:t>Buzzer: </a:t>
            </a:r>
            <a:r>
              <a:rPr lang="en-US" sz="1050" dirty="0">
                <a:solidFill>
                  <a:srgbClr val="FFFFFF"/>
                </a:solidFill>
                <a:latin typeface="DM Sans Medium" pitchFamily="34" charset="0"/>
                <a:ea typeface="DM Sans Medium" pitchFamily="34" charset="-122"/>
                <a:cs typeface="DM Sans Medium" pitchFamily="34" charset="-120"/>
              </a:rPr>
              <a:t>OFF</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1610916"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State Machine</a:t>
            </a:r>
            <a:endParaRPr lang="en-US" sz="1600" dirty="0"/>
          </a:p>
        </p:txBody>
      </p:sp>
      <p:sp>
        <p:nvSpPr>
          <p:cNvPr id="6" name="Text 3"/>
          <p:cNvSpPr/>
          <p:nvPr/>
        </p:nvSpPr>
        <p:spPr>
          <a:xfrm>
            <a:off x="8208169" y="227707"/>
            <a:ext cx="507206"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04 / 06</a:t>
            </a:r>
            <a:endParaRPr lang="en-US" sz="700" dirty="0"/>
          </a:p>
        </p:txBody>
      </p:sp>
      <p:sp>
        <p:nvSpPr>
          <p:cNvPr id="7" name="Text 4"/>
          <p:cNvSpPr/>
          <p:nvPr/>
        </p:nvSpPr>
        <p:spPr>
          <a:xfrm>
            <a:off x="428625" y="871538"/>
            <a:ext cx="8286750"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SYSTEM LOGIC &amp; CONDITIONS</a:t>
            </a:r>
            <a:endParaRPr lang="en-US" sz="650" dirty="0"/>
          </a:p>
        </p:txBody>
      </p:sp>
      <p:sp>
        <p:nvSpPr>
          <p:cNvPr id="8" name="Shape 5"/>
          <p:cNvSpPr/>
          <p:nvPr/>
        </p:nvSpPr>
        <p:spPr>
          <a:xfrm>
            <a:off x="428625" y="1164431"/>
            <a:ext cx="4036219" cy="1700213"/>
          </a:xfrm>
          <a:prstGeom prst="rect">
            <a:avLst/>
          </a:prstGeom>
          <a:solidFill>
            <a:srgbClr val="0F0F18"/>
          </a:solidFill>
          <a:ln/>
        </p:spPr>
      </p:sp>
      <p:sp>
        <p:nvSpPr>
          <p:cNvPr id="9" name="Shape 6"/>
          <p:cNvSpPr/>
          <p:nvPr/>
        </p:nvSpPr>
        <p:spPr>
          <a:xfrm>
            <a:off x="428625" y="1164431"/>
            <a:ext cx="4036219" cy="28575"/>
          </a:xfrm>
          <a:prstGeom prst="rect">
            <a:avLst/>
          </a:prstGeom>
          <a:solidFill>
            <a:srgbClr val="00D4AA"/>
          </a:solidFill>
          <a:ln/>
        </p:spPr>
      </p:sp>
      <p:sp>
        <p:nvSpPr>
          <p:cNvPr id="10" name="Text 7"/>
          <p:cNvSpPr/>
          <p:nvPr/>
        </p:nvSpPr>
        <p:spPr>
          <a:xfrm>
            <a:off x="685800" y="1364456"/>
            <a:ext cx="489347" cy="260747"/>
          </a:xfrm>
          <a:prstGeom prst="rect">
            <a:avLst/>
          </a:prstGeom>
          <a:noFill/>
          <a:ln/>
        </p:spPr>
        <p:txBody>
          <a:bodyPr wrap="non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SAFE</a:t>
            </a:r>
            <a:endParaRPr lang="en-US" sz="1400" dirty="0"/>
          </a:p>
        </p:txBody>
      </p:sp>
      <p:sp>
        <p:nvSpPr>
          <p:cNvPr id="11" name="Text 8"/>
          <p:cNvSpPr/>
          <p:nvPr/>
        </p:nvSpPr>
        <p:spPr>
          <a:xfrm>
            <a:off x="3086100" y="1393031"/>
            <a:ext cx="1121569"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Dist &gt; 100 cm</a:t>
            </a:r>
            <a:endParaRPr lang="en-US" sz="1100" dirty="0"/>
          </a:p>
        </p:txBody>
      </p:sp>
      <p:sp>
        <p:nvSpPr>
          <p:cNvPr id="12" name="Text 9"/>
          <p:cNvSpPr/>
          <p:nvPr/>
        </p:nvSpPr>
        <p:spPr>
          <a:xfrm>
            <a:off x="685800" y="182433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13" name="Text 10"/>
          <p:cNvSpPr/>
          <p:nvPr/>
        </p:nvSpPr>
        <p:spPr>
          <a:xfrm>
            <a:off x="1443038" y="1796653"/>
            <a:ext cx="416123"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"Safe"</a:t>
            </a:r>
            <a:endParaRPr lang="en-US" sz="1150" dirty="0"/>
          </a:p>
        </p:txBody>
      </p:sp>
      <p:sp>
        <p:nvSpPr>
          <p:cNvPr id="14" name="Text 11"/>
          <p:cNvSpPr/>
          <p:nvPr/>
        </p:nvSpPr>
        <p:spPr>
          <a:xfrm>
            <a:off x="685800" y="214223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15" name="Text 12"/>
          <p:cNvSpPr/>
          <p:nvPr/>
        </p:nvSpPr>
        <p:spPr>
          <a:xfrm>
            <a:off x="1443038" y="2114550"/>
            <a:ext cx="469702" cy="203597"/>
          </a:xfrm>
          <a:prstGeom prst="rect">
            <a:avLst/>
          </a:prstGeom>
          <a:noFill/>
          <a:ln/>
        </p:spPr>
        <p:txBody>
          <a:bodyPr wrap="none" lIns="0" tIns="0" rIns="0" bIns="0" rtlCol="0" anchor="t">
            <a:spAutoFit/>
          </a:bodyPr>
          <a:lstStyle/>
          <a:p>
            <a:pPr algn="l" indent="0" marL="0">
              <a:buNone/>
            </a:pPr>
            <a:r>
              <a:rPr lang="en-US" sz="1100" b="1" dirty="0">
                <a:solidFill>
                  <a:srgbClr val="00D4AA"/>
                </a:solidFill>
                <a:latin typeface="DM Sans Bold" pitchFamily="34" charset="0"/>
                <a:ea typeface="DM Sans Bold" pitchFamily="34" charset="-122"/>
                <a:cs typeface="DM Sans Bold" pitchFamily="34" charset="-120"/>
              </a:rPr>
              <a:t>Green</a:t>
            </a:r>
            <a:endParaRPr lang="en-US" sz="1100" dirty="0"/>
          </a:p>
        </p:txBody>
      </p:sp>
      <p:sp>
        <p:nvSpPr>
          <p:cNvPr id="16" name="Text 13"/>
          <p:cNvSpPr/>
          <p:nvPr/>
        </p:nvSpPr>
        <p:spPr>
          <a:xfrm>
            <a:off x="685800" y="246012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17" name="Text 14"/>
          <p:cNvSpPr/>
          <p:nvPr/>
        </p:nvSpPr>
        <p:spPr>
          <a:xfrm>
            <a:off x="1443038" y="2432447"/>
            <a:ext cx="292894"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OFF</a:t>
            </a:r>
            <a:endParaRPr lang="en-US" sz="1150" dirty="0"/>
          </a:p>
        </p:txBody>
      </p:sp>
      <p:sp>
        <p:nvSpPr>
          <p:cNvPr id="18" name="Shape 15"/>
          <p:cNvSpPr/>
          <p:nvPr/>
        </p:nvSpPr>
        <p:spPr>
          <a:xfrm>
            <a:off x="4679156" y="1164431"/>
            <a:ext cx="4036219" cy="1700213"/>
          </a:xfrm>
          <a:prstGeom prst="rect">
            <a:avLst/>
          </a:prstGeom>
          <a:solidFill>
            <a:srgbClr val="0F0F18"/>
          </a:solidFill>
          <a:ln/>
        </p:spPr>
      </p:sp>
      <p:sp>
        <p:nvSpPr>
          <p:cNvPr id="19" name="Shape 16"/>
          <p:cNvSpPr/>
          <p:nvPr/>
        </p:nvSpPr>
        <p:spPr>
          <a:xfrm>
            <a:off x="4679156" y="1164431"/>
            <a:ext cx="4036219" cy="28575"/>
          </a:xfrm>
          <a:prstGeom prst="rect">
            <a:avLst/>
          </a:prstGeom>
          <a:solidFill>
            <a:srgbClr val="F6AD55"/>
          </a:solidFill>
          <a:ln/>
        </p:spPr>
      </p:sp>
      <p:sp>
        <p:nvSpPr>
          <p:cNvPr id="20" name="Text 17"/>
          <p:cNvSpPr/>
          <p:nvPr/>
        </p:nvSpPr>
        <p:spPr>
          <a:xfrm>
            <a:off x="4936331" y="1364456"/>
            <a:ext cx="960834" cy="260747"/>
          </a:xfrm>
          <a:prstGeom prst="rect">
            <a:avLst/>
          </a:prstGeom>
          <a:noFill/>
          <a:ln/>
        </p:spPr>
        <p:txBody>
          <a:bodyPr wrap="non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WARNING</a:t>
            </a:r>
            <a:endParaRPr lang="en-US" sz="1400" dirty="0"/>
          </a:p>
        </p:txBody>
      </p:sp>
      <p:sp>
        <p:nvSpPr>
          <p:cNvPr id="21" name="Text 18"/>
          <p:cNvSpPr/>
          <p:nvPr/>
        </p:nvSpPr>
        <p:spPr>
          <a:xfrm>
            <a:off x="7239660" y="1393031"/>
            <a:ext cx="1218540"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20 &lt; Dist ≤ 100</a:t>
            </a:r>
            <a:endParaRPr lang="en-US" sz="1100" dirty="0"/>
          </a:p>
        </p:txBody>
      </p:sp>
      <p:sp>
        <p:nvSpPr>
          <p:cNvPr id="22" name="Text 19"/>
          <p:cNvSpPr/>
          <p:nvPr/>
        </p:nvSpPr>
        <p:spPr>
          <a:xfrm>
            <a:off x="4936331" y="182433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23" name="Text 20"/>
          <p:cNvSpPr/>
          <p:nvPr/>
        </p:nvSpPr>
        <p:spPr>
          <a:xfrm>
            <a:off x="5693569" y="1796653"/>
            <a:ext cx="751880"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"Warning!"</a:t>
            </a:r>
            <a:endParaRPr lang="en-US" sz="1150" dirty="0"/>
          </a:p>
        </p:txBody>
      </p:sp>
      <p:sp>
        <p:nvSpPr>
          <p:cNvPr id="24" name="Text 21"/>
          <p:cNvSpPr/>
          <p:nvPr/>
        </p:nvSpPr>
        <p:spPr>
          <a:xfrm>
            <a:off x="4936331" y="214223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25" name="Text 22"/>
          <p:cNvSpPr/>
          <p:nvPr/>
        </p:nvSpPr>
        <p:spPr>
          <a:xfrm>
            <a:off x="5693569" y="2114550"/>
            <a:ext cx="487561" cy="203597"/>
          </a:xfrm>
          <a:prstGeom prst="rect">
            <a:avLst/>
          </a:prstGeom>
          <a:noFill/>
          <a:ln/>
        </p:spPr>
        <p:txBody>
          <a:bodyPr wrap="none" lIns="0" tIns="0" rIns="0" bIns="0" rtlCol="0" anchor="t">
            <a:spAutoFit/>
          </a:bodyPr>
          <a:lstStyle/>
          <a:p>
            <a:pPr algn="l" indent="0" marL="0">
              <a:buNone/>
            </a:pPr>
            <a:r>
              <a:rPr lang="en-US" sz="1100" b="1" dirty="0">
                <a:solidFill>
                  <a:srgbClr val="F6AD55"/>
                </a:solidFill>
                <a:latin typeface="DM Sans Bold" pitchFamily="34" charset="0"/>
                <a:ea typeface="DM Sans Bold" pitchFamily="34" charset="-122"/>
                <a:cs typeface="DM Sans Bold" pitchFamily="34" charset="-120"/>
              </a:rPr>
              <a:t>Yellow</a:t>
            </a:r>
            <a:endParaRPr lang="en-US" sz="1100" dirty="0"/>
          </a:p>
        </p:txBody>
      </p:sp>
      <p:sp>
        <p:nvSpPr>
          <p:cNvPr id="26" name="Text 23"/>
          <p:cNvSpPr/>
          <p:nvPr/>
        </p:nvSpPr>
        <p:spPr>
          <a:xfrm>
            <a:off x="4936331" y="246012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27" name="Text 24"/>
          <p:cNvSpPr/>
          <p:nvPr/>
        </p:nvSpPr>
        <p:spPr>
          <a:xfrm>
            <a:off x="5693569" y="2432447"/>
            <a:ext cx="1848445" cy="203597"/>
          </a:xfrm>
          <a:prstGeom prst="rect">
            <a:avLst/>
          </a:prstGeom>
          <a:noFill/>
          <a:ln/>
        </p:spPr>
        <p:txBody>
          <a:bodyPr wrap="squar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Intermittent (Speeds up)</a:t>
            </a:r>
            <a:endParaRPr lang="en-US" sz="1150" dirty="0"/>
          </a:p>
        </p:txBody>
      </p:sp>
      <p:sp>
        <p:nvSpPr>
          <p:cNvPr id="28" name="Shape 25"/>
          <p:cNvSpPr/>
          <p:nvPr/>
        </p:nvSpPr>
        <p:spPr>
          <a:xfrm>
            <a:off x="428625" y="3050381"/>
            <a:ext cx="4036219" cy="1700213"/>
          </a:xfrm>
          <a:prstGeom prst="rect">
            <a:avLst/>
          </a:prstGeom>
          <a:solidFill>
            <a:srgbClr val="0F0F18"/>
          </a:solidFill>
          <a:ln/>
        </p:spPr>
      </p:sp>
      <p:sp>
        <p:nvSpPr>
          <p:cNvPr id="29" name="Shape 26"/>
          <p:cNvSpPr/>
          <p:nvPr/>
        </p:nvSpPr>
        <p:spPr>
          <a:xfrm>
            <a:off x="428625" y="3050381"/>
            <a:ext cx="4036219" cy="28575"/>
          </a:xfrm>
          <a:prstGeom prst="rect">
            <a:avLst/>
          </a:prstGeom>
          <a:solidFill>
            <a:srgbClr val="E53E3E"/>
          </a:solidFill>
          <a:ln/>
        </p:spPr>
      </p:sp>
      <p:sp>
        <p:nvSpPr>
          <p:cNvPr id="30" name="Text 27"/>
          <p:cNvSpPr/>
          <p:nvPr/>
        </p:nvSpPr>
        <p:spPr>
          <a:xfrm>
            <a:off x="685800" y="3250406"/>
            <a:ext cx="514350" cy="260747"/>
          </a:xfrm>
          <a:prstGeom prst="rect">
            <a:avLst/>
          </a:prstGeom>
          <a:noFill/>
          <a:ln/>
        </p:spPr>
        <p:txBody>
          <a:bodyPr wrap="non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STOP</a:t>
            </a:r>
            <a:endParaRPr lang="en-US" sz="1400" dirty="0"/>
          </a:p>
        </p:txBody>
      </p:sp>
      <p:sp>
        <p:nvSpPr>
          <p:cNvPr id="31" name="Text 28"/>
          <p:cNvSpPr/>
          <p:nvPr/>
        </p:nvSpPr>
        <p:spPr>
          <a:xfrm>
            <a:off x="3174867" y="3278981"/>
            <a:ext cx="1032802"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Dist ≤ 20 cm</a:t>
            </a:r>
            <a:endParaRPr lang="en-US" sz="1100" dirty="0"/>
          </a:p>
        </p:txBody>
      </p:sp>
      <p:sp>
        <p:nvSpPr>
          <p:cNvPr id="32" name="Text 29"/>
          <p:cNvSpPr/>
          <p:nvPr/>
        </p:nvSpPr>
        <p:spPr>
          <a:xfrm>
            <a:off x="685800" y="371028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33" name="Text 30"/>
          <p:cNvSpPr/>
          <p:nvPr/>
        </p:nvSpPr>
        <p:spPr>
          <a:xfrm>
            <a:off x="1443038" y="3682603"/>
            <a:ext cx="532209"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"STOP!"</a:t>
            </a:r>
            <a:endParaRPr lang="en-US" sz="1150" dirty="0"/>
          </a:p>
        </p:txBody>
      </p:sp>
      <p:sp>
        <p:nvSpPr>
          <p:cNvPr id="34" name="Text 31"/>
          <p:cNvSpPr/>
          <p:nvPr/>
        </p:nvSpPr>
        <p:spPr>
          <a:xfrm>
            <a:off x="685800" y="402818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35" name="Text 32"/>
          <p:cNvSpPr/>
          <p:nvPr/>
        </p:nvSpPr>
        <p:spPr>
          <a:xfrm>
            <a:off x="1443038" y="4000500"/>
            <a:ext cx="291108" cy="203597"/>
          </a:xfrm>
          <a:prstGeom prst="rect">
            <a:avLst/>
          </a:prstGeom>
          <a:noFill/>
          <a:ln/>
        </p:spPr>
        <p:txBody>
          <a:bodyPr wrap="none" lIns="0" tIns="0" rIns="0" bIns="0" rtlCol="0" anchor="t">
            <a:spAutoFit/>
          </a:bodyPr>
          <a:lstStyle/>
          <a:p>
            <a:pPr algn="l" indent="0" marL="0">
              <a:buNone/>
            </a:pPr>
            <a:r>
              <a:rPr lang="en-US" sz="1100" b="1" dirty="0">
                <a:solidFill>
                  <a:srgbClr val="E53E3E"/>
                </a:solidFill>
                <a:latin typeface="DM Sans Bold" pitchFamily="34" charset="0"/>
                <a:ea typeface="DM Sans Bold" pitchFamily="34" charset="-122"/>
                <a:cs typeface="DM Sans Bold" pitchFamily="34" charset="-120"/>
              </a:rPr>
              <a:t>Red</a:t>
            </a:r>
            <a:endParaRPr lang="en-US" sz="1100" dirty="0"/>
          </a:p>
        </p:txBody>
      </p:sp>
      <p:sp>
        <p:nvSpPr>
          <p:cNvPr id="36" name="Text 33"/>
          <p:cNvSpPr/>
          <p:nvPr/>
        </p:nvSpPr>
        <p:spPr>
          <a:xfrm>
            <a:off x="685800" y="434607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37" name="Text 34"/>
          <p:cNvSpPr/>
          <p:nvPr/>
        </p:nvSpPr>
        <p:spPr>
          <a:xfrm>
            <a:off x="1443038" y="4318397"/>
            <a:ext cx="1253728"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Continuous Tone</a:t>
            </a:r>
            <a:endParaRPr lang="en-US" sz="1150" dirty="0"/>
          </a:p>
        </p:txBody>
      </p:sp>
      <p:sp>
        <p:nvSpPr>
          <p:cNvPr id="38" name="Shape 35"/>
          <p:cNvSpPr/>
          <p:nvPr/>
        </p:nvSpPr>
        <p:spPr>
          <a:xfrm>
            <a:off x="4679156" y="3050381"/>
            <a:ext cx="4036219" cy="1700213"/>
          </a:xfrm>
          <a:prstGeom prst="rect">
            <a:avLst/>
          </a:prstGeom>
          <a:solidFill>
            <a:srgbClr val="0F0F18"/>
          </a:solidFill>
          <a:ln/>
        </p:spPr>
      </p:sp>
      <p:sp>
        <p:nvSpPr>
          <p:cNvPr id="39" name="Shape 36"/>
          <p:cNvSpPr/>
          <p:nvPr/>
        </p:nvSpPr>
        <p:spPr>
          <a:xfrm>
            <a:off x="4679156" y="3050381"/>
            <a:ext cx="4036219" cy="28575"/>
          </a:xfrm>
          <a:prstGeom prst="rect">
            <a:avLst/>
          </a:prstGeom>
          <a:solidFill>
            <a:srgbClr val="718096"/>
          </a:solidFill>
          <a:ln/>
        </p:spPr>
      </p:sp>
      <p:sp>
        <p:nvSpPr>
          <p:cNvPr id="40" name="Text 37"/>
          <p:cNvSpPr/>
          <p:nvPr/>
        </p:nvSpPr>
        <p:spPr>
          <a:xfrm>
            <a:off x="4936331" y="3250406"/>
            <a:ext cx="1332309" cy="260747"/>
          </a:xfrm>
          <a:prstGeom prst="rect">
            <a:avLst/>
          </a:prstGeom>
          <a:noFill/>
          <a:ln/>
        </p:spPr>
        <p:txBody>
          <a:bodyPr wrap="square" lIns="0" tIns="0" rIns="0" bIns="0" rtlCol="0" anchor="t">
            <a:spAutoFit/>
          </a:bodyPr>
          <a:lstStyle/>
          <a:p>
            <a:pPr algn="l" indent="0" marL="0">
              <a:buNone/>
            </a:pPr>
            <a:r>
              <a:rPr lang="en-US" sz="1400" b="1" dirty="0">
                <a:solidFill>
                  <a:srgbClr val="FFFFFF"/>
                </a:solidFill>
                <a:latin typeface="DM Sans Bold" pitchFamily="34" charset="0"/>
                <a:ea typeface="DM Sans Bold" pitchFamily="34" charset="-122"/>
                <a:cs typeface="DM Sans Bold" pitchFamily="34" charset="-120"/>
              </a:rPr>
              <a:t>LOST SENSOR</a:t>
            </a:r>
            <a:endParaRPr lang="en-US" sz="1400" dirty="0"/>
          </a:p>
        </p:txBody>
      </p:sp>
      <p:sp>
        <p:nvSpPr>
          <p:cNvPr id="41" name="Text 38"/>
          <p:cNvSpPr/>
          <p:nvPr/>
        </p:nvSpPr>
        <p:spPr>
          <a:xfrm>
            <a:off x="7293769" y="3278981"/>
            <a:ext cx="1164431" cy="203597"/>
          </a:xfrm>
          <a:prstGeom prst="rect">
            <a:avLst/>
          </a:prstGeom>
          <a:noFill/>
          <a:ln/>
        </p:spPr>
        <p:txBody>
          <a:bodyPr wrap="none" lIns="0" tIns="0" rIns="0" bIns="0" rtlCol="0" anchor="t">
            <a:spAutoFit/>
          </a:bodyPr>
          <a:lstStyle/>
          <a:p>
            <a:pPr algn="l" indent="0" marL="0">
              <a:buNone/>
            </a:pPr>
            <a:r>
              <a:rPr lang="en-US" sz="1100" b="1" spc="1" kern="0" dirty="0">
                <a:solidFill>
                  <a:srgbClr val="C9A84C"/>
                </a:solidFill>
                <a:latin typeface="DM Sans Bold" pitchFamily="34" charset="0"/>
                <a:ea typeface="DM Sans Bold" pitchFamily="34" charset="-122"/>
                <a:cs typeface="DM Sans Bold" pitchFamily="34" charset="-120"/>
              </a:rPr>
              <a:t>0 or &gt; 300 cm</a:t>
            </a:r>
            <a:endParaRPr lang="en-US" sz="1100" dirty="0"/>
          </a:p>
        </p:txBody>
      </p:sp>
      <p:sp>
        <p:nvSpPr>
          <p:cNvPr id="42" name="Text 39"/>
          <p:cNvSpPr/>
          <p:nvPr/>
        </p:nvSpPr>
        <p:spPr>
          <a:xfrm>
            <a:off x="4936331" y="3710285"/>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LCD</a:t>
            </a:r>
            <a:endParaRPr lang="en-US" sz="800" dirty="0"/>
          </a:p>
        </p:txBody>
      </p:sp>
      <p:sp>
        <p:nvSpPr>
          <p:cNvPr id="43" name="Text 40"/>
          <p:cNvSpPr/>
          <p:nvPr/>
        </p:nvSpPr>
        <p:spPr>
          <a:xfrm>
            <a:off x="5693569" y="3682603"/>
            <a:ext cx="630436"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 cm"</a:t>
            </a:r>
            <a:endParaRPr lang="en-US" sz="1150" dirty="0"/>
          </a:p>
        </p:txBody>
      </p:sp>
      <p:sp>
        <p:nvSpPr>
          <p:cNvPr id="44" name="Text 41"/>
          <p:cNvSpPr/>
          <p:nvPr/>
        </p:nvSpPr>
        <p:spPr>
          <a:xfrm>
            <a:off x="4936331" y="4028182"/>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LED</a:t>
            </a:r>
            <a:endParaRPr lang="en-US" sz="800" dirty="0"/>
          </a:p>
        </p:txBody>
      </p:sp>
      <p:sp>
        <p:nvSpPr>
          <p:cNvPr id="45" name="Text 42"/>
          <p:cNvSpPr/>
          <p:nvPr/>
        </p:nvSpPr>
        <p:spPr>
          <a:xfrm>
            <a:off x="5693569" y="4000500"/>
            <a:ext cx="292894"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OFF</a:t>
            </a:r>
            <a:endParaRPr lang="en-US" sz="1150" dirty="0"/>
          </a:p>
        </p:txBody>
      </p:sp>
      <p:sp>
        <p:nvSpPr>
          <p:cNvPr id="46" name="Text 43"/>
          <p:cNvSpPr/>
          <p:nvPr/>
        </p:nvSpPr>
        <p:spPr>
          <a:xfrm>
            <a:off x="4936331" y="4346079"/>
            <a:ext cx="642938" cy="148233"/>
          </a:xfrm>
          <a:prstGeom prst="rect">
            <a:avLst/>
          </a:prstGeom>
          <a:noFill/>
          <a:ln/>
        </p:spPr>
        <p:txBody>
          <a:bodyPr wrap="none" lIns="0" tIns="0" rIns="0" bIns="0" rtlCol="0" anchor="t">
            <a:spAutoFit/>
          </a:bodyPr>
          <a:lstStyle/>
          <a:p>
            <a:pPr algn="l" indent="0" marL="0">
              <a:buNone/>
            </a:pPr>
            <a:r>
              <a:rPr lang="en-US" sz="800" b="1" spc="2" kern="0" dirty="0">
                <a:solidFill>
                  <a:srgbClr val="A0AEC0"/>
                </a:solidFill>
                <a:latin typeface="DM Sans Bold" pitchFamily="34" charset="0"/>
                <a:ea typeface="DM Sans Bold" pitchFamily="34" charset="-122"/>
                <a:cs typeface="DM Sans Bold" pitchFamily="34" charset="-120"/>
              </a:rPr>
              <a:t>BUZZER</a:t>
            </a:r>
            <a:endParaRPr lang="en-US" sz="800" dirty="0"/>
          </a:p>
        </p:txBody>
      </p:sp>
      <p:sp>
        <p:nvSpPr>
          <p:cNvPr id="47" name="Text 44"/>
          <p:cNvSpPr/>
          <p:nvPr/>
        </p:nvSpPr>
        <p:spPr>
          <a:xfrm>
            <a:off x="5693569" y="4318397"/>
            <a:ext cx="292894" cy="203597"/>
          </a:xfrm>
          <a:prstGeom prst="rect">
            <a:avLst/>
          </a:prstGeom>
          <a:noFill/>
          <a:ln/>
        </p:spPr>
        <p:txBody>
          <a:bodyPr wrap="none" lIns="0" tIns="0" rIns="0" bIns="0" rtlCol="0" anchor="t">
            <a:spAutoFit/>
          </a:bodyPr>
          <a:lstStyle/>
          <a:p>
            <a:pPr algn="l" indent="0" marL="0">
              <a:buNone/>
            </a:pPr>
            <a:r>
              <a:rPr lang="en-US" sz="1150" dirty="0">
                <a:solidFill>
                  <a:srgbClr val="C8D0DC"/>
                </a:solidFill>
                <a:latin typeface="DM Sans Medium" pitchFamily="34" charset="0"/>
                <a:ea typeface="DM Sans Medium" pitchFamily="34" charset="-122"/>
                <a:cs typeface="DM Sans Medium" pitchFamily="34" charset="-120"/>
              </a:rPr>
              <a:t>OFF</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2307431"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Test Cases &amp; Results</a:t>
            </a:r>
            <a:endParaRPr lang="en-US" sz="1600" dirty="0"/>
          </a:p>
        </p:txBody>
      </p:sp>
      <p:sp>
        <p:nvSpPr>
          <p:cNvPr id="6" name="Text 3"/>
          <p:cNvSpPr/>
          <p:nvPr/>
        </p:nvSpPr>
        <p:spPr>
          <a:xfrm>
            <a:off x="8209955" y="227707"/>
            <a:ext cx="505420"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05 / 06</a:t>
            </a:r>
            <a:endParaRPr lang="en-US" sz="700" dirty="0"/>
          </a:p>
        </p:txBody>
      </p:sp>
      <p:sp>
        <p:nvSpPr>
          <p:cNvPr id="7" name="Text 4"/>
          <p:cNvSpPr/>
          <p:nvPr/>
        </p:nvSpPr>
        <p:spPr>
          <a:xfrm>
            <a:off x="428625" y="900113"/>
            <a:ext cx="8286750"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SYSTEM VALIDATION</a:t>
            </a:r>
            <a:endParaRPr lang="en-US" sz="650" dirty="0"/>
          </a:p>
        </p:txBody>
      </p:sp>
      <p:sp>
        <p:nvSpPr>
          <p:cNvPr id="8" name="Text 5"/>
          <p:cNvSpPr/>
          <p:nvPr/>
        </p:nvSpPr>
        <p:spPr>
          <a:xfrm>
            <a:off x="428625" y="1193006"/>
            <a:ext cx="1243013" cy="287536"/>
          </a:xfrm>
          <a:prstGeom prst="rect">
            <a:avLst/>
          </a:prstGeom>
          <a:noFill/>
          <a:ln/>
        </p:spPr>
        <p:txBody>
          <a:bodyPr wrap="non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TEST CASE</a:t>
            </a:r>
            <a:endParaRPr lang="en-US" sz="900" dirty="0"/>
          </a:p>
        </p:txBody>
      </p:sp>
      <p:sp>
        <p:nvSpPr>
          <p:cNvPr id="9" name="Text 6"/>
          <p:cNvSpPr/>
          <p:nvPr/>
        </p:nvSpPr>
        <p:spPr>
          <a:xfrm>
            <a:off x="1671638" y="1193006"/>
            <a:ext cx="1657350" cy="287536"/>
          </a:xfrm>
          <a:prstGeom prst="rect">
            <a:avLst/>
          </a:prstGeom>
          <a:noFill/>
          <a:ln/>
        </p:spPr>
        <p:txBody>
          <a:bodyPr wrap="squar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INPUT DISTANCE</a:t>
            </a:r>
            <a:endParaRPr lang="en-US" sz="900" dirty="0"/>
          </a:p>
        </p:txBody>
      </p:sp>
      <p:sp>
        <p:nvSpPr>
          <p:cNvPr id="10" name="Text 7"/>
          <p:cNvSpPr/>
          <p:nvPr/>
        </p:nvSpPr>
        <p:spPr>
          <a:xfrm>
            <a:off x="3328988" y="1193006"/>
            <a:ext cx="3729038" cy="287536"/>
          </a:xfrm>
          <a:prstGeom prst="rect">
            <a:avLst/>
          </a:prstGeom>
          <a:noFill/>
          <a:ln/>
        </p:spPr>
        <p:txBody>
          <a:bodyPr wrap="squar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EXPECTED OUTPUT</a:t>
            </a:r>
            <a:endParaRPr lang="en-US" sz="900" dirty="0"/>
          </a:p>
        </p:txBody>
      </p:sp>
      <p:sp>
        <p:nvSpPr>
          <p:cNvPr id="11" name="Text 8"/>
          <p:cNvSpPr/>
          <p:nvPr/>
        </p:nvSpPr>
        <p:spPr>
          <a:xfrm>
            <a:off x="7058025" y="1193006"/>
            <a:ext cx="1657350" cy="287536"/>
          </a:xfrm>
          <a:prstGeom prst="rect">
            <a:avLst/>
          </a:prstGeom>
          <a:noFill/>
          <a:ln/>
        </p:spPr>
        <p:txBody>
          <a:bodyPr wrap="square" lIns="0" tIns="0" rIns="170053" bIns="136017" rtlCol="0" anchor="ctr">
            <a:spAutoFit/>
          </a:bodyPr>
          <a:lstStyle/>
          <a:p>
            <a:pPr algn="l" indent="0" marL="0">
              <a:buNone/>
            </a:pPr>
            <a:r>
              <a:rPr lang="en-US" sz="900" b="1" spc="2" kern="0" dirty="0">
                <a:solidFill>
                  <a:srgbClr val="C9A84C"/>
                </a:solidFill>
                <a:latin typeface="DM Sans Bold" pitchFamily="34" charset="0"/>
                <a:ea typeface="DM Sans Bold" pitchFamily="34" charset="-122"/>
                <a:cs typeface="DM Sans Bold" pitchFamily="34" charset="-120"/>
              </a:rPr>
              <a:t>RESULT</a:t>
            </a:r>
            <a:endParaRPr lang="en-US" sz="900" dirty="0"/>
          </a:p>
        </p:txBody>
      </p:sp>
      <p:sp>
        <p:nvSpPr>
          <p:cNvPr id="12" name="Text 9"/>
          <p:cNvSpPr/>
          <p:nvPr/>
        </p:nvSpPr>
        <p:spPr>
          <a:xfrm>
            <a:off x="428625" y="1480542"/>
            <a:ext cx="1243013" cy="771525"/>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TC-01</a:t>
            </a:r>
            <a:endParaRPr lang="en-US" sz="1200" dirty="0"/>
          </a:p>
        </p:txBody>
      </p:sp>
      <p:sp>
        <p:nvSpPr>
          <p:cNvPr id="13" name="Text 10"/>
          <p:cNvSpPr/>
          <p:nvPr/>
        </p:nvSpPr>
        <p:spPr>
          <a:xfrm>
            <a:off x="1671638" y="1480542"/>
            <a:ext cx="1657350" cy="771525"/>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150 cm</a:t>
            </a:r>
            <a:endParaRPr lang="en-US" sz="1400" dirty="0"/>
          </a:p>
        </p:txBody>
      </p:sp>
      <p:sp>
        <p:nvSpPr>
          <p:cNvPr id="14" name="Text 11"/>
          <p:cNvSpPr/>
          <p:nvPr/>
        </p:nvSpPr>
        <p:spPr>
          <a:xfrm>
            <a:off x="3328988" y="1659136"/>
            <a:ext cx="3586163" cy="223242"/>
          </a:xfrm>
          <a:prstGeom prst="rect">
            <a:avLst/>
          </a:prstGeom>
          <a:noFill/>
          <a:ln/>
        </p:spPr>
        <p:txBody>
          <a:bodyPr wrap="square" lIns="0" tIns="0" rIns="0" bIns="0" rtlCol="0" anchor="t">
            <a:spAutoFit/>
          </a:bodyPr>
          <a:lstStyle/>
          <a:p>
            <a:pPr algn="l" indent="0" marL="0">
              <a:buNone/>
            </a:pPr>
            <a:r>
              <a:rPr lang="en-US" sz="1250" dirty="0">
                <a:solidFill>
                  <a:srgbClr val="00D4AA"/>
                </a:solidFill>
                <a:latin typeface="DM Sans Medium" pitchFamily="34" charset="0"/>
                <a:ea typeface="DM Sans Medium" pitchFamily="34" charset="-122"/>
                <a:cs typeface="DM Sans Medium" pitchFamily="34" charset="-120"/>
              </a:rPr>
              <a:t>Safe State</a:t>
            </a:r>
            <a:endParaRPr lang="en-US" sz="1250" dirty="0"/>
          </a:p>
        </p:txBody>
      </p:sp>
      <p:sp>
        <p:nvSpPr>
          <p:cNvPr id="15" name="Text 12"/>
          <p:cNvSpPr/>
          <p:nvPr/>
        </p:nvSpPr>
        <p:spPr>
          <a:xfrm>
            <a:off x="3328988" y="1910953"/>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Green LED, No Buzzer</a:t>
            </a:r>
            <a:endParaRPr lang="en-US" sz="950" dirty="0"/>
          </a:p>
        </p:txBody>
      </p:sp>
      <p:sp>
        <p:nvSpPr>
          <p:cNvPr id="16" name="Text 13"/>
          <p:cNvSpPr/>
          <p:nvPr/>
        </p:nvSpPr>
        <p:spPr>
          <a:xfrm>
            <a:off x="7058025" y="1480542"/>
            <a:ext cx="1657350" cy="771525"/>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
        <p:nvSpPr>
          <p:cNvPr id="17" name="Text 14"/>
          <p:cNvSpPr/>
          <p:nvPr/>
        </p:nvSpPr>
        <p:spPr>
          <a:xfrm>
            <a:off x="428625" y="2252067"/>
            <a:ext cx="1243013" cy="767953"/>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TC-02</a:t>
            </a:r>
            <a:endParaRPr lang="en-US" sz="1200" dirty="0"/>
          </a:p>
        </p:txBody>
      </p:sp>
      <p:sp>
        <p:nvSpPr>
          <p:cNvPr id="18" name="Text 15"/>
          <p:cNvSpPr/>
          <p:nvPr/>
        </p:nvSpPr>
        <p:spPr>
          <a:xfrm>
            <a:off x="1671638" y="2252067"/>
            <a:ext cx="1657350" cy="767953"/>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60 cm</a:t>
            </a:r>
            <a:endParaRPr lang="en-US" sz="1400" dirty="0"/>
          </a:p>
        </p:txBody>
      </p:sp>
      <p:sp>
        <p:nvSpPr>
          <p:cNvPr id="19" name="Text 16"/>
          <p:cNvSpPr/>
          <p:nvPr/>
        </p:nvSpPr>
        <p:spPr>
          <a:xfrm>
            <a:off x="3328988" y="2427089"/>
            <a:ext cx="3586163" cy="223242"/>
          </a:xfrm>
          <a:prstGeom prst="rect">
            <a:avLst/>
          </a:prstGeom>
          <a:noFill/>
          <a:ln/>
        </p:spPr>
        <p:txBody>
          <a:bodyPr wrap="square" lIns="0" tIns="0" rIns="0" bIns="0" rtlCol="0" anchor="t">
            <a:spAutoFit/>
          </a:bodyPr>
          <a:lstStyle/>
          <a:p>
            <a:pPr algn="l" indent="0" marL="0">
              <a:buNone/>
            </a:pPr>
            <a:r>
              <a:rPr lang="en-US" sz="1250" dirty="0">
                <a:solidFill>
                  <a:srgbClr val="F6AD55"/>
                </a:solidFill>
                <a:latin typeface="DM Sans Medium" pitchFamily="34" charset="0"/>
                <a:ea typeface="DM Sans Medium" pitchFamily="34" charset="-122"/>
                <a:cs typeface="DM Sans Medium" pitchFamily="34" charset="-120"/>
              </a:rPr>
              <a:t>Warning State</a:t>
            </a:r>
            <a:endParaRPr lang="en-US" sz="1250" dirty="0"/>
          </a:p>
        </p:txBody>
      </p:sp>
      <p:sp>
        <p:nvSpPr>
          <p:cNvPr id="20" name="Text 17"/>
          <p:cNvSpPr/>
          <p:nvPr/>
        </p:nvSpPr>
        <p:spPr>
          <a:xfrm>
            <a:off x="3328988" y="2678906"/>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Yellow LED, Intermittent Buzz</a:t>
            </a:r>
            <a:endParaRPr lang="en-US" sz="950" dirty="0"/>
          </a:p>
        </p:txBody>
      </p:sp>
      <p:sp>
        <p:nvSpPr>
          <p:cNvPr id="21" name="Text 18"/>
          <p:cNvSpPr/>
          <p:nvPr/>
        </p:nvSpPr>
        <p:spPr>
          <a:xfrm>
            <a:off x="7058025" y="2252067"/>
            <a:ext cx="1657350" cy="767953"/>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
        <p:nvSpPr>
          <p:cNvPr id="22" name="Text 19"/>
          <p:cNvSpPr/>
          <p:nvPr/>
        </p:nvSpPr>
        <p:spPr>
          <a:xfrm>
            <a:off x="428625" y="3020020"/>
            <a:ext cx="1243013" cy="767953"/>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TC-03</a:t>
            </a:r>
            <a:endParaRPr lang="en-US" sz="1200" dirty="0"/>
          </a:p>
        </p:txBody>
      </p:sp>
      <p:sp>
        <p:nvSpPr>
          <p:cNvPr id="23" name="Text 20"/>
          <p:cNvSpPr/>
          <p:nvPr/>
        </p:nvSpPr>
        <p:spPr>
          <a:xfrm>
            <a:off x="1671638" y="3020020"/>
            <a:ext cx="1657350" cy="767953"/>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10 cm</a:t>
            </a:r>
            <a:endParaRPr lang="en-US" sz="1400" dirty="0"/>
          </a:p>
        </p:txBody>
      </p:sp>
      <p:sp>
        <p:nvSpPr>
          <p:cNvPr id="24" name="Text 21"/>
          <p:cNvSpPr/>
          <p:nvPr/>
        </p:nvSpPr>
        <p:spPr>
          <a:xfrm>
            <a:off x="3328988" y="3195042"/>
            <a:ext cx="3586163" cy="223242"/>
          </a:xfrm>
          <a:prstGeom prst="rect">
            <a:avLst/>
          </a:prstGeom>
          <a:noFill/>
          <a:ln/>
        </p:spPr>
        <p:txBody>
          <a:bodyPr wrap="square" lIns="0" tIns="0" rIns="0" bIns="0" rtlCol="0" anchor="t">
            <a:spAutoFit/>
          </a:bodyPr>
          <a:lstStyle/>
          <a:p>
            <a:pPr algn="l" indent="0" marL="0">
              <a:buNone/>
            </a:pPr>
            <a:r>
              <a:rPr lang="en-US" sz="1250" dirty="0">
                <a:solidFill>
                  <a:srgbClr val="E53E3E"/>
                </a:solidFill>
                <a:latin typeface="DM Sans Medium" pitchFamily="34" charset="0"/>
                <a:ea typeface="DM Sans Medium" pitchFamily="34" charset="-122"/>
                <a:cs typeface="DM Sans Medium" pitchFamily="34" charset="-120"/>
              </a:rPr>
              <a:t>STOP State</a:t>
            </a:r>
            <a:endParaRPr lang="en-US" sz="1250" dirty="0"/>
          </a:p>
        </p:txBody>
      </p:sp>
      <p:sp>
        <p:nvSpPr>
          <p:cNvPr id="25" name="Text 22"/>
          <p:cNvSpPr/>
          <p:nvPr/>
        </p:nvSpPr>
        <p:spPr>
          <a:xfrm>
            <a:off x="3328988" y="3446859"/>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Red LED, Continuous Buzz</a:t>
            </a:r>
            <a:endParaRPr lang="en-US" sz="950" dirty="0"/>
          </a:p>
        </p:txBody>
      </p:sp>
      <p:sp>
        <p:nvSpPr>
          <p:cNvPr id="26" name="Text 23"/>
          <p:cNvSpPr/>
          <p:nvPr/>
        </p:nvSpPr>
        <p:spPr>
          <a:xfrm>
            <a:off x="7058025" y="3020020"/>
            <a:ext cx="1657350" cy="767953"/>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
        <p:nvSpPr>
          <p:cNvPr id="27" name="Text 24"/>
          <p:cNvSpPr/>
          <p:nvPr/>
        </p:nvSpPr>
        <p:spPr>
          <a:xfrm>
            <a:off x="428625" y="3787973"/>
            <a:ext cx="1243013" cy="764381"/>
          </a:xfrm>
          <a:prstGeom prst="rect">
            <a:avLst/>
          </a:prstGeom>
          <a:noFill/>
          <a:ln/>
        </p:spPr>
        <p:txBody>
          <a:bodyPr wrap="none" lIns="0" tIns="204089" rIns="170053" bIns="204089" rtlCol="0" anchor="ctr">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TC-04</a:t>
            </a:r>
            <a:endParaRPr lang="en-US" sz="1200" dirty="0"/>
          </a:p>
        </p:txBody>
      </p:sp>
      <p:sp>
        <p:nvSpPr>
          <p:cNvPr id="28" name="Text 25"/>
          <p:cNvSpPr/>
          <p:nvPr/>
        </p:nvSpPr>
        <p:spPr>
          <a:xfrm>
            <a:off x="1671638" y="3787973"/>
            <a:ext cx="1657350" cy="764381"/>
          </a:xfrm>
          <a:prstGeom prst="rect">
            <a:avLst/>
          </a:prstGeom>
          <a:noFill/>
          <a:ln/>
        </p:spPr>
        <p:txBody>
          <a:bodyPr wrap="square" lIns="0" tIns="204089" rIns="170053" bIns="204089" rtlCol="0" anchor="ctr">
            <a:spAutoFit/>
          </a:bodyPr>
          <a:lstStyle/>
          <a:p>
            <a:pPr algn="l" indent="0" marL="0">
              <a:buNone/>
            </a:pPr>
            <a:r>
              <a:rPr lang="en-US" sz="1400" dirty="0">
                <a:solidFill>
                  <a:srgbClr val="C9A84C"/>
                </a:solidFill>
                <a:latin typeface="monospace" pitchFamily="34" charset="0"/>
                <a:ea typeface="monospace" pitchFamily="34" charset="-122"/>
                <a:cs typeface="monospace" pitchFamily="34" charset="-120"/>
              </a:rPr>
              <a:t>&gt; 300 cm</a:t>
            </a:r>
            <a:endParaRPr lang="en-US" sz="1400" dirty="0"/>
          </a:p>
        </p:txBody>
      </p:sp>
      <p:sp>
        <p:nvSpPr>
          <p:cNvPr id="29" name="Text 26"/>
          <p:cNvSpPr/>
          <p:nvPr/>
        </p:nvSpPr>
        <p:spPr>
          <a:xfrm>
            <a:off x="3328988" y="3962995"/>
            <a:ext cx="3586163" cy="223242"/>
          </a:xfrm>
          <a:prstGeom prst="rect">
            <a:avLst/>
          </a:prstGeom>
          <a:noFill/>
          <a:ln/>
        </p:spPr>
        <p:txBody>
          <a:bodyPr wrap="square" lIns="0" tIns="0" rIns="0" bIns="0" rtlCol="0" anchor="t">
            <a:spAutoFit/>
          </a:bodyPr>
          <a:lstStyle/>
          <a:p>
            <a:pPr algn="l" indent="0" marL="0">
              <a:buNone/>
            </a:pPr>
            <a:r>
              <a:rPr lang="en-US" sz="1250" dirty="0">
                <a:solidFill>
                  <a:srgbClr val="A0AEC0"/>
                </a:solidFill>
                <a:latin typeface="DM Sans Medium" pitchFamily="34" charset="0"/>
                <a:ea typeface="DM Sans Medium" pitchFamily="34" charset="-122"/>
                <a:cs typeface="DM Sans Medium" pitchFamily="34" charset="-120"/>
              </a:rPr>
              <a:t>Lost Sensor State</a:t>
            </a:r>
            <a:endParaRPr lang="en-US" sz="1250" dirty="0"/>
          </a:p>
        </p:txBody>
      </p:sp>
      <p:sp>
        <p:nvSpPr>
          <p:cNvPr id="30" name="Text 27"/>
          <p:cNvSpPr/>
          <p:nvPr/>
        </p:nvSpPr>
        <p:spPr>
          <a:xfrm>
            <a:off x="3328988" y="4214813"/>
            <a:ext cx="3586163" cy="166092"/>
          </a:xfrm>
          <a:prstGeom prst="rect">
            <a:avLst/>
          </a:prstGeom>
          <a:noFill/>
          <a:ln/>
        </p:spPr>
        <p:txBody>
          <a:bodyPr wrap="square" lIns="0" tIns="0" rIns="0" bIns="0" rtlCol="0" anchor="t">
            <a:spAutoFit/>
          </a:bodyPr>
          <a:lstStyle/>
          <a:p>
            <a:pPr algn="l" indent="0" marL="0">
              <a:buNone/>
            </a:pPr>
            <a:r>
              <a:rPr lang="en-US" sz="950" dirty="0">
                <a:solidFill>
                  <a:srgbClr val="A0AEC0"/>
                </a:solidFill>
                <a:latin typeface="DM Sans" pitchFamily="34" charset="0"/>
                <a:ea typeface="DM Sans" pitchFamily="34" charset="-122"/>
                <a:cs typeface="DM Sans" pitchFamily="34" charset="-120"/>
              </a:rPr>
              <a:t>All Outputs OFF, LCD: "---"</a:t>
            </a:r>
            <a:endParaRPr lang="en-US" sz="950" dirty="0"/>
          </a:p>
        </p:txBody>
      </p:sp>
      <p:sp>
        <p:nvSpPr>
          <p:cNvPr id="31" name="Text 28"/>
          <p:cNvSpPr/>
          <p:nvPr/>
        </p:nvSpPr>
        <p:spPr>
          <a:xfrm>
            <a:off x="7058025" y="3787973"/>
            <a:ext cx="1657350" cy="764381"/>
          </a:xfrm>
          <a:prstGeom prst="rect">
            <a:avLst/>
          </a:prstGeom>
          <a:noFill/>
          <a:ln/>
        </p:spPr>
        <p:txBody>
          <a:bodyPr wrap="square" lIns="0" tIns="204089" rIns="170053" bIns="204089" rtlCol="0" anchor="ctr">
            <a:spAutoFit/>
          </a:bodyPr>
          <a:lstStyle/>
          <a:p>
            <a:pPr algn="l" indent="0" marL="0">
              <a:buNone/>
            </a:pPr>
            <a:r>
              <a:rPr lang="en-US" sz="1200" b="1" spc="2" kern="0" dirty="0">
                <a:solidFill>
                  <a:srgbClr val="00D4AA"/>
                </a:solidFill>
                <a:latin typeface="DM Sans Bold" pitchFamily="34" charset="0"/>
                <a:ea typeface="DM Sans Bold" pitchFamily="34" charset="-122"/>
                <a:cs typeface="DM Sans Bold" pitchFamily="34" charset="-120"/>
              </a:rPr>
              <a:t>PASS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413177"/>
          </a:xfrm>
          <a:prstGeom prst="rect">
            <a:avLst/>
          </a:prstGeom>
        </p:spPr>
      </p:pic>
      <p:sp>
        <p:nvSpPr>
          <p:cNvPr id="3" name="Shape 0"/>
          <p:cNvSpPr/>
          <p:nvPr/>
        </p:nvSpPr>
        <p:spPr>
          <a:xfrm>
            <a:off x="0" y="0"/>
            <a:ext cx="9144000" cy="585788"/>
          </a:xfrm>
          <a:prstGeom prst="rect">
            <a:avLst/>
          </a:prstGeom>
          <a:solidFill>
            <a:srgbClr val="0F0F18"/>
          </a:solidFill>
          <a:ln/>
        </p:spPr>
      </p:sp>
      <p:sp>
        <p:nvSpPr>
          <p:cNvPr id="4" name="Shape 1"/>
          <p:cNvSpPr/>
          <p:nvPr/>
        </p:nvSpPr>
        <p:spPr>
          <a:xfrm>
            <a:off x="0" y="571500"/>
            <a:ext cx="9144000" cy="14288"/>
          </a:xfrm>
          <a:prstGeom prst="rect">
            <a:avLst/>
          </a:prstGeom>
          <a:solidFill>
            <a:srgbClr val="C9A84C"/>
          </a:solidFill>
          <a:ln/>
        </p:spPr>
      </p:sp>
      <p:sp>
        <p:nvSpPr>
          <p:cNvPr id="5" name="Text 2"/>
          <p:cNvSpPr/>
          <p:nvPr/>
        </p:nvSpPr>
        <p:spPr>
          <a:xfrm>
            <a:off x="642938" y="143768"/>
            <a:ext cx="2764631" cy="298252"/>
          </a:xfrm>
          <a:prstGeom prst="rect">
            <a:avLst/>
          </a:prstGeom>
          <a:noFill/>
          <a:ln/>
        </p:spPr>
        <p:txBody>
          <a:bodyPr wrap="square" lIns="0" tIns="0" rIns="0" bIns="0" rtlCol="0" anchor="t">
            <a:spAutoFit/>
          </a:bodyPr>
          <a:lstStyle/>
          <a:p>
            <a:pPr algn="l" indent="0" marL="0">
              <a:buNone/>
            </a:pPr>
            <a:r>
              <a:rPr lang="en-US" sz="1600" b="1" dirty="0">
                <a:solidFill>
                  <a:srgbClr val="FFFFFF"/>
                </a:solidFill>
                <a:latin typeface="DM Sans Bold" pitchFamily="34" charset="0"/>
                <a:ea typeface="DM Sans Bold" pitchFamily="34" charset="-122"/>
                <a:cs typeface="DM Sans Bold" pitchFamily="34" charset="-120"/>
              </a:rPr>
              <a:t>Limitations &amp; Next Steps</a:t>
            </a:r>
            <a:endParaRPr lang="en-US" sz="1600" dirty="0"/>
          </a:p>
        </p:txBody>
      </p:sp>
      <p:sp>
        <p:nvSpPr>
          <p:cNvPr id="6" name="Text 3"/>
          <p:cNvSpPr/>
          <p:nvPr/>
        </p:nvSpPr>
        <p:spPr>
          <a:xfrm>
            <a:off x="8208169" y="227707"/>
            <a:ext cx="507206" cy="130373"/>
          </a:xfrm>
          <a:prstGeom prst="rect">
            <a:avLst/>
          </a:prstGeom>
          <a:noFill/>
          <a:ln/>
        </p:spPr>
        <p:txBody>
          <a:bodyPr wrap="none" lIns="0" tIns="0" rIns="0" bIns="0" rtlCol="0" anchor="t">
            <a:spAutoFit/>
          </a:bodyPr>
          <a:lstStyle/>
          <a:p>
            <a:pPr algn="l" indent="0" marL="0">
              <a:buNone/>
            </a:pPr>
            <a:r>
              <a:rPr lang="en-US" sz="700" b="1" spc="2" kern="0" dirty="0">
                <a:solidFill>
                  <a:srgbClr val="C9A84C"/>
                </a:solidFill>
                <a:latin typeface="DM Sans Bold" pitchFamily="34" charset="0"/>
                <a:ea typeface="DM Sans Bold" pitchFamily="34" charset="-122"/>
                <a:cs typeface="DM Sans Bold" pitchFamily="34" charset="-120"/>
              </a:rPr>
              <a:t>06 / 06</a:t>
            </a:r>
            <a:endParaRPr lang="en-US" sz="700" dirty="0"/>
          </a:p>
        </p:txBody>
      </p:sp>
      <p:sp>
        <p:nvSpPr>
          <p:cNvPr id="7" name="Text 4"/>
          <p:cNvSpPr/>
          <p:nvPr/>
        </p:nvSpPr>
        <p:spPr>
          <a:xfrm>
            <a:off x="428625" y="900113"/>
            <a:ext cx="3929063" cy="121444"/>
          </a:xfrm>
          <a:prstGeom prst="rect">
            <a:avLst/>
          </a:prstGeom>
          <a:noFill/>
          <a:ln/>
        </p:spPr>
        <p:txBody>
          <a:bodyPr wrap="square" lIns="0" tIns="0" rIns="0" bIns="0" rtlCol="0" anchor="t">
            <a:spAutoFit/>
          </a:bodyPr>
          <a:lstStyle/>
          <a:p>
            <a:pPr algn="l" indent="0" marL="0">
              <a:buNone/>
            </a:pPr>
            <a:r>
              <a:rPr lang="en-US" sz="650" b="1" spc="2" kern="0" dirty="0">
                <a:solidFill>
                  <a:srgbClr val="C9A84C"/>
                </a:solidFill>
                <a:latin typeface="DM Sans Bold" pitchFamily="34" charset="0"/>
                <a:ea typeface="DM Sans Bold" pitchFamily="34" charset="-122"/>
                <a:cs typeface="DM Sans Bold" pitchFamily="34" charset="-120"/>
              </a:rPr>
              <a:t>SYSTEM LIMITATIONS</a:t>
            </a:r>
            <a:endParaRPr lang="en-US" sz="650" dirty="0"/>
          </a:p>
        </p:txBody>
      </p:sp>
      <p:sp>
        <p:nvSpPr>
          <p:cNvPr id="8" name="Shape 5"/>
          <p:cNvSpPr/>
          <p:nvPr/>
        </p:nvSpPr>
        <p:spPr>
          <a:xfrm>
            <a:off x="428625" y="1250156"/>
            <a:ext cx="3929063" cy="1059061"/>
          </a:xfrm>
          <a:prstGeom prst="rect">
            <a:avLst/>
          </a:prstGeom>
          <a:solidFill>
            <a:srgbClr val="0F0F18"/>
          </a:solidFill>
          <a:ln/>
        </p:spPr>
      </p:sp>
      <p:sp>
        <p:nvSpPr>
          <p:cNvPr id="9" name="Shape 6"/>
          <p:cNvSpPr/>
          <p:nvPr/>
        </p:nvSpPr>
        <p:spPr>
          <a:xfrm>
            <a:off x="428625" y="1250156"/>
            <a:ext cx="3929063" cy="21431"/>
          </a:xfrm>
          <a:prstGeom prst="rect">
            <a:avLst/>
          </a:prstGeom>
          <a:solidFill>
            <a:srgbClr val="C9A84C"/>
          </a:solidFill>
          <a:ln/>
        </p:spPr>
      </p:sp>
      <p:sp>
        <p:nvSpPr>
          <p:cNvPr id="10" name="Text 7"/>
          <p:cNvSpPr/>
          <p:nvPr/>
        </p:nvSpPr>
        <p:spPr>
          <a:xfrm>
            <a:off x="600075" y="1393031"/>
            <a:ext cx="3586163" cy="223242"/>
          </a:xfrm>
          <a:prstGeom prst="rect">
            <a:avLst/>
          </a:prstGeom>
          <a:noFill/>
          <a:ln/>
        </p:spPr>
        <p:txBody>
          <a:bodyPr wrap="square" lIns="0" tIns="0" rIns="0" bIns="0" rtlCol="0" anchor="t">
            <a:spAutoFit/>
          </a:bodyPr>
          <a:lstStyle/>
          <a:p>
            <a:pPr algn="l" indent="0" marL="0">
              <a:buNone/>
            </a:pPr>
            <a:r>
              <a:rPr lang="en-US" sz="1200" b="1" dirty="0">
                <a:solidFill>
                  <a:srgbClr val="C9A84C"/>
                </a:solidFill>
                <a:latin typeface="DM Sans Bold" pitchFamily="34" charset="0"/>
                <a:ea typeface="DM Sans Bold" pitchFamily="34" charset="-122"/>
                <a:cs typeface="DM Sans Bold" pitchFamily="34" charset="-120"/>
              </a:rPr>
              <a:t>Blind Spot at Close Range</a:t>
            </a:r>
            <a:endParaRPr lang="en-US" sz="1200" dirty="0"/>
          </a:p>
        </p:txBody>
      </p:sp>
      <p:sp>
        <p:nvSpPr>
          <p:cNvPr id="11" name="Text 8"/>
          <p:cNvSpPr/>
          <p:nvPr/>
        </p:nvSpPr>
        <p:spPr>
          <a:xfrm>
            <a:off x="600075" y="1687711"/>
            <a:ext cx="3586163"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Ultrasonic sensors struggle with distances under 2 cm, potentially missing very close obstacles.</a:t>
            </a:r>
            <a:endParaRPr lang="en-US" sz="1050" dirty="0"/>
          </a:p>
        </p:txBody>
      </p:sp>
      <p:sp>
        <p:nvSpPr>
          <p:cNvPr id="12" name="Shape 9"/>
          <p:cNvSpPr/>
          <p:nvPr/>
        </p:nvSpPr>
        <p:spPr>
          <a:xfrm>
            <a:off x="428625" y="2459236"/>
            <a:ext cx="3929063" cy="1059061"/>
          </a:xfrm>
          <a:prstGeom prst="rect">
            <a:avLst/>
          </a:prstGeom>
          <a:solidFill>
            <a:srgbClr val="0F0F18"/>
          </a:solidFill>
          <a:ln/>
        </p:spPr>
      </p:sp>
      <p:sp>
        <p:nvSpPr>
          <p:cNvPr id="13" name="Shape 10"/>
          <p:cNvSpPr/>
          <p:nvPr/>
        </p:nvSpPr>
        <p:spPr>
          <a:xfrm>
            <a:off x="428625" y="2459236"/>
            <a:ext cx="3929063" cy="21431"/>
          </a:xfrm>
          <a:prstGeom prst="rect">
            <a:avLst/>
          </a:prstGeom>
          <a:solidFill>
            <a:srgbClr val="C9A84C"/>
          </a:solidFill>
          <a:ln/>
        </p:spPr>
      </p:sp>
      <p:sp>
        <p:nvSpPr>
          <p:cNvPr id="14" name="Text 11"/>
          <p:cNvSpPr/>
          <p:nvPr/>
        </p:nvSpPr>
        <p:spPr>
          <a:xfrm>
            <a:off x="600075" y="2602111"/>
            <a:ext cx="3586163" cy="223242"/>
          </a:xfrm>
          <a:prstGeom prst="rect">
            <a:avLst/>
          </a:prstGeom>
          <a:noFill/>
          <a:ln/>
        </p:spPr>
        <p:txBody>
          <a:bodyPr wrap="square" lIns="0" tIns="0" rIns="0" bIns="0" rtlCol="0" anchor="t">
            <a:spAutoFit/>
          </a:bodyPr>
          <a:lstStyle/>
          <a:p>
            <a:pPr algn="l" indent="0" marL="0">
              <a:buNone/>
            </a:pPr>
            <a:r>
              <a:rPr lang="en-US" sz="1200" b="1" dirty="0">
                <a:solidFill>
                  <a:srgbClr val="C9A84C"/>
                </a:solidFill>
                <a:latin typeface="DM Sans Bold" pitchFamily="34" charset="0"/>
                <a:ea typeface="DM Sans Bold" pitchFamily="34" charset="-122"/>
                <a:cs typeface="DM Sans Bold" pitchFamily="34" charset="-120"/>
              </a:rPr>
              <a:t>Material Interference</a:t>
            </a:r>
            <a:endParaRPr lang="en-US" sz="1200" dirty="0"/>
          </a:p>
        </p:txBody>
      </p:sp>
      <p:sp>
        <p:nvSpPr>
          <p:cNvPr id="15" name="Text 12"/>
          <p:cNvSpPr/>
          <p:nvPr/>
        </p:nvSpPr>
        <p:spPr>
          <a:xfrm>
            <a:off x="600075" y="2896791"/>
            <a:ext cx="3586163"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Soft materials (like a car cover) can absorb sound waves, leading to inaccurate distance readings.</a:t>
            </a:r>
            <a:endParaRPr lang="en-US" sz="1050" dirty="0"/>
          </a:p>
        </p:txBody>
      </p:sp>
      <p:sp>
        <p:nvSpPr>
          <p:cNvPr id="16" name="Shape 13"/>
          <p:cNvSpPr/>
          <p:nvPr/>
        </p:nvSpPr>
        <p:spPr>
          <a:xfrm>
            <a:off x="428625" y="3668316"/>
            <a:ext cx="3929063" cy="1059061"/>
          </a:xfrm>
          <a:prstGeom prst="rect">
            <a:avLst/>
          </a:prstGeom>
          <a:solidFill>
            <a:srgbClr val="0F0F18"/>
          </a:solidFill>
          <a:ln/>
        </p:spPr>
      </p:sp>
      <p:sp>
        <p:nvSpPr>
          <p:cNvPr id="17" name="Shape 14"/>
          <p:cNvSpPr/>
          <p:nvPr/>
        </p:nvSpPr>
        <p:spPr>
          <a:xfrm>
            <a:off x="428625" y="3668316"/>
            <a:ext cx="3929063" cy="21431"/>
          </a:xfrm>
          <a:prstGeom prst="rect">
            <a:avLst/>
          </a:prstGeom>
          <a:solidFill>
            <a:srgbClr val="C9A84C"/>
          </a:solidFill>
          <a:ln/>
        </p:spPr>
      </p:sp>
      <p:sp>
        <p:nvSpPr>
          <p:cNvPr id="18" name="Text 15"/>
          <p:cNvSpPr/>
          <p:nvPr/>
        </p:nvSpPr>
        <p:spPr>
          <a:xfrm>
            <a:off x="600075" y="3811191"/>
            <a:ext cx="3586163" cy="223242"/>
          </a:xfrm>
          <a:prstGeom prst="rect">
            <a:avLst/>
          </a:prstGeom>
          <a:noFill/>
          <a:ln/>
        </p:spPr>
        <p:txBody>
          <a:bodyPr wrap="square" lIns="0" tIns="0" rIns="0" bIns="0" rtlCol="0" anchor="t">
            <a:spAutoFit/>
          </a:bodyPr>
          <a:lstStyle/>
          <a:p>
            <a:pPr algn="l" indent="0" marL="0">
              <a:buNone/>
            </a:pPr>
            <a:r>
              <a:rPr lang="en-US" sz="1200" b="1" dirty="0">
                <a:solidFill>
                  <a:srgbClr val="C9A84C"/>
                </a:solidFill>
                <a:latin typeface="DM Sans Bold" pitchFamily="34" charset="0"/>
                <a:ea typeface="DM Sans Bold" pitchFamily="34" charset="-122"/>
                <a:cs typeface="DM Sans Bold" pitchFamily="34" charset="-120"/>
              </a:rPr>
              <a:t>Single-Angle Coverage</a:t>
            </a:r>
            <a:endParaRPr lang="en-US" sz="1200" dirty="0"/>
          </a:p>
        </p:txBody>
      </p:sp>
      <p:sp>
        <p:nvSpPr>
          <p:cNvPr id="19" name="Text 16"/>
          <p:cNvSpPr/>
          <p:nvPr/>
        </p:nvSpPr>
        <p:spPr>
          <a:xfrm>
            <a:off x="600075" y="4105870"/>
            <a:ext cx="3586163" cy="4572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One sensor only covers a narrow cone directly behind it, leaving corners unprotected.</a:t>
            </a:r>
            <a:endParaRPr lang="en-US" sz="1050" dirty="0"/>
          </a:p>
        </p:txBody>
      </p:sp>
      <p:sp>
        <p:nvSpPr>
          <p:cNvPr id="20" name="Text 17"/>
          <p:cNvSpPr/>
          <p:nvPr/>
        </p:nvSpPr>
        <p:spPr>
          <a:xfrm>
            <a:off x="4786313" y="900113"/>
            <a:ext cx="3929063" cy="121444"/>
          </a:xfrm>
          <a:prstGeom prst="rect">
            <a:avLst/>
          </a:prstGeom>
          <a:noFill/>
          <a:ln/>
        </p:spPr>
        <p:txBody>
          <a:bodyPr wrap="square" lIns="0" tIns="0" rIns="0" bIns="0" rtlCol="0" anchor="t">
            <a:spAutoFit/>
          </a:bodyPr>
          <a:lstStyle/>
          <a:p>
            <a:pPr algn="l" indent="0" marL="0">
              <a:buNone/>
            </a:pPr>
            <a:r>
              <a:rPr lang="en-US" sz="650" b="1" spc="2" kern="0" dirty="0">
                <a:solidFill>
                  <a:srgbClr val="00D4AA"/>
                </a:solidFill>
                <a:latin typeface="DM Sans Bold" pitchFamily="34" charset="0"/>
                <a:ea typeface="DM Sans Bold" pitchFamily="34" charset="-122"/>
                <a:cs typeface="DM Sans Bold" pitchFamily="34" charset="-120"/>
              </a:rPr>
              <a:t>FUTURE IMPROVEMENTS</a:t>
            </a:r>
            <a:endParaRPr lang="en-US" sz="650" dirty="0"/>
          </a:p>
        </p:txBody>
      </p:sp>
      <p:sp>
        <p:nvSpPr>
          <p:cNvPr id="21" name="Shape 18"/>
          <p:cNvSpPr/>
          <p:nvPr/>
        </p:nvSpPr>
        <p:spPr>
          <a:xfrm>
            <a:off x="4786313" y="1250156"/>
            <a:ext cx="3929063" cy="1273373"/>
          </a:xfrm>
          <a:prstGeom prst="rect">
            <a:avLst/>
          </a:prstGeom>
          <a:solidFill>
            <a:srgbClr val="0F0F18"/>
          </a:solidFill>
          <a:ln/>
        </p:spPr>
      </p:sp>
      <p:sp>
        <p:nvSpPr>
          <p:cNvPr id="22" name="Shape 19"/>
          <p:cNvSpPr/>
          <p:nvPr/>
        </p:nvSpPr>
        <p:spPr>
          <a:xfrm>
            <a:off x="4786313" y="1250156"/>
            <a:ext cx="3929063" cy="21431"/>
          </a:xfrm>
          <a:prstGeom prst="rect">
            <a:avLst/>
          </a:prstGeom>
          <a:solidFill>
            <a:srgbClr val="00D4AA"/>
          </a:solidFill>
          <a:ln/>
        </p:spPr>
      </p:sp>
      <p:sp>
        <p:nvSpPr>
          <p:cNvPr id="23" name="Text 20"/>
          <p:cNvSpPr/>
          <p:nvPr/>
        </p:nvSpPr>
        <p:spPr>
          <a:xfrm>
            <a:off x="4957763" y="1393031"/>
            <a:ext cx="321469" cy="271463"/>
          </a:xfrm>
          <a:prstGeom prst="rect">
            <a:avLst/>
          </a:prstGeom>
          <a:noFill/>
          <a:ln/>
        </p:spPr>
        <p:txBody>
          <a:bodyPr wrap="none" lIns="0" tIns="17018" rIns="0" bIns="0" rtlCol="0" anchor="t">
            <a:spAutoFit/>
          </a:bodyPr>
          <a:lstStyle/>
          <a:p>
            <a:pPr algn="l" indent="0" marL="0">
              <a:lnSpc>
                <a:spcPct val="80000"/>
              </a:lnSpc>
              <a:buNone/>
            </a:pPr>
            <a:r>
              <a:rPr lang="en-US" sz="1800" b="1" dirty="0">
                <a:solidFill>
                  <a:srgbClr val="00D4AA"/>
                </a:solidFill>
                <a:latin typeface="DM Sans Black" pitchFamily="34" charset="0"/>
                <a:ea typeface="DM Sans Black" pitchFamily="34" charset="-122"/>
                <a:cs typeface="DM Sans Black" pitchFamily="34" charset="-120"/>
              </a:rPr>
              <a:t>01</a:t>
            </a:r>
            <a:endParaRPr lang="en-US" sz="1800" dirty="0"/>
          </a:p>
        </p:txBody>
      </p:sp>
      <p:sp>
        <p:nvSpPr>
          <p:cNvPr id="24" name="Text 21"/>
          <p:cNvSpPr/>
          <p:nvPr/>
        </p:nvSpPr>
        <p:spPr>
          <a:xfrm>
            <a:off x="5422106" y="1393031"/>
            <a:ext cx="3121819"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LDR Night Mode</a:t>
            </a:r>
            <a:endParaRPr lang="en-US" sz="1200" dirty="0"/>
          </a:p>
        </p:txBody>
      </p:sp>
      <p:sp>
        <p:nvSpPr>
          <p:cNvPr id="25" name="Text 22"/>
          <p:cNvSpPr/>
          <p:nvPr/>
        </p:nvSpPr>
        <p:spPr>
          <a:xfrm>
            <a:off x="5422106" y="1673423"/>
            <a:ext cx="3121819" cy="6858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Add a light sensor to automatically dim the LCD and LEDs at night to prevent blinding the driver.</a:t>
            </a:r>
            <a:endParaRPr lang="en-US" sz="1050" dirty="0"/>
          </a:p>
        </p:txBody>
      </p:sp>
      <p:sp>
        <p:nvSpPr>
          <p:cNvPr id="26" name="Shape 23"/>
          <p:cNvSpPr/>
          <p:nvPr/>
        </p:nvSpPr>
        <p:spPr>
          <a:xfrm>
            <a:off x="4786313" y="2673548"/>
            <a:ext cx="3929063" cy="1273373"/>
          </a:xfrm>
          <a:prstGeom prst="rect">
            <a:avLst/>
          </a:prstGeom>
          <a:solidFill>
            <a:srgbClr val="0F0F18"/>
          </a:solidFill>
          <a:ln/>
        </p:spPr>
      </p:sp>
      <p:sp>
        <p:nvSpPr>
          <p:cNvPr id="27" name="Shape 24"/>
          <p:cNvSpPr/>
          <p:nvPr/>
        </p:nvSpPr>
        <p:spPr>
          <a:xfrm>
            <a:off x="4786313" y="2673548"/>
            <a:ext cx="3929063" cy="21431"/>
          </a:xfrm>
          <a:prstGeom prst="rect">
            <a:avLst/>
          </a:prstGeom>
          <a:solidFill>
            <a:srgbClr val="00D4AA"/>
          </a:solidFill>
          <a:ln/>
        </p:spPr>
      </p:sp>
      <p:sp>
        <p:nvSpPr>
          <p:cNvPr id="28" name="Text 25"/>
          <p:cNvSpPr/>
          <p:nvPr/>
        </p:nvSpPr>
        <p:spPr>
          <a:xfrm>
            <a:off x="4957763" y="2816423"/>
            <a:ext cx="321469" cy="271463"/>
          </a:xfrm>
          <a:prstGeom prst="rect">
            <a:avLst/>
          </a:prstGeom>
          <a:noFill/>
          <a:ln/>
        </p:spPr>
        <p:txBody>
          <a:bodyPr wrap="none" lIns="0" tIns="17018" rIns="0" bIns="0" rtlCol="0" anchor="t">
            <a:spAutoFit/>
          </a:bodyPr>
          <a:lstStyle/>
          <a:p>
            <a:pPr algn="l" indent="0" marL="0">
              <a:lnSpc>
                <a:spcPct val="80000"/>
              </a:lnSpc>
              <a:buNone/>
            </a:pPr>
            <a:r>
              <a:rPr lang="en-US" sz="1800" b="1" dirty="0">
                <a:solidFill>
                  <a:srgbClr val="00D4AA"/>
                </a:solidFill>
                <a:latin typeface="DM Sans Black" pitchFamily="34" charset="0"/>
                <a:ea typeface="DM Sans Black" pitchFamily="34" charset="-122"/>
                <a:cs typeface="DM Sans Black" pitchFamily="34" charset="-120"/>
              </a:rPr>
              <a:t>02</a:t>
            </a:r>
            <a:endParaRPr lang="en-US" sz="1800" dirty="0"/>
          </a:p>
        </p:txBody>
      </p:sp>
      <p:sp>
        <p:nvSpPr>
          <p:cNvPr id="29" name="Text 26"/>
          <p:cNvSpPr/>
          <p:nvPr/>
        </p:nvSpPr>
        <p:spPr>
          <a:xfrm>
            <a:off x="5422106" y="2816423"/>
            <a:ext cx="3121819"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Adjustable Thresholds</a:t>
            </a:r>
            <a:endParaRPr lang="en-US" sz="1200" dirty="0"/>
          </a:p>
        </p:txBody>
      </p:sp>
      <p:sp>
        <p:nvSpPr>
          <p:cNvPr id="30" name="Text 27"/>
          <p:cNvSpPr/>
          <p:nvPr/>
        </p:nvSpPr>
        <p:spPr>
          <a:xfrm>
            <a:off x="5422106" y="3096816"/>
            <a:ext cx="3121819" cy="6858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Implement push buttons to let users customize the warning and stop distances without reprogramming.</a:t>
            </a:r>
            <a:endParaRPr lang="en-US" sz="1050" dirty="0"/>
          </a:p>
        </p:txBody>
      </p:sp>
      <p:sp>
        <p:nvSpPr>
          <p:cNvPr id="31" name="Shape 28"/>
          <p:cNvSpPr/>
          <p:nvPr/>
        </p:nvSpPr>
        <p:spPr>
          <a:xfrm>
            <a:off x="4786313" y="4096941"/>
            <a:ext cx="3929063" cy="1273373"/>
          </a:xfrm>
          <a:prstGeom prst="rect">
            <a:avLst/>
          </a:prstGeom>
          <a:solidFill>
            <a:srgbClr val="0F0F18"/>
          </a:solidFill>
          <a:ln/>
        </p:spPr>
      </p:sp>
      <p:sp>
        <p:nvSpPr>
          <p:cNvPr id="32" name="Shape 29"/>
          <p:cNvSpPr/>
          <p:nvPr/>
        </p:nvSpPr>
        <p:spPr>
          <a:xfrm>
            <a:off x="4786313" y="4096941"/>
            <a:ext cx="3929063" cy="21431"/>
          </a:xfrm>
          <a:prstGeom prst="rect">
            <a:avLst/>
          </a:prstGeom>
          <a:solidFill>
            <a:srgbClr val="00D4AA"/>
          </a:solidFill>
          <a:ln/>
        </p:spPr>
      </p:sp>
      <p:sp>
        <p:nvSpPr>
          <p:cNvPr id="33" name="Text 30"/>
          <p:cNvSpPr/>
          <p:nvPr/>
        </p:nvSpPr>
        <p:spPr>
          <a:xfrm>
            <a:off x="4957763" y="4239816"/>
            <a:ext cx="321469" cy="271463"/>
          </a:xfrm>
          <a:prstGeom prst="rect">
            <a:avLst/>
          </a:prstGeom>
          <a:noFill/>
          <a:ln/>
        </p:spPr>
        <p:txBody>
          <a:bodyPr wrap="none" lIns="0" tIns="17018" rIns="0" bIns="0" rtlCol="0" anchor="t">
            <a:spAutoFit/>
          </a:bodyPr>
          <a:lstStyle/>
          <a:p>
            <a:pPr algn="l" indent="0" marL="0">
              <a:lnSpc>
                <a:spcPct val="80000"/>
              </a:lnSpc>
              <a:buNone/>
            </a:pPr>
            <a:r>
              <a:rPr lang="en-US" sz="1800" b="1" dirty="0">
                <a:solidFill>
                  <a:srgbClr val="00D4AA"/>
                </a:solidFill>
                <a:latin typeface="DM Sans Black" pitchFamily="34" charset="0"/>
                <a:ea typeface="DM Sans Black" pitchFamily="34" charset="-122"/>
                <a:cs typeface="DM Sans Black" pitchFamily="34" charset="-120"/>
              </a:rPr>
              <a:t>03</a:t>
            </a:r>
            <a:endParaRPr lang="en-US" sz="1800" dirty="0"/>
          </a:p>
        </p:txBody>
      </p:sp>
      <p:sp>
        <p:nvSpPr>
          <p:cNvPr id="34" name="Text 31"/>
          <p:cNvSpPr/>
          <p:nvPr/>
        </p:nvSpPr>
        <p:spPr>
          <a:xfrm>
            <a:off x="5422106" y="4239816"/>
            <a:ext cx="3121819" cy="223242"/>
          </a:xfrm>
          <a:prstGeom prst="rect">
            <a:avLst/>
          </a:prstGeom>
          <a:noFill/>
          <a:ln/>
        </p:spPr>
        <p:txBody>
          <a:bodyPr wrap="square" lIns="0" tIns="0" rIns="0" bIns="0" rtlCol="0" anchor="t">
            <a:spAutoFit/>
          </a:bodyPr>
          <a:lstStyle/>
          <a:p>
            <a:pPr algn="l" indent="0" marL="0">
              <a:buNone/>
            </a:pPr>
            <a:r>
              <a:rPr lang="en-US" sz="1200" b="1" dirty="0">
                <a:solidFill>
                  <a:srgbClr val="FFFFFF"/>
                </a:solidFill>
                <a:latin typeface="DM Sans Bold" pitchFamily="34" charset="0"/>
                <a:ea typeface="DM Sans Bold" pitchFamily="34" charset="-122"/>
                <a:cs typeface="DM Sans Bold" pitchFamily="34" charset="-120"/>
              </a:rPr>
              <a:t>Dual Sensor Setup</a:t>
            </a:r>
            <a:endParaRPr lang="en-US" sz="1200" dirty="0"/>
          </a:p>
        </p:txBody>
      </p:sp>
      <p:sp>
        <p:nvSpPr>
          <p:cNvPr id="35" name="Text 32"/>
          <p:cNvSpPr/>
          <p:nvPr/>
        </p:nvSpPr>
        <p:spPr>
          <a:xfrm>
            <a:off x="5422106" y="4520208"/>
            <a:ext cx="3121819" cy="6858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C8D0DC"/>
                </a:solidFill>
                <a:latin typeface="DM Sans" pitchFamily="34" charset="0"/>
                <a:ea typeface="DM Sans" pitchFamily="34" charset="-122"/>
                <a:cs typeface="DM Sans" pitchFamily="34" charset="-120"/>
              </a:rPr>
              <a:t>Use two ultrasonic sensors to cover a wider angle and detect obstacles near the car's corners.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2026-05-19T20:20:58Z</dcterms:created>
  <dcterms:modified xsi:type="dcterms:W3CDTF">2026-05-19T20:20:58Z</dcterms:modified>
</cp:coreProperties>
</file>