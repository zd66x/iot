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4363" y="1425541"/>
            <a:ext cx="55292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3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IOT201 — INTRODUCTION TO IOTS | JUST</a:t>
            </a:r>
            <a:endParaRPr lang="en-US" sz="650" dirty="0"/>
          </a:p>
        </p:txBody>
      </p:sp>
      <p:sp>
        <p:nvSpPr>
          <p:cNvPr id="4" name="Text 1"/>
          <p:cNvSpPr/>
          <p:nvPr/>
        </p:nvSpPr>
        <p:spPr>
          <a:xfrm>
            <a:off x="614363" y="1718435"/>
            <a:ext cx="5529263" cy="974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20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Parking</a:t>
            </a:r>
            <a:r>
              <a:rPr lang="en-US" sz="32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
</a:t>
            </a:r>
            <a:r>
              <a:rPr lang="en-US" sz="320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Assistant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14363" y="2807131"/>
            <a:ext cx="552926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spc="1" kern="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Smart Ultrasonic Proximity Alert System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14363" y="3642950"/>
            <a:ext cx="1221581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STUDENT</a:t>
            </a:r>
            <a:endParaRPr lang="en-US" sz="550" dirty="0"/>
          </a:p>
        </p:txBody>
      </p:sp>
      <p:sp>
        <p:nvSpPr>
          <p:cNvPr id="7" name="Text 4"/>
          <p:cNvSpPr/>
          <p:nvPr/>
        </p:nvSpPr>
        <p:spPr>
          <a:xfrm>
            <a:off x="614363" y="3775109"/>
            <a:ext cx="122158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Zaid Ahmed Khazaleh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4363" y="3960847"/>
            <a:ext cx="122158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ID: 188472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2264569" y="3642950"/>
            <a:ext cx="1434108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STUDENT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2264569" y="3775109"/>
            <a:ext cx="143410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Ahmad Radwan Ababneh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264569" y="3960847"/>
            <a:ext cx="143410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ID: 172393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6715125" y="0"/>
            <a:ext cx="2428875" cy="514350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13" name="Shape 10"/>
          <p:cNvSpPr/>
          <p:nvPr/>
        </p:nvSpPr>
        <p:spPr>
          <a:xfrm>
            <a:off x="6715125" y="0"/>
            <a:ext cx="7144" cy="5143500"/>
          </a:xfrm>
          <a:prstGeom prst="rect">
            <a:avLst/>
          </a:prstGeom>
          <a:solidFill>
            <a:srgbClr val="F4EEDB"/>
          </a:solidFill>
          <a:ln/>
        </p:spPr>
      </p:sp>
      <p:sp>
        <p:nvSpPr>
          <p:cNvPr id="14" name="Text 11"/>
          <p:cNvSpPr/>
          <p:nvPr/>
        </p:nvSpPr>
        <p:spPr>
          <a:xfrm>
            <a:off x="7000875" y="1377851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SUPERVISOR</a:t>
            </a:r>
            <a:endParaRPr lang="en-US" sz="550" dirty="0"/>
          </a:p>
        </p:txBody>
      </p:sp>
      <p:sp>
        <p:nvSpPr>
          <p:cNvPr id="15" name="Text 12"/>
          <p:cNvSpPr/>
          <p:nvPr/>
        </p:nvSpPr>
        <p:spPr>
          <a:xfrm>
            <a:off x="7000875" y="1552873"/>
            <a:ext cx="1857375" cy="16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Dr. Assem Bsoul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000875" y="1747540"/>
            <a:ext cx="18573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Department of Computer Engineering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7000875" y="2347615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ACADEMIC YEAR</a:t>
            </a:r>
            <a:endParaRPr lang="en-US" sz="550" dirty="0"/>
          </a:p>
        </p:txBody>
      </p:sp>
      <p:sp>
        <p:nvSpPr>
          <p:cNvPr id="18" name="Text 15"/>
          <p:cNvSpPr/>
          <p:nvPr/>
        </p:nvSpPr>
        <p:spPr>
          <a:xfrm>
            <a:off x="7000875" y="2522637"/>
            <a:ext cx="1857375" cy="16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2025 – 2026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000875" y="2717304"/>
            <a:ext cx="18573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Second Semester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7000875" y="3317379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PLATFORM</a:t>
            </a:r>
            <a:endParaRPr lang="en-US" sz="550" dirty="0"/>
          </a:p>
        </p:txBody>
      </p:sp>
      <p:sp>
        <p:nvSpPr>
          <p:cNvPr id="21" name="Text 18"/>
          <p:cNvSpPr/>
          <p:nvPr/>
        </p:nvSpPr>
        <p:spPr>
          <a:xfrm>
            <a:off x="7000875" y="3492401"/>
            <a:ext cx="1857375" cy="16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Tinkercad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000875" y="3687068"/>
            <a:ext cx="18573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Arduino Uno Simulation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4356"/>
            <a:ext cx="9144000" cy="7144"/>
          </a:xfrm>
          <a:prstGeom prst="rect">
            <a:avLst/>
          </a:prstGeom>
          <a:solidFill>
            <a:srgbClr val="E9DCB7"/>
          </a:solidFill>
          <a:ln/>
        </p:spPr>
      </p:sp>
      <p:sp>
        <p:nvSpPr>
          <p:cNvPr id="5" name="Text 2"/>
          <p:cNvSpPr/>
          <p:nvPr/>
        </p:nvSpPr>
        <p:spPr>
          <a:xfrm>
            <a:off x="628650" y="165199"/>
            <a:ext cx="3552230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Problem, Components &amp; Circuit Design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67105" y="225028"/>
            <a:ext cx="44827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01 / 03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428625" y="857250"/>
            <a:ext cx="37147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THE PROBLEM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428625" y="1075134"/>
            <a:ext cx="3714750" cy="1125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Parking a car in tight spaces often leads to accidental collisions. Drivers need a clear, real-time indication of how close their vehicle is to an obstacle. Our wall-mounted Parking Assistant solves this by providing immediate visual and auditory feedback.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8625" y="2778919"/>
            <a:ext cx="37147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COMPONENTS USED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428625" y="2996803"/>
            <a:ext cx="1169622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COMPONENT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1598247" y="2996803"/>
            <a:ext cx="376972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QTY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1975219" y="2996803"/>
            <a:ext cx="2168156" cy="201811"/>
          </a:xfrm>
          <a:prstGeom prst="rect">
            <a:avLst/>
          </a:prstGeom>
          <a:noFill/>
          <a:ln/>
        </p:spPr>
        <p:txBody>
          <a:bodyPr wrap="square" lIns="0" tIns="0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ROLE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428625" y="3198614"/>
            <a:ext cx="116962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Arduino Uno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598247" y="3198614"/>
            <a:ext cx="37697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975219" y="3198614"/>
            <a:ext cx="2168156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Main controller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28625" y="3454003"/>
            <a:ext cx="116962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HC-SR04 Sensor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598247" y="3454003"/>
            <a:ext cx="37697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1975219" y="3454003"/>
            <a:ext cx="2168156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Ultrasonic distance measurement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28625" y="3709392"/>
            <a:ext cx="116962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RGB LED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598247" y="3709392"/>
            <a:ext cx="37697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975219" y="3709392"/>
            <a:ext cx="2168156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Color-coded visual alerts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28625" y="3964781"/>
            <a:ext cx="116962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Piezo Buzzer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598247" y="3964781"/>
            <a:ext cx="37697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975219" y="3964781"/>
            <a:ext cx="2168156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Auditory proximity warning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28625" y="4220170"/>
            <a:ext cx="1169622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LCD 16x2 I2C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598247" y="4220170"/>
            <a:ext cx="376972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975219" y="4220170"/>
            <a:ext cx="2168156" cy="251817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Displays exact distance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572000" y="857250"/>
            <a:ext cx="4143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I/O PIN ASSIGNMENT</a:t>
            </a:r>
            <a:endParaRPr lang="en-US" sz="550" dirty="0"/>
          </a:p>
        </p:txBody>
      </p:sp>
      <p:sp>
        <p:nvSpPr>
          <p:cNvPr id="29" name="Text 26"/>
          <p:cNvSpPr/>
          <p:nvPr/>
        </p:nvSpPr>
        <p:spPr>
          <a:xfrm>
            <a:off x="4572000" y="1075134"/>
            <a:ext cx="1084511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COMPONENT PIN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5656511" y="1075134"/>
            <a:ext cx="872570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ARDUINO PIN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529081" y="1075134"/>
            <a:ext cx="658732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TYPE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7187812" y="1075134"/>
            <a:ext cx="1527563" cy="201811"/>
          </a:xfrm>
          <a:prstGeom prst="rect">
            <a:avLst/>
          </a:prstGeom>
          <a:noFill/>
          <a:ln/>
        </p:spPr>
        <p:txBody>
          <a:bodyPr wrap="square" lIns="0" tIns="0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60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FUNCTION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4572000" y="1276945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Ultrasonic Trig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5656511" y="1276945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7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6529081" y="1276945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7187812" y="1276945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Sends ultrasonic pulse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72000" y="1532334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Ultrasonic Echo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656511" y="1532334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6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529081" y="1532334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Input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7187812" y="1532334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Receives ultrasonic echo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572000" y="1787723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RGB LED (Red)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5656511" y="1787723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11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29081" y="1787723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187812" y="1787723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 color control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0" y="2043113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RGB LED (Blue)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5656511" y="2043113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10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29081" y="2043113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7187812" y="2043113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Blue color control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4572000" y="2298502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RGB LED (Green)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5656511" y="2298502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9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6529081" y="2298502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7187812" y="2298502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Green color control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4572000" y="2553891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Piezo Buzzer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5656511" y="2553891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8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6529081" y="2553891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7187812" y="2553891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Auditory alarm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4572000" y="2809280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LCD SDA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656511" y="2809280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A4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6529081" y="2809280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I2C Data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7187812" y="2809280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line for LCD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4572000" y="3064669"/>
            <a:ext cx="1084511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LCD SCL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5656511" y="3064669"/>
            <a:ext cx="872570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A5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6529081" y="3064669"/>
            <a:ext cx="658732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I2C Clock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7187812" y="3064669"/>
            <a:ext cx="1527563" cy="251817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Clock line for LCD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4356"/>
            <a:ext cx="9144000" cy="7144"/>
          </a:xfrm>
          <a:prstGeom prst="rect">
            <a:avLst/>
          </a:prstGeom>
          <a:solidFill>
            <a:srgbClr val="E9DCB7"/>
          </a:solidFill>
          <a:ln/>
        </p:spPr>
      </p:sp>
      <p:sp>
        <p:nvSpPr>
          <p:cNvPr id="5" name="Text 2"/>
          <p:cNvSpPr/>
          <p:nvPr/>
        </p:nvSpPr>
        <p:spPr>
          <a:xfrm>
            <a:off x="628650" y="165199"/>
            <a:ext cx="4045148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System Logic: 4-State Machine &amp; Core Code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43888" y="225028"/>
            <a:ext cx="47148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02 / 03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428625" y="742950"/>
            <a:ext cx="279382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STATE MACHINE</a:t>
            </a:r>
            <a:endParaRPr lang="en-US" sz="550" dirty="0"/>
          </a:p>
        </p:txBody>
      </p:sp>
      <p:sp>
        <p:nvSpPr>
          <p:cNvPr id="8" name="Shape 5"/>
          <p:cNvSpPr/>
          <p:nvPr/>
        </p:nvSpPr>
        <p:spPr>
          <a:xfrm>
            <a:off x="428625" y="989409"/>
            <a:ext cx="1346904" cy="1113337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9" name="Shape 6"/>
          <p:cNvSpPr/>
          <p:nvPr/>
        </p:nvSpPr>
        <p:spPr>
          <a:xfrm>
            <a:off x="428625" y="989409"/>
            <a:ext cx="1346904" cy="1428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0" name="Text 7"/>
          <p:cNvSpPr/>
          <p:nvPr/>
        </p:nvSpPr>
        <p:spPr>
          <a:xfrm>
            <a:off x="542925" y="1075134"/>
            <a:ext cx="111830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SAFE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2925" y="1284089"/>
            <a:ext cx="111830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1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Dist &gt; 100 cm</a:t>
            </a:r>
            <a:endParaRPr lang="en-US" sz="650" dirty="0"/>
          </a:p>
        </p:txBody>
      </p:sp>
      <p:sp>
        <p:nvSpPr>
          <p:cNvPr id="12" name="Text 9"/>
          <p:cNvSpPr/>
          <p:nvPr/>
        </p:nvSpPr>
        <p:spPr>
          <a:xfrm>
            <a:off x="542925" y="1462683"/>
            <a:ext cx="1118304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LCD: "Safe"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RGB: Green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Buzzer: OFF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875541" y="989409"/>
            <a:ext cx="1346904" cy="1113337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14" name="Shape 11"/>
          <p:cNvSpPr/>
          <p:nvPr/>
        </p:nvSpPr>
        <p:spPr>
          <a:xfrm>
            <a:off x="1875541" y="989409"/>
            <a:ext cx="1346904" cy="14288"/>
          </a:xfrm>
          <a:prstGeom prst="rect">
            <a:avLst/>
          </a:prstGeom>
          <a:solidFill>
            <a:srgbClr val="F6AD55"/>
          </a:solidFill>
          <a:ln/>
        </p:spPr>
      </p:sp>
      <p:sp>
        <p:nvSpPr>
          <p:cNvPr id="15" name="Text 12"/>
          <p:cNvSpPr/>
          <p:nvPr/>
        </p:nvSpPr>
        <p:spPr>
          <a:xfrm>
            <a:off x="1989841" y="1075134"/>
            <a:ext cx="111830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WARNING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989841" y="1284089"/>
            <a:ext cx="111830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1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20 &lt; Dist ≤ 100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1989841" y="1462683"/>
            <a:ext cx="1118304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LCD: "Warning!"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RGB: Yellow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Buzzer: Beeping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428625" y="2188471"/>
            <a:ext cx="1346904" cy="1113337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625" y="2188471"/>
            <a:ext cx="1346904" cy="1428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20" name="Text 17"/>
          <p:cNvSpPr/>
          <p:nvPr/>
        </p:nvSpPr>
        <p:spPr>
          <a:xfrm>
            <a:off x="542925" y="2274196"/>
            <a:ext cx="111830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STOP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42925" y="2483151"/>
            <a:ext cx="111830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1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Dist ≤ 20 cm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542925" y="2661745"/>
            <a:ext cx="1118304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LCD: "STOP!"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RGB: Red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Buzzer: Continuous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875541" y="2188471"/>
            <a:ext cx="1346904" cy="1113337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24" name="Shape 21"/>
          <p:cNvSpPr/>
          <p:nvPr/>
        </p:nvSpPr>
        <p:spPr>
          <a:xfrm>
            <a:off x="1875541" y="2188471"/>
            <a:ext cx="1346904" cy="14288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25" name="Text 22"/>
          <p:cNvSpPr/>
          <p:nvPr/>
        </p:nvSpPr>
        <p:spPr>
          <a:xfrm>
            <a:off x="1989841" y="2274196"/>
            <a:ext cx="111830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LOST SENSOR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989841" y="2483151"/>
            <a:ext cx="111830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1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Dist = 0 or &gt; 300</a:t>
            </a:r>
            <a:endParaRPr lang="en-US" sz="650" dirty="0"/>
          </a:p>
        </p:txBody>
      </p:sp>
      <p:sp>
        <p:nvSpPr>
          <p:cNvPr id="27" name="Text 24"/>
          <p:cNvSpPr/>
          <p:nvPr/>
        </p:nvSpPr>
        <p:spPr>
          <a:xfrm>
            <a:off x="1989841" y="2661745"/>
            <a:ext cx="1118304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LCD: "--- cm"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RGB: OFF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Buzzer: OFF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3508195" y="742950"/>
            <a:ext cx="520718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ARDUINO CORE LOGIC</a:t>
            </a:r>
            <a:endParaRPr lang="en-US" sz="550" dirty="0"/>
          </a:p>
        </p:txBody>
      </p:sp>
      <p:sp>
        <p:nvSpPr>
          <p:cNvPr id="29" name="Shape 26"/>
          <p:cNvSpPr/>
          <p:nvPr/>
        </p:nvSpPr>
        <p:spPr>
          <a:xfrm>
            <a:off x="3508195" y="903684"/>
            <a:ext cx="5207180" cy="4096941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08195" y="903684"/>
            <a:ext cx="5207180" cy="14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1" name="Text 28"/>
          <p:cNvSpPr/>
          <p:nvPr/>
        </p:nvSpPr>
        <p:spPr>
          <a:xfrm>
            <a:off x="3651070" y="1046559"/>
            <a:ext cx="4921430" cy="2719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Calculate distance from ultrasonic sensor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duration = pulseIn(echoPin, HIGH, 30000);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distance = duration * 0.034 / 2;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(distance == 0 || distance &gt; 300) {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lcd.print("Dist: --- cm    "); setColor(0,0,0); noTone(buzzerPin);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lcd.print("Dist: "); lcd.print(distance);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(distance &gt; 100) {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lcd.print("Safe         "); setColor(0,255,0); noTone(buzzerPin);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if (distance &gt; 20) {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lcd.print("Warning!     "); setColor(255,255,0);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tone(buzzerPin,1000); delay(distance*2); noTone(buzzerPin); delay(distance*2);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{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lcd.print("STOP!        "); setColor(255,0,0); tone(buzzerPin,1000);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750" dirty="0"/>
          </a:p>
          <a:p>
            <a:pPr algn="l" indent="0" marL="0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4356"/>
            <a:ext cx="9144000" cy="7144"/>
          </a:xfrm>
          <a:prstGeom prst="rect">
            <a:avLst/>
          </a:prstGeom>
          <a:solidFill>
            <a:srgbClr val="E9DCB7"/>
          </a:solidFill>
          <a:ln/>
        </p:spPr>
      </p:sp>
      <p:sp>
        <p:nvSpPr>
          <p:cNvPr id="5" name="Text 2"/>
          <p:cNvSpPr/>
          <p:nvPr/>
        </p:nvSpPr>
        <p:spPr>
          <a:xfrm>
            <a:off x="628650" y="165199"/>
            <a:ext cx="3439716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Test Results, Limitations &amp; Next Steps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42102" y="225028"/>
            <a:ext cx="47327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03 / 03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428625" y="828675"/>
            <a:ext cx="271462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TEST RESULTS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428625" y="1032272"/>
            <a:ext cx="457981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TEST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886606" y="1032272"/>
            <a:ext cx="638026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DISTANCE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1524633" y="1032272"/>
            <a:ext cx="1123410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EXPECTED OUTPUT</a:t>
            </a:r>
            <a:endParaRPr lang="en-US" sz="550" dirty="0"/>
          </a:p>
        </p:txBody>
      </p:sp>
      <p:sp>
        <p:nvSpPr>
          <p:cNvPr id="11" name="Text 8"/>
          <p:cNvSpPr/>
          <p:nvPr/>
        </p:nvSpPr>
        <p:spPr>
          <a:xfrm>
            <a:off x="2648043" y="1032272"/>
            <a:ext cx="495207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RESULT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428625" y="1210866"/>
            <a:ext cx="45798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TC-01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86606" y="1210866"/>
            <a:ext cx="638026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150 cm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524633" y="1293019"/>
            <a:ext cx="630436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Safe (Green)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648043" y="1210866"/>
            <a:ext cx="495207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428625" y="1437680"/>
            <a:ext cx="45798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TC-02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86606" y="1437680"/>
            <a:ext cx="638026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 cm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524633" y="1519833"/>
            <a:ext cx="835819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6AD55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Warning (Yellow)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648043" y="1437680"/>
            <a:ext cx="495207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428625" y="1664494"/>
            <a:ext cx="45798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886606" y="1664494"/>
            <a:ext cx="638026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cm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524633" y="1746647"/>
            <a:ext cx="564356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E53E3E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STOP (Red)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48043" y="1664494"/>
            <a:ext cx="495207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428625" y="1891308"/>
            <a:ext cx="457981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TC-04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86606" y="1891308"/>
            <a:ext cx="638026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 300 cm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524633" y="1973461"/>
            <a:ext cx="591145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Lost Sensor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648043" y="1891308"/>
            <a:ext cx="495207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3429000" y="828675"/>
            <a:ext cx="24288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LIMITATIONS</a:t>
            </a:r>
            <a:endParaRPr lang="en-US" sz="550" dirty="0"/>
          </a:p>
        </p:txBody>
      </p:sp>
      <p:sp>
        <p:nvSpPr>
          <p:cNvPr id="29" name="Shape 26"/>
          <p:cNvSpPr/>
          <p:nvPr/>
        </p:nvSpPr>
        <p:spPr>
          <a:xfrm>
            <a:off x="3429000" y="1175147"/>
            <a:ext cx="2428875" cy="952212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30" name="Shape 27"/>
          <p:cNvSpPr/>
          <p:nvPr/>
        </p:nvSpPr>
        <p:spPr>
          <a:xfrm>
            <a:off x="3429000" y="1175147"/>
            <a:ext cx="2428875" cy="14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1" name="Text 28"/>
          <p:cNvSpPr/>
          <p:nvPr/>
        </p:nvSpPr>
        <p:spPr>
          <a:xfrm>
            <a:off x="3557588" y="1289447"/>
            <a:ext cx="2171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Blind Spot at Close Range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3557588" y="1503759"/>
            <a:ext cx="2171700" cy="4950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Ultrasonic sensors struggle with distances under 2 cm, potentially missing very close obstacles.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429000" y="2255946"/>
            <a:ext cx="2428875" cy="952212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34" name="Shape 31"/>
          <p:cNvSpPr/>
          <p:nvPr/>
        </p:nvSpPr>
        <p:spPr>
          <a:xfrm>
            <a:off x="3429000" y="2255946"/>
            <a:ext cx="2428875" cy="14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5" name="Text 32"/>
          <p:cNvSpPr/>
          <p:nvPr/>
        </p:nvSpPr>
        <p:spPr>
          <a:xfrm>
            <a:off x="3557588" y="2370246"/>
            <a:ext cx="2171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Material Interference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3557588" y="2584559"/>
            <a:ext cx="2171700" cy="4950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materials (like a car cover) can absorb sound waves, leading to inaccurate distance readings.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6143625" y="828675"/>
            <a:ext cx="25717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NEXT STEPS</a:t>
            </a:r>
            <a:endParaRPr lang="en-US" sz="550" dirty="0"/>
          </a:p>
        </p:txBody>
      </p:sp>
      <p:sp>
        <p:nvSpPr>
          <p:cNvPr id="38" name="Shape 35"/>
          <p:cNvSpPr/>
          <p:nvPr/>
        </p:nvSpPr>
        <p:spPr>
          <a:xfrm>
            <a:off x="6143625" y="1175147"/>
            <a:ext cx="2571750" cy="88722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39" name="Shape 36"/>
          <p:cNvSpPr/>
          <p:nvPr/>
        </p:nvSpPr>
        <p:spPr>
          <a:xfrm>
            <a:off x="6143625" y="1175147"/>
            <a:ext cx="2571750" cy="1428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0" name="Text 37"/>
          <p:cNvSpPr/>
          <p:nvPr/>
        </p:nvSpPr>
        <p:spPr>
          <a:xfrm>
            <a:off x="6272213" y="1275159"/>
            <a:ext cx="228600" cy="20002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30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01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6615113" y="1275159"/>
            <a:ext cx="1971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LDR Night Mode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615113" y="1468041"/>
            <a:ext cx="1971675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Add a light sensor to automatically dim the LCD and LEDs at night to prevent blinding the driver.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143625" y="2190955"/>
            <a:ext cx="2571750" cy="88722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4" name="Shape 41"/>
          <p:cNvSpPr/>
          <p:nvPr/>
        </p:nvSpPr>
        <p:spPr>
          <a:xfrm>
            <a:off x="6143625" y="2190955"/>
            <a:ext cx="2571750" cy="1428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5" name="Text 42"/>
          <p:cNvSpPr/>
          <p:nvPr/>
        </p:nvSpPr>
        <p:spPr>
          <a:xfrm>
            <a:off x="6272213" y="2290967"/>
            <a:ext cx="228600" cy="20002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30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02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615113" y="2290967"/>
            <a:ext cx="1971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Adjustable Thresholds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6615113" y="2483848"/>
            <a:ext cx="1971675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Implement push buttons to let users customize the warning and stop distances without reprogramming.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6143625" y="3206762"/>
            <a:ext cx="2571750" cy="88722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9" name="Shape 46"/>
          <p:cNvSpPr/>
          <p:nvPr/>
        </p:nvSpPr>
        <p:spPr>
          <a:xfrm>
            <a:off x="6143625" y="3206762"/>
            <a:ext cx="2571750" cy="1428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50" name="Text 47"/>
          <p:cNvSpPr/>
          <p:nvPr/>
        </p:nvSpPr>
        <p:spPr>
          <a:xfrm>
            <a:off x="6272213" y="3306775"/>
            <a:ext cx="228600" cy="20002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30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6615113" y="3306775"/>
            <a:ext cx="1971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Dual Sensor Setup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15113" y="3499656"/>
            <a:ext cx="1971675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two ultrasonic sensors to cover a wider angle and detect obstacles near the car's corners.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2026-05-18T15:58:05Z</dcterms:created>
  <dcterms:modified xsi:type="dcterms:W3CDTF">2026-05-18T15:58:05Z</dcterms:modified>
</cp:coreProperties>
</file>